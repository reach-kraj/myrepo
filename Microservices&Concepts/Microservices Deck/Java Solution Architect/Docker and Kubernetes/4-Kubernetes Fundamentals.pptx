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6" r:id="rId1"/>
  </p:sldMasterIdLst>
  <p:notesMasterIdLst>
    <p:notesMasterId r:id="rId27"/>
  </p:notesMasterIdLst>
  <p:handoutMasterIdLst>
    <p:handoutMasterId r:id="rId28"/>
  </p:handoutMasterIdLst>
  <p:sldIdLst>
    <p:sldId id="532" r:id="rId2"/>
    <p:sldId id="494" r:id="rId3"/>
    <p:sldId id="495" r:id="rId4"/>
    <p:sldId id="528" r:id="rId5"/>
    <p:sldId id="496" r:id="rId6"/>
    <p:sldId id="520" r:id="rId7"/>
    <p:sldId id="529" r:id="rId8"/>
    <p:sldId id="498" r:id="rId9"/>
    <p:sldId id="506" r:id="rId10"/>
    <p:sldId id="507" r:id="rId11"/>
    <p:sldId id="523" r:id="rId12"/>
    <p:sldId id="519" r:id="rId13"/>
    <p:sldId id="526" r:id="rId14"/>
    <p:sldId id="533" r:id="rId15"/>
    <p:sldId id="531" r:id="rId16"/>
    <p:sldId id="524" r:id="rId17"/>
    <p:sldId id="511" r:id="rId18"/>
    <p:sldId id="525" r:id="rId19"/>
    <p:sldId id="513" r:id="rId20"/>
    <p:sldId id="501" r:id="rId21"/>
    <p:sldId id="527" r:id="rId22"/>
    <p:sldId id="504" r:id="rId23"/>
    <p:sldId id="505" r:id="rId24"/>
    <p:sldId id="530" r:id="rId25"/>
    <p:sldId id="50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6BD8"/>
    <a:srgbClr val="A4CBE9"/>
    <a:srgbClr val="10A2EC"/>
    <a:srgbClr val="F58F61"/>
    <a:srgbClr val="FFB061"/>
    <a:srgbClr val="F4814E"/>
    <a:srgbClr val="FF9933"/>
    <a:srgbClr val="F2B044"/>
    <a:srgbClr val="BA8BDD"/>
    <a:srgbClr val="A36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07DA99-8F9F-43AE-B34D-4EFC2A05F4C7}" v="1" dt="2025-05-05T12:34:21.8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27" autoAdjust="0"/>
    <p:restoredTop sz="83964" autoAdjust="0"/>
  </p:normalViewPr>
  <p:slideViewPr>
    <p:cSldViewPr snapToGrid="0">
      <p:cViewPr varScale="1">
        <p:scale>
          <a:sx n="122" d="100"/>
          <a:sy n="122" d="100"/>
        </p:scale>
        <p:origin x="126" y="96"/>
      </p:cViewPr>
      <p:guideLst/>
    </p:cSldViewPr>
  </p:slideViewPr>
  <p:notesTextViewPr>
    <p:cViewPr>
      <p:scale>
        <a:sx n="1" d="1"/>
        <a:sy n="1" d="1"/>
      </p:scale>
      <p:origin x="0" y="0"/>
    </p:cViewPr>
  </p:notesTextViewPr>
  <p:notesViewPr>
    <p:cSldViewPr snapToGrid="0">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3BE407B5-490C-40FA-B34B-75F431936209}"/>
    <pc:docChg chg="modSld">
      <pc:chgData name="Shailendra Chauhan" userId="a7d3133f-e197-4b90-bf63-99a63a264234" providerId="ADAL" clId="{3BE407B5-490C-40FA-B34B-75F431936209}" dt="2024-11-24T13:18:51.440" v="1" actId="20578"/>
      <pc:docMkLst>
        <pc:docMk/>
      </pc:docMkLst>
      <pc:sldChg chg="modSp mod">
        <pc:chgData name="Shailendra Chauhan" userId="a7d3133f-e197-4b90-bf63-99a63a264234" providerId="ADAL" clId="{3BE407B5-490C-40FA-B34B-75F431936209}" dt="2024-11-24T13:13:50.737" v="0" actId="208"/>
        <pc:sldMkLst>
          <pc:docMk/>
          <pc:sldMk cId="396574365" sldId="523"/>
        </pc:sldMkLst>
      </pc:sldChg>
      <pc:sldChg chg="modSp">
        <pc:chgData name="Shailendra Chauhan" userId="a7d3133f-e197-4b90-bf63-99a63a264234" providerId="ADAL" clId="{3BE407B5-490C-40FA-B34B-75F431936209}" dt="2024-11-24T13:18:51.440" v="1" actId="20578"/>
        <pc:sldMkLst>
          <pc:docMk/>
          <pc:sldMk cId="2869022075" sldId="531"/>
        </pc:sldMkLst>
      </pc:sldChg>
    </pc:docChg>
  </pc:docChgLst>
  <pc:docChgLst>
    <pc:chgData name="Shailendra Chauhan" userId="a7d3133f-e197-4b90-bf63-99a63a264234" providerId="ADAL" clId="{A2411F49-1D38-4071-8707-8ACF8B275780}"/>
    <pc:docChg chg="undo custSel modSld modMainMaster">
      <pc:chgData name="Shailendra Chauhan" userId="a7d3133f-e197-4b90-bf63-99a63a264234" providerId="ADAL" clId="{A2411F49-1D38-4071-8707-8ACF8B275780}" dt="2024-08-16T04:34:11.794" v="171" actId="208"/>
      <pc:docMkLst>
        <pc:docMk/>
      </pc:docMkLst>
      <pc:sldChg chg="modSp mod">
        <pc:chgData name="Shailendra Chauhan" userId="a7d3133f-e197-4b90-bf63-99a63a264234" providerId="ADAL" clId="{A2411F49-1D38-4071-8707-8ACF8B275780}" dt="2024-08-14T04:42:35.385" v="40"/>
        <pc:sldMkLst>
          <pc:docMk/>
          <pc:sldMk cId="3423674920" sldId="494"/>
        </pc:sldMkLst>
      </pc:sldChg>
      <pc:sldChg chg="modSp mod">
        <pc:chgData name="Shailendra Chauhan" userId="a7d3133f-e197-4b90-bf63-99a63a264234" providerId="ADAL" clId="{A2411F49-1D38-4071-8707-8ACF8B275780}" dt="2024-08-14T04:42:35.385" v="40"/>
        <pc:sldMkLst>
          <pc:docMk/>
          <pc:sldMk cId="3978057322" sldId="495"/>
        </pc:sldMkLst>
      </pc:sldChg>
      <pc:sldChg chg="modSp">
        <pc:chgData name="Shailendra Chauhan" userId="a7d3133f-e197-4b90-bf63-99a63a264234" providerId="ADAL" clId="{A2411F49-1D38-4071-8707-8ACF8B275780}" dt="2024-08-14T04:42:35.385" v="40"/>
        <pc:sldMkLst>
          <pc:docMk/>
          <pc:sldMk cId="544214466" sldId="496"/>
        </pc:sldMkLst>
      </pc:sldChg>
      <pc:sldChg chg="modSp mod chgLayout">
        <pc:chgData name="Shailendra Chauhan" userId="a7d3133f-e197-4b90-bf63-99a63a264234" providerId="ADAL" clId="{A2411F49-1D38-4071-8707-8ACF8B275780}" dt="2024-08-14T04:43:21.395" v="96" actId="27636"/>
        <pc:sldMkLst>
          <pc:docMk/>
          <pc:sldMk cId="2000772524" sldId="498"/>
        </pc:sldMkLst>
      </pc:sldChg>
      <pc:sldChg chg="modSp">
        <pc:chgData name="Shailendra Chauhan" userId="a7d3133f-e197-4b90-bf63-99a63a264234" providerId="ADAL" clId="{A2411F49-1D38-4071-8707-8ACF8B275780}" dt="2024-08-14T04:42:35.385" v="40"/>
        <pc:sldMkLst>
          <pc:docMk/>
          <pc:sldMk cId="2706701974" sldId="501"/>
        </pc:sldMkLst>
      </pc:sldChg>
      <pc:sldChg chg="modSp mod chgLayout">
        <pc:chgData name="Shailendra Chauhan" userId="a7d3133f-e197-4b90-bf63-99a63a264234" providerId="ADAL" clId="{A2411F49-1D38-4071-8707-8ACF8B275780}" dt="2024-08-14T04:45:56.504" v="136" actId="700"/>
        <pc:sldMkLst>
          <pc:docMk/>
          <pc:sldMk cId="2661416253" sldId="504"/>
        </pc:sldMkLst>
      </pc:sldChg>
      <pc:sldChg chg="modSp mod chgLayout">
        <pc:chgData name="Shailendra Chauhan" userId="a7d3133f-e197-4b90-bf63-99a63a264234" providerId="ADAL" clId="{A2411F49-1D38-4071-8707-8ACF8B275780}" dt="2024-08-14T04:46:00.587" v="137" actId="700"/>
        <pc:sldMkLst>
          <pc:docMk/>
          <pc:sldMk cId="2835161306" sldId="505"/>
        </pc:sldMkLst>
      </pc:sldChg>
      <pc:sldChg chg="modSp mod chgLayout">
        <pc:chgData name="Shailendra Chauhan" userId="a7d3133f-e197-4b90-bf63-99a63a264234" providerId="ADAL" clId="{A2411F49-1D38-4071-8707-8ACF8B275780}" dt="2024-08-14T04:43:24.938" v="97" actId="700"/>
        <pc:sldMkLst>
          <pc:docMk/>
          <pc:sldMk cId="3097778790" sldId="506"/>
        </pc:sldMkLst>
      </pc:sldChg>
      <pc:sldChg chg="modSp mod modClrScheme chgLayout">
        <pc:chgData name="Shailendra Chauhan" userId="a7d3133f-e197-4b90-bf63-99a63a264234" providerId="ADAL" clId="{A2411F49-1D38-4071-8707-8ACF8B275780}" dt="2024-08-14T04:43:36.472" v="118" actId="1035"/>
        <pc:sldMkLst>
          <pc:docMk/>
          <pc:sldMk cId="3239549064" sldId="507"/>
        </pc:sldMkLst>
      </pc:sldChg>
      <pc:sldChg chg="modSp mod modClrScheme chgLayout">
        <pc:chgData name="Shailendra Chauhan" userId="a7d3133f-e197-4b90-bf63-99a63a264234" providerId="ADAL" clId="{A2411F49-1D38-4071-8707-8ACF8B275780}" dt="2024-08-14T04:46:12.204" v="139" actId="700"/>
        <pc:sldMkLst>
          <pc:docMk/>
          <pc:sldMk cId="4061613354" sldId="509"/>
        </pc:sldMkLst>
      </pc:sldChg>
      <pc:sldChg chg="modSp">
        <pc:chgData name="Shailendra Chauhan" userId="a7d3133f-e197-4b90-bf63-99a63a264234" providerId="ADAL" clId="{A2411F49-1D38-4071-8707-8ACF8B275780}" dt="2024-08-14T04:42:35.385" v="40"/>
        <pc:sldMkLst>
          <pc:docMk/>
          <pc:sldMk cId="595449188" sldId="511"/>
        </pc:sldMkLst>
      </pc:sldChg>
      <pc:sldChg chg="modSp">
        <pc:chgData name="Shailendra Chauhan" userId="a7d3133f-e197-4b90-bf63-99a63a264234" providerId="ADAL" clId="{A2411F49-1D38-4071-8707-8ACF8B275780}" dt="2024-08-14T04:42:35.385" v="40"/>
        <pc:sldMkLst>
          <pc:docMk/>
          <pc:sldMk cId="1093391406" sldId="513"/>
        </pc:sldMkLst>
      </pc:sldChg>
      <pc:sldChg chg="addSp delSp modSp mod">
        <pc:chgData name="Shailendra Chauhan" userId="a7d3133f-e197-4b90-bf63-99a63a264234" providerId="ADAL" clId="{A2411F49-1D38-4071-8707-8ACF8B275780}" dt="2024-08-14T04:42:35.385" v="40"/>
        <pc:sldMkLst>
          <pc:docMk/>
          <pc:sldMk cId="3197244454" sldId="519"/>
        </pc:sldMkLst>
      </pc:sldChg>
      <pc:sldChg chg="modSp mod modClrScheme chgLayout">
        <pc:chgData name="Shailendra Chauhan" userId="a7d3133f-e197-4b90-bf63-99a63a264234" providerId="ADAL" clId="{A2411F49-1D38-4071-8707-8ACF8B275780}" dt="2024-08-14T04:43:14.927" v="94" actId="1038"/>
        <pc:sldMkLst>
          <pc:docMk/>
          <pc:sldMk cId="2559473400" sldId="520"/>
        </pc:sldMkLst>
      </pc:sldChg>
      <pc:sldChg chg="modSp mod setBg modClrScheme chgLayout">
        <pc:chgData name="Shailendra Chauhan" userId="a7d3133f-e197-4b90-bf63-99a63a264234" providerId="ADAL" clId="{A2411F49-1D38-4071-8707-8ACF8B275780}" dt="2024-08-16T04:33:46.341" v="168" actId="208"/>
        <pc:sldMkLst>
          <pc:docMk/>
          <pc:sldMk cId="396574365" sldId="523"/>
        </pc:sldMkLst>
      </pc:sldChg>
      <pc:sldChg chg="modSp mod modClrScheme chgLayout">
        <pc:chgData name="Shailendra Chauhan" userId="a7d3133f-e197-4b90-bf63-99a63a264234" providerId="ADAL" clId="{A2411F49-1D38-4071-8707-8ACF8B275780}" dt="2024-08-14T04:44:45.360" v="129" actId="700"/>
        <pc:sldMkLst>
          <pc:docMk/>
          <pc:sldMk cId="1438893471" sldId="524"/>
        </pc:sldMkLst>
      </pc:sldChg>
      <pc:sldChg chg="modSp mod">
        <pc:chgData name="Shailendra Chauhan" userId="a7d3133f-e197-4b90-bf63-99a63a264234" providerId="ADAL" clId="{A2411F49-1D38-4071-8707-8ACF8B275780}" dt="2024-08-14T04:45:14.229" v="134" actId="207"/>
        <pc:sldMkLst>
          <pc:docMk/>
          <pc:sldMk cId="700543186" sldId="525"/>
        </pc:sldMkLst>
      </pc:sldChg>
      <pc:sldChg chg="modSp mod modClrScheme chgLayout">
        <pc:chgData name="Shailendra Chauhan" userId="a7d3133f-e197-4b90-bf63-99a63a264234" providerId="ADAL" clId="{A2411F49-1D38-4071-8707-8ACF8B275780}" dt="2024-08-14T04:44:28.111" v="123" actId="700"/>
        <pc:sldMkLst>
          <pc:docMk/>
          <pc:sldMk cId="1650652862" sldId="526"/>
        </pc:sldMkLst>
      </pc:sldChg>
      <pc:sldChg chg="modSp mod modClrScheme chgLayout">
        <pc:chgData name="Shailendra Chauhan" userId="a7d3133f-e197-4b90-bf63-99a63a264234" providerId="ADAL" clId="{A2411F49-1D38-4071-8707-8ACF8B275780}" dt="2024-08-14T05:05:33.036" v="153" actId="20577"/>
        <pc:sldMkLst>
          <pc:docMk/>
          <pc:sldMk cId="4235083625" sldId="527"/>
        </pc:sldMkLst>
      </pc:sldChg>
      <pc:sldChg chg="modSp">
        <pc:chgData name="Shailendra Chauhan" userId="a7d3133f-e197-4b90-bf63-99a63a264234" providerId="ADAL" clId="{A2411F49-1D38-4071-8707-8ACF8B275780}" dt="2024-08-14T04:42:35.385" v="40"/>
        <pc:sldMkLst>
          <pc:docMk/>
          <pc:sldMk cId="1458656002" sldId="528"/>
        </pc:sldMkLst>
      </pc:sldChg>
      <pc:sldChg chg="modSp mod">
        <pc:chgData name="Shailendra Chauhan" userId="a7d3133f-e197-4b90-bf63-99a63a264234" providerId="ADAL" clId="{A2411F49-1D38-4071-8707-8ACF8B275780}" dt="2024-08-16T04:33:13.897" v="164" actId="404"/>
        <pc:sldMkLst>
          <pc:docMk/>
          <pc:sldMk cId="1339993803" sldId="529"/>
        </pc:sldMkLst>
      </pc:sldChg>
      <pc:sldChg chg="modSp mod modClrScheme chgLayout">
        <pc:chgData name="Shailendra Chauhan" userId="a7d3133f-e197-4b90-bf63-99a63a264234" providerId="ADAL" clId="{A2411F49-1D38-4071-8707-8ACF8B275780}" dt="2024-08-16T04:34:11.794" v="171" actId="208"/>
        <pc:sldMkLst>
          <pc:docMk/>
          <pc:sldMk cId="256449789" sldId="530"/>
        </pc:sldMkLst>
      </pc:sldChg>
      <pc:sldChg chg="modSp mod modClrScheme chgLayout">
        <pc:chgData name="Shailendra Chauhan" userId="a7d3133f-e197-4b90-bf63-99a63a264234" providerId="ADAL" clId="{A2411F49-1D38-4071-8707-8ACF8B275780}" dt="2024-08-14T04:47:32.486" v="149" actId="1035"/>
        <pc:sldMkLst>
          <pc:docMk/>
          <pc:sldMk cId="2869022075" sldId="531"/>
        </pc:sldMkLst>
      </pc:sldChg>
      <pc:sldChg chg="modSp">
        <pc:chgData name="Shailendra Chauhan" userId="a7d3133f-e197-4b90-bf63-99a63a264234" providerId="ADAL" clId="{A2411F49-1D38-4071-8707-8ACF8B275780}" dt="2024-08-14T04:42:35.385" v="40"/>
        <pc:sldMkLst>
          <pc:docMk/>
          <pc:sldMk cId="3671994533" sldId="532"/>
        </pc:sldMkLst>
      </pc:sldChg>
      <pc:sldMasterChg chg="modSldLayout">
        <pc:chgData name="Shailendra Chauhan" userId="a7d3133f-e197-4b90-bf63-99a63a264234" providerId="ADAL" clId="{A2411F49-1D38-4071-8707-8ACF8B275780}" dt="2024-08-14T04:42:35.385" v="40"/>
        <pc:sldMasterMkLst>
          <pc:docMk/>
          <pc:sldMasterMk cId="1444684545" sldId="2147483696"/>
        </pc:sldMasterMkLst>
        <pc:sldLayoutChg chg="delSp">
          <pc:chgData name="Shailendra Chauhan" userId="a7d3133f-e197-4b90-bf63-99a63a264234" providerId="ADAL" clId="{A2411F49-1D38-4071-8707-8ACF8B275780}" dt="2024-08-14T04:42:35.385" v="40"/>
          <pc:sldLayoutMkLst>
            <pc:docMk/>
            <pc:sldMasterMk cId="1444684545" sldId="2147483696"/>
            <pc:sldLayoutMk cId="3908309663" sldId="2147483722"/>
          </pc:sldLayoutMkLst>
        </pc:sldLayoutChg>
      </pc:sldMasterChg>
    </pc:docChg>
  </pc:docChgLst>
  <pc:docChgLst>
    <pc:chgData name="Shailendra Chauhan" userId="a7d3133f-e197-4b90-bf63-99a63a264234" providerId="ADAL" clId="{637F1626-B322-42B1-ADE0-D65317F5B28C}"/>
    <pc:docChg chg="modSld">
      <pc:chgData name="Shailendra Chauhan" userId="a7d3133f-e197-4b90-bf63-99a63a264234" providerId="ADAL" clId="{637F1626-B322-42B1-ADE0-D65317F5B28C}" dt="2024-10-28T10:11:04.449" v="0" actId="5793"/>
      <pc:docMkLst>
        <pc:docMk/>
      </pc:docMkLst>
      <pc:sldChg chg="modSp mod">
        <pc:chgData name="Shailendra Chauhan" userId="a7d3133f-e197-4b90-bf63-99a63a264234" providerId="ADAL" clId="{637F1626-B322-42B1-ADE0-D65317F5B28C}" dt="2024-10-28T10:11:04.449" v="0" actId="5793"/>
        <pc:sldMkLst>
          <pc:docMk/>
          <pc:sldMk cId="4061613354" sldId="509"/>
        </pc:sldMkLst>
      </pc:sldChg>
    </pc:docChg>
  </pc:docChgLst>
  <pc:docChgLst>
    <pc:chgData name="Shailendra Chauhan" userId="a7d3133f-e197-4b90-bf63-99a63a264234" providerId="ADAL" clId="{344ADAD7-54D9-48B4-90C6-D0EEB2A833EE}"/>
    <pc:docChg chg="custSel modSld">
      <pc:chgData name="Shailendra Chauhan" userId="a7d3133f-e197-4b90-bf63-99a63a264234" providerId="ADAL" clId="{344ADAD7-54D9-48B4-90C6-D0EEB2A833EE}" dt="2024-10-05T12:13:31.227" v="45" actId="27636"/>
      <pc:docMkLst>
        <pc:docMk/>
      </pc:docMkLst>
      <pc:sldChg chg="addSp delSp modSp mod modClrScheme chgLayout modNotesTx">
        <pc:chgData name="Shailendra Chauhan" userId="a7d3133f-e197-4b90-bf63-99a63a264234" providerId="ADAL" clId="{344ADAD7-54D9-48B4-90C6-D0EEB2A833EE}" dt="2024-10-05T12:13:31.227" v="45" actId="27636"/>
        <pc:sldMkLst>
          <pc:docMk/>
          <pc:sldMk cId="4061613354" sldId="509"/>
        </pc:sldMkLst>
      </pc:sldChg>
      <pc:sldChg chg="modSp mod modClrScheme chgLayout modNotesTx">
        <pc:chgData name="Shailendra Chauhan" userId="a7d3133f-e197-4b90-bf63-99a63a264234" providerId="ADAL" clId="{344ADAD7-54D9-48B4-90C6-D0EEB2A833EE}" dt="2024-10-04T06:16:51.719" v="30"/>
        <pc:sldMkLst>
          <pc:docMk/>
          <pc:sldMk cId="2869022075" sldId="531"/>
        </pc:sldMkLst>
      </pc:sldChg>
    </pc:docChg>
  </pc:docChgLst>
  <pc:docChgLst>
    <pc:chgData name="Shailendra Chauhan" userId="a7d3133f-e197-4b90-bf63-99a63a264234" providerId="ADAL" clId="{CA07DA99-8F9F-43AE-B34D-4EFC2A05F4C7}"/>
    <pc:docChg chg="undo custSel addSld delSld modSld sldOrd">
      <pc:chgData name="Shailendra Chauhan" userId="a7d3133f-e197-4b90-bf63-99a63a264234" providerId="ADAL" clId="{CA07DA99-8F9F-43AE-B34D-4EFC2A05F4C7}" dt="2025-05-06T08:58:43.464" v="195" actId="1076"/>
      <pc:docMkLst>
        <pc:docMk/>
      </pc:docMkLst>
      <pc:sldChg chg="modSp mod">
        <pc:chgData name="Shailendra Chauhan" userId="a7d3133f-e197-4b90-bf63-99a63a264234" providerId="ADAL" clId="{CA07DA99-8F9F-43AE-B34D-4EFC2A05F4C7}" dt="2025-05-05T12:17:22.465" v="117" actId="27636"/>
        <pc:sldMkLst>
          <pc:docMk/>
          <pc:sldMk cId="3097778790" sldId="506"/>
        </pc:sldMkLst>
        <pc:spChg chg="mod">
          <ac:chgData name="Shailendra Chauhan" userId="a7d3133f-e197-4b90-bf63-99a63a264234" providerId="ADAL" clId="{CA07DA99-8F9F-43AE-B34D-4EFC2A05F4C7}" dt="2025-05-05T12:17:22.465" v="117" actId="27636"/>
          <ac:spMkLst>
            <pc:docMk/>
            <pc:sldMk cId="3097778790" sldId="506"/>
            <ac:spMk id="2" creationId="{F1CDF011-0D78-4064-A27D-CCE89C0FC2E0}"/>
          </ac:spMkLst>
        </pc:spChg>
      </pc:sldChg>
      <pc:sldChg chg="modSp mod">
        <pc:chgData name="Shailendra Chauhan" userId="a7d3133f-e197-4b90-bf63-99a63a264234" providerId="ADAL" clId="{CA07DA99-8F9F-43AE-B34D-4EFC2A05F4C7}" dt="2025-05-05T12:17:11.769" v="115" actId="1076"/>
        <pc:sldMkLst>
          <pc:docMk/>
          <pc:sldMk cId="3239549064" sldId="507"/>
        </pc:sldMkLst>
        <pc:spChg chg="mod">
          <ac:chgData name="Shailendra Chauhan" userId="a7d3133f-e197-4b90-bf63-99a63a264234" providerId="ADAL" clId="{CA07DA99-8F9F-43AE-B34D-4EFC2A05F4C7}" dt="2025-05-05T12:17:11.769" v="115" actId="1076"/>
          <ac:spMkLst>
            <pc:docMk/>
            <pc:sldMk cId="3239549064" sldId="507"/>
            <ac:spMk id="2" creationId="{E14CDF27-662C-484E-B18C-459D1F89A3F7}"/>
          </ac:spMkLst>
        </pc:spChg>
      </pc:sldChg>
      <pc:sldChg chg="modSp mod">
        <pc:chgData name="Shailendra Chauhan" userId="a7d3133f-e197-4b90-bf63-99a63a264234" providerId="ADAL" clId="{CA07DA99-8F9F-43AE-B34D-4EFC2A05F4C7}" dt="2025-04-26T03:16:56.809" v="0" actId="1076"/>
        <pc:sldMkLst>
          <pc:docMk/>
          <pc:sldMk cId="1093391406" sldId="513"/>
        </pc:sldMkLst>
        <pc:spChg chg="mod">
          <ac:chgData name="Shailendra Chauhan" userId="a7d3133f-e197-4b90-bf63-99a63a264234" providerId="ADAL" clId="{CA07DA99-8F9F-43AE-B34D-4EFC2A05F4C7}" dt="2025-04-26T03:16:56.809" v="0" actId="1076"/>
          <ac:spMkLst>
            <pc:docMk/>
            <pc:sldMk cId="1093391406" sldId="513"/>
            <ac:spMk id="5" creationId="{CCAC453D-7652-46E7-9470-4CBF839448D7}"/>
          </ac:spMkLst>
        </pc:spChg>
      </pc:sldChg>
      <pc:sldChg chg="addSp delSp modSp mod modClrScheme chgLayout">
        <pc:chgData name="Shailendra Chauhan" userId="a7d3133f-e197-4b90-bf63-99a63a264234" providerId="ADAL" clId="{CA07DA99-8F9F-43AE-B34D-4EFC2A05F4C7}" dt="2025-05-05T12:34:03.983" v="121" actId="700"/>
        <pc:sldMkLst>
          <pc:docMk/>
          <pc:sldMk cId="2559473400" sldId="520"/>
        </pc:sldMkLst>
        <pc:spChg chg="mod ord">
          <ac:chgData name="Shailendra Chauhan" userId="a7d3133f-e197-4b90-bf63-99a63a264234" providerId="ADAL" clId="{CA07DA99-8F9F-43AE-B34D-4EFC2A05F4C7}" dt="2025-05-05T12:34:03.983" v="121" actId="700"/>
          <ac:spMkLst>
            <pc:docMk/>
            <pc:sldMk cId="2559473400" sldId="520"/>
            <ac:spMk id="3" creationId="{654D353B-24B9-4D8E-882F-9FB75332F2EA}"/>
          </ac:spMkLst>
        </pc:spChg>
        <pc:spChg chg="add del mod ord">
          <ac:chgData name="Shailendra Chauhan" userId="a7d3133f-e197-4b90-bf63-99a63a264234" providerId="ADAL" clId="{CA07DA99-8F9F-43AE-B34D-4EFC2A05F4C7}" dt="2025-05-05T12:34:03.983" v="121" actId="700"/>
          <ac:spMkLst>
            <pc:docMk/>
            <pc:sldMk cId="2559473400" sldId="520"/>
            <ac:spMk id="4" creationId="{6AD41072-5760-B397-2AB5-308F87699739}"/>
          </ac:spMkLst>
        </pc:spChg>
      </pc:sldChg>
      <pc:sldChg chg="modSp mod">
        <pc:chgData name="Shailendra Chauhan" userId="a7d3133f-e197-4b90-bf63-99a63a264234" providerId="ADAL" clId="{CA07DA99-8F9F-43AE-B34D-4EFC2A05F4C7}" dt="2025-04-26T03:19:36.133" v="7" actId="1037"/>
        <pc:sldMkLst>
          <pc:docMk/>
          <pc:sldMk cId="256449789" sldId="530"/>
        </pc:sldMkLst>
        <pc:spChg chg="mod">
          <ac:chgData name="Shailendra Chauhan" userId="a7d3133f-e197-4b90-bf63-99a63a264234" providerId="ADAL" clId="{CA07DA99-8F9F-43AE-B34D-4EFC2A05F4C7}" dt="2025-04-26T03:19:27.003" v="6" actId="1037"/>
          <ac:spMkLst>
            <pc:docMk/>
            <pc:sldMk cId="256449789" sldId="530"/>
            <ac:spMk id="37" creationId="{BAAE4B39-F82C-4613-8A87-1ECE2D4E659D}"/>
          </ac:spMkLst>
        </pc:spChg>
        <pc:cxnChg chg="mod">
          <ac:chgData name="Shailendra Chauhan" userId="a7d3133f-e197-4b90-bf63-99a63a264234" providerId="ADAL" clId="{CA07DA99-8F9F-43AE-B34D-4EFC2A05F4C7}" dt="2025-04-26T03:19:36.133" v="7" actId="1037"/>
          <ac:cxnSpMkLst>
            <pc:docMk/>
            <pc:sldMk cId="256449789" sldId="530"/>
            <ac:cxnSpMk id="42" creationId="{C1E5E681-79E4-4A98-9545-DD18CC5FE6A8}"/>
          </ac:cxnSpMkLst>
        </pc:cxnChg>
      </pc:sldChg>
      <pc:sldChg chg="modSp mod ord modClrScheme chgLayout">
        <pc:chgData name="Shailendra Chauhan" userId="a7d3133f-e197-4b90-bf63-99a63a264234" providerId="ADAL" clId="{CA07DA99-8F9F-43AE-B34D-4EFC2A05F4C7}" dt="2025-05-06T08:58:43.464" v="195" actId="1076"/>
        <pc:sldMkLst>
          <pc:docMk/>
          <pc:sldMk cId="2869022075" sldId="531"/>
        </pc:sldMkLst>
        <pc:spChg chg="mod ord">
          <ac:chgData name="Shailendra Chauhan" userId="a7d3133f-e197-4b90-bf63-99a63a264234" providerId="ADAL" clId="{CA07DA99-8F9F-43AE-B34D-4EFC2A05F4C7}" dt="2025-05-06T08:58:38.280" v="193" actId="403"/>
          <ac:spMkLst>
            <pc:docMk/>
            <pc:sldMk cId="2869022075" sldId="531"/>
            <ac:spMk id="2" creationId="{AE0EA5A0-47EF-48CF-B04B-A773C82E4E34}"/>
          </ac:spMkLst>
        </pc:spChg>
        <pc:spChg chg="mod ord">
          <ac:chgData name="Shailendra Chauhan" userId="a7d3133f-e197-4b90-bf63-99a63a264234" providerId="ADAL" clId="{CA07DA99-8F9F-43AE-B34D-4EFC2A05F4C7}" dt="2025-05-05T12:30:32.374" v="119" actId="700"/>
          <ac:spMkLst>
            <pc:docMk/>
            <pc:sldMk cId="2869022075" sldId="531"/>
            <ac:spMk id="3" creationId="{3F8C4092-4302-40F9-9FED-98E6F335C45B}"/>
          </ac:spMkLst>
        </pc:spChg>
        <pc:picChg chg="mod">
          <ac:chgData name="Shailendra Chauhan" userId="a7d3133f-e197-4b90-bf63-99a63a264234" providerId="ADAL" clId="{CA07DA99-8F9F-43AE-B34D-4EFC2A05F4C7}" dt="2025-05-06T08:58:43.464" v="195" actId="1076"/>
          <ac:picMkLst>
            <pc:docMk/>
            <pc:sldMk cId="2869022075" sldId="531"/>
            <ac:picMk id="6" creationId="{09B19B93-16B3-D196-44D0-B990C7A783AC}"/>
          </ac:picMkLst>
        </pc:picChg>
      </pc:sldChg>
      <pc:sldChg chg="delSp modSp add mod modClrScheme chgLayout">
        <pc:chgData name="Shailendra Chauhan" userId="a7d3133f-e197-4b90-bf63-99a63a264234" providerId="ADAL" clId="{CA07DA99-8F9F-43AE-B34D-4EFC2A05F4C7}" dt="2025-05-06T05:57:23.386" v="192" actId="403"/>
        <pc:sldMkLst>
          <pc:docMk/>
          <pc:sldMk cId="1254068447" sldId="533"/>
        </pc:sldMkLst>
        <pc:spChg chg="mod ord">
          <ac:chgData name="Shailendra Chauhan" userId="a7d3133f-e197-4b90-bf63-99a63a264234" providerId="ADAL" clId="{CA07DA99-8F9F-43AE-B34D-4EFC2A05F4C7}" dt="2025-05-06T05:57:23.386" v="192" actId="403"/>
          <ac:spMkLst>
            <pc:docMk/>
            <pc:sldMk cId="1254068447" sldId="533"/>
            <ac:spMk id="2" creationId="{023C9C14-E561-0328-1B95-8A30345602B8}"/>
          </ac:spMkLst>
        </pc:spChg>
        <pc:spChg chg="mod ord">
          <ac:chgData name="Shailendra Chauhan" userId="a7d3133f-e197-4b90-bf63-99a63a264234" providerId="ADAL" clId="{CA07DA99-8F9F-43AE-B34D-4EFC2A05F4C7}" dt="2025-05-05T12:30:25.573" v="118" actId="700"/>
          <ac:spMkLst>
            <pc:docMk/>
            <pc:sldMk cId="1254068447" sldId="533"/>
            <ac:spMk id="3" creationId="{A1D5E677-E832-D74E-F49B-32B9F5984360}"/>
          </ac:spMkLst>
        </pc:spChg>
      </pc:sldChg>
      <pc:sldChg chg="modSp add del mod setBg modClrScheme chgLayout">
        <pc:chgData name="Shailendra Chauhan" userId="a7d3133f-e197-4b90-bf63-99a63a264234" providerId="ADAL" clId="{CA07DA99-8F9F-43AE-B34D-4EFC2A05F4C7}" dt="2025-05-05T12:35:07.037" v="191" actId="2696"/>
        <pc:sldMkLst>
          <pc:docMk/>
          <pc:sldMk cId="2630411298" sldId="534"/>
        </pc:sldMkLst>
        <pc:spChg chg="mod ord">
          <ac:chgData name="Shailendra Chauhan" userId="a7d3133f-e197-4b90-bf63-99a63a264234" providerId="ADAL" clId="{CA07DA99-8F9F-43AE-B34D-4EFC2A05F4C7}" dt="2025-05-05T12:34:14.227" v="123" actId="700"/>
          <ac:spMkLst>
            <pc:docMk/>
            <pc:sldMk cId="2630411298" sldId="534"/>
            <ac:spMk id="3" creationId="{71763809-1FF4-9FFD-FEB6-8E1096C516E9}"/>
          </ac:spMkLst>
        </pc:spChg>
        <pc:picChg chg="mod">
          <ac:chgData name="Shailendra Chauhan" userId="a7d3133f-e197-4b90-bf63-99a63a264234" providerId="ADAL" clId="{CA07DA99-8F9F-43AE-B34D-4EFC2A05F4C7}" dt="2025-05-05T12:34:56.294" v="190" actId="29295"/>
          <ac:picMkLst>
            <pc:docMk/>
            <pc:sldMk cId="2630411298" sldId="534"/>
            <ac:picMk id="9" creationId="{64D69F09-DB32-8A5E-3F05-CB3AD55AEB8D}"/>
          </ac:picMkLst>
        </pc:picChg>
      </pc:sldChg>
    </pc:docChg>
  </pc:docChgLst>
  <pc:docChgLst>
    <pc:chgData name="Shailendra Chauhan" userId="a7d3133f-e197-4b90-bf63-99a63a264234" providerId="ADAL" clId="{D70269D9-E41D-48CF-A5A9-8E7CAB17F9EE}"/>
    <pc:docChg chg="modSld">
      <pc:chgData name="Shailendra Chauhan" userId="a7d3133f-e197-4b90-bf63-99a63a264234" providerId="ADAL" clId="{D70269D9-E41D-48CF-A5A9-8E7CAB17F9EE}" dt="2025-03-27T08:53:50.808" v="35" actId="207"/>
      <pc:docMkLst>
        <pc:docMk/>
      </pc:docMkLst>
      <pc:sldChg chg="modSp mod">
        <pc:chgData name="Shailendra Chauhan" userId="a7d3133f-e197-4b90-bf63-99a63a264234" providerId="ADAL" clId="{D70269D9-E41D-48CF-A5A9-8E7CAB17F9EE}" dt="2025-03-27T08:48:32.254" v="34" actId="1038"/>
        <pc:sldMkLst>
          <pc:docMk/>
          <pc:sldMk cId="544214466" sldId="496"/>
        </pc:sldMkLst>
        <pc:picChg chg="mod">
          <ac:chgData name="Shailendra Chauhan" userId="a7d3133f-e197-4b90-bf63-99a63a264234" providerId="ADAL" clId="{D70269D9-E41D-48CF-A5A9-8E7CAB17F9EE}" dt="2025-03-27T08:48:32.254" v="34" actId="1038"/>
          <ac:picMkLst>
            <pc:docMk/>
            <pc:sldMk cId="544214466" sldId="496"/>
            <ac:picMk id="5" creationId="{D638AC24-F389-41EA-AB1E-1EE722158867}"/>
          </ac:picMkLst>
        </pc:picChg>
      </pc:sldChg>
      <pc:sldChg chg="modSp mod">
        <pc:chgData name="Shailendra Chauhan" userId="a7d3133f-e197-4b90-bf63-99a63a264234" providerId="ADAL" clId="{D70269D9-E41D-48CF-A5A9-8E7CAB17F9EE}" dt="2025-03-27T08:53:50.808" v="35" actId="207"/>
        <pc:sldMkLst>
          <pc:docMk/>
          <pc:sldMk cId="396574365" sldId="523"/>
        </pc:sldMkLst>
        <pc:spChg chg="mod">
          <ac:chgData name="Shailendra Chauhan" userId="a7d3133f-e197-4b90-bf63-99a63a264234" providerId="ADAL" clId="{D70269D9-E41D-48CF-A5A9-8E7CAB17F9EE}" dt="2025-03-27T08:53:50.808" v="35" actId="207"/>
          <ac:spMkLst>
            <pc:docMk/>
            <pc:sldMk cId="396574365" sldId="523"/>
            <ac:spMk id="81" creationId="{30684F34-CD17-4BEA-9302-DDA381FC4E6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55A6C-8570-481C-B650-679F59D2D196}" type="datetimeFigureOut">
              <a:rPr lang="en-US" smtClean="0"/>
              <a:t>5/6/2025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86080D-7700-48E4-9421-502ABB94370D}"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773F-F672-41CF-AE0C-76B333D9A322}" type="datetimeFigureOut">
              <a:rPr lang="en-US" smtClean="0"/>
              <a:t>5/6/2025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DD7D5-A1E7-4E59-B251-136D919D9E0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kubernetes.io/blog/2019/04/01/kubernetes-v1.14-delivers-production-level-support-for-windows-nodes-and-windows-container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knowledgehut.com/blog/devops/kubernetes-vs-docker"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platform9.com/blog/kubernetes-enterprise-chapter-2-kubernetes-architecture-concepts/"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thenewstack.io/kubernetes-an-overview/" TargetMode="External"/><Relationship Id="rId4" Type="http://schemas.openxmlformats.org/officeDocument/2006/relationships/hyperlink" Target="https://blog.sensu.io/how-kubernetes-works"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platform9.com/blog/kubernetes-enterprise-chapter-2-kubernetes-architecture-concepts/"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thenewstack.io/kubernetes-an-overview/" TargetMode="External"/><Relationship Id="rId4" Type="http://schemas.openxmlformats.org/officeDocument/2006/relationships/hyperlink" Target="https://blog.sensu.io/how-kubernetes-works"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replex.io/blog/how-to-install-access-and-add-heapster-metrics-to-the-kubernetes-dashboard"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replex.io/blog/how-to-install-access-and-add-heapster-metrics-to-the-kubernetes-dashboard"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0E0618"/>
                </a:solidFill>
                <a:effectLst/>
                <a:latin typeface="Proxima Nova"/>
              </a:rPr>
              <a:t>Kubernetes for Windows</a:t>
            </a:r>
          </a:p>
          <a:p>
            <a:pPr algn="l"/>
            <a:r>
              <a:rPr lang="en-US" b="0" i="0" dirty="0">
                <a:solidFill>
                  <a:srgbClr val="0E0618"/>
                </a:solidFill>
                <a:effectLst/>
                <a:latin typeface="Proxima Nova"/>
              </a:rPr>
              <a:t>On April 1, 2019, the Kubernetes authors announced </a:t>
            </a:r>
            <a:r>
              <a:rPr lang="en-US" b="0" i="0" u="none" strike="noStrike" dirty="0">
                <a:solidFill>
                  <a:srgbClr val="3289C8"/>
                </a:solidFill>
                <a:effectLst/>
                <a:latin typeface="Proxima Nova"/>
                <a:hlinkClick r:id="rId3"/>
              </a:rPr>
              <a:t>support for running Windows containers</a:t>
            </a:r>
            <a:r>
              <a:rPr lang="en-US" b="0" i="0" dirty="0">
                <a:solidFill>
                  <a:srgbClr val="0E0618"/>
                </a:solidFill>
                <a:effectLst/>
                <a:latin typeface="Proxima Nova"/>
              </a:rPr>
              <a:t>. To be specific, now when you run Kubernetes, you can attach it to Windows machines, which can then become “nodes,” making some of their memory, disk, and CPU available to run lightweight, virtual versions of Windows. The magic of Kubernetes is that you never really need to know where virtual hardware is. </a:t>
            </a:r>
          </a:p>
          <a:p>
            <a:pPr algn="l"/>
            <a:r>
              <a:rPr lang="en-US" b="0" i="0" dirty="0">
                <a:solidFill>
                  <a:srgbClr val="0E0618"/>
                </a:solidFill>
                <a:effectLst/>
                <a:latin typeface="Proxima Nova"/>
              </a:rPr>
              <a:t>The bad news is, your worker nodes in Kubernetes need to be running Windows Server 2019. The containers running in Kubernetes need to be running Windows Server 2019. You can run Kubernetes itself on Linux or Windows, but still–Server 2019. </a:t>
            </a:r>
          </a:p>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2</a:t>
            </a:fld>
            <a:endParaRPr lang="en-US"/>
          </a:p>
        </p:txBody>
      </p:sp>
    </p:spTree>
    <p:extLst>
      <p:ext uri="{BB962C8B-B14F-4D97-AF65-F5344CB8AC3E}">
        <p14:creationId xmlns:p14="http://schemas.microsoft.com/office/powerpoint/2010/main" val="1358897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Docker is like a bus, and Kubernetes is like a bus station. </a:t>
            </a:r>
          </a:p>
          <a:p>
            <a:r>
              <a:rPr lang="en-IN" dirty="0">
                <a:hlinkClick r:id="rId3"/>
              </a:rPr>
              <a:t>https://www.knowledgehut.com/blog/devops/kubernetes-vs-docker</a:t>
            </a:r>
            <a:endParaRPr lang="en-IN" dirty="0"/>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5</a:t>
            </a:fld>
            <a:endParaRPr lang="en-US"/>
          </a:p>
        </p:txBody>
      </p:sp>
    </p:spTree>
    <p:extLst>
      <p:ext uri="{BB962C8B-B14F-4D97-AF65-F5344CB8AC3E}">
        <p14:creationId xmlns:p14="http://schemas.microsoft.com/office/powerpoint/2010/main" val="794232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https://platform9.com/blog/kubernetes-enterprise-chapter-2-kubernetes-architecture-concepts/</a:t>
            </a:r>
            <a:endParaRPr lang="en-IN" dirty="0"/>
          </a:p>
          <a:p>
            <a:r>
              <a:rPr lang="en-IN" dirty="0">
                <a:hlinkClick r:id="rId4"/>
              </a:rPr>
              <a:t>https://blog.sensu.io/how-kubernetes-works</a:t>
            </a:r>
            <a:endParaRPr lang="en-IN" dirty="0"/>
          </a:p>
          <a:p>
            <a:r>
              <a:rPr lang="en-IN" dirty="0">
                <a:hlinkClick r:id="rId5"/>
              </a:rPr>
              <a:t>https://thenewstack.io/kubernetes-an-overview/</a:t>
            </a:r>
            <a:endParaRPr lang="en-IN" dirty="0"/>
          </a:p>
          <a:p>
            <a:endParaRPr lang="en-IN" dirty="0"/>
          </a:p>
          <a:p>
            <a:r>
              <a:rPr lang="en-US" dirty="0"/>
              <a:t>Node – a machine running in the cluster.</a:t>
            </a:r>
          </a:p>
          <a:p>
            <a:r>
              <a:rPr lang="en-US" dirty="0"/>
              <a:t>Pod – smallest deployable unit, may have 1+ containers.</a:t>
            </a:r>
          </a:p>
          <a:p>
            <a:r>
              <a:rPr lang="en-US" dirty="0" err="1"/>
              <a:t>ReplicaSet</a:t>
            </a:r>
            <a:r>
              <a:rPr lang="en-US" dirty="0"/>
              <a:t> – defines number of running instances of a pod.</a:t>
            </a:r>
          </a:p>
          <a:p>
            <a:r>
              <a:rPr lang="en-US" dirty="0"/>
              <a:t>Service – defines access to one or more workload API (types: </a:t>
            </a:r>
            <a:r>
              <a:rPr lang="en-US" dirty="0" err="1"/>
              <a:t>ClusterIP</a:t>
            </a:r>
            <a:r>
              <a:rPr lang="en-US" dirty="0"/>
              <a:t>, </a:t>
            </a:r>
            <a:r>
              <a:rPr lang="en-US" dirty="0" err="1"/>
              <a:t>NodePort</a:t>
            </a:r>
            <a:r>
              <a:rPr lang="en-US" dirty="0"/>
              <a:t> &amp; </a:t>
            </a:r>
            <a:r>
              <a:rPr lang="en-US" dirty="0" err="1"/>
              <a:t>LoadBalancer</a:t>
            </a:r>
            <a:r>
              <a:rPr lang="en-US" dirty="0"/>
              <a:t>) sub-objects: svc, endpoint, iptables and IPVS.</a:t>
            </a:r>
          </a:p>
          <a:p>
            <a:r>
              <a:rPr lang="en-US" dirty="0"/>
              <a:t>Volume – storage of a container (supporting stateful workloads) sub-objects: PV and PVC and </a:t>
            </a:r>
            <a:r>
              <a:rPr lang="en-US" dirty="0" err="1"/>
              <a:t>StorageClass</a:t>
            </a:r>
            <a:r>
              <a:rPr lang="en-US" dirty="0"/>
              <a:t>.</a:t>
            </a:r>
          </a:p>
          <a:p>
            <a:r>
              <a:rPr lang="en-US" dirty="0"/>
              <a:t>Namespace – resources grouping.</a:t>
            </a:r>
          </a:p>
          <a:p>
            <a:r>
              <a:rPr lang="en-US" dirty="0"/>
              <a:t>Deployment – declarative packaging of a set of pods and services.</a:t>
            </a:r>
          </a:p>
          <a:p>
            <a:r>
              <a:rPr lang="en-US" dirty="0" err="1"/>
              <a:t>DaemonSet</a:t>
            </a:r>
            <a:r>
              <a:rPr lang="en-US" dirty="0"/>
              <a:t> – run a pod instance on all nodes.</a:t>
            </a:r>
          </a:p>
          <a:p>
            <a:r>
              <a:rPr lang="en-US" dirty="0" err="1"/>
              <a:t>StatefulSet</a:t>
            </a:r>
            <a:r>
              <a:rPr lang="en-US" dirty="0"/>
              <a:t> – manages Pods that are based on stateful workloads.</a:t>
            </a:r>
          </a:p>
          <a:p>
            <a:r>
              <a:rPr lang="en-US" dirty="0"/>
              <a:t>Job – creates one or more Pods / service.</a:t>
            </a:r>
          </a:p>
          <a:p>
            <a:r>
              <a:rPr lang="en-US" dirty="0"/>
              <a:t>Ingress – manages external access to the services in a cluster.</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6</a:t>
            </a:fld>
            <a:endParaRPr lang="en-US"/>
          </a:p>
        </p:txBody>
      </p:sp>
    </p:spTree>
    <p:extLst>
      <p:ext uri="{BB962C8B-B14F-4D97-AF65-F5344CB8AC3E}">
        <p14:creationId xmlns:p14="http://schemas.microsoft.com/office/powerpoint/2010/main" val="3488835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https://platform9.com/blog/kubernetes-enterprise-chapter-2-kubernetes-architecture-concepts/</a:t>
            </a:r>
            <a:endParaRPr lang="en-IN" dirty="0"/>
          </a:p>
          <a:p>
            <a:r>
              <a:rPr lang="en-IN" dirty="0">
                <a:hlinkClick r:id="rId4"/>
              </a:rPr>
              <a:t>https://blog.sensu.io/how-kubernetes-works</a:t>
            </a:r>
            <a:endParaRPr lang="en-IN" dirty="0"/>
          </a:p>
          <a:p>
            <a:r>
              <a:rPr lang="en-IN" dirty="0">
                <a:hlinkClick r:id="rId5"/>
              </a:rPr>
              <a:t>https://thenewstack.io/kubernetes-an-overview/</a:t>
            </a:r>
            <a:endParaRPr lang="en-IN" dirty="0"/>
          </a:p>
          <a:p>
            <a:endParaRPr lang="en-IN" dirty="0"/>
          </a:p>
          <a:p>
            <a:r>
              <a:rPr lang="en-US" dirty="0"/>
              <a:t>Node – a machine running in the cluster.</a:t>
            </a:r>
          </a:p>
          <a:p>
            <a:r>
              <a:rPr lang="en-US" dirty="0"/>
              <a:t>Pod – smallest deployable unit, may have 1+ containers.</a:t>
            </a:r>
          </a:p>
          <a:p>
            <a:r>
              <a:rPr lang="en-US" dirty="0" err="1"/>
              <a:t>ReplicaSet</a:t>
            </a:r>
            <a:r>
              <a:rPr lang="en-US" dirty="0"/>
              <a:t> – defines number of running instances of a pod.</a:t>
            </a:r>
          </a:p>
          <a:p>
            <a:r>
              <a:rPr lang="en-US" dirty="0"/>
              <a:t>Service – defines access to one or more workload API (types: </a:t>
            </a:r>
            <a:r>
              <a:rPr lang="en-US" dirty="0" err="1"/>
              <a:t>ClusterIP</a:t>
            </a:r>
            <a:r>
              <a:rPr lang="en-US" dirty="0"/>
              <a:t>, </a:t>
            </a:r>
            <a:r>
              <a:rPr lang="en-US" dirty="0" err="1"/>
              <a:t>NodePort</a:t>
            </a:r>
            <a:r>
              <a:rPr lang="en-US" dirty="0"/>
              <a:t> &amp; </a:t>
            </a:r>
            <a:r>
              <a:rPr lang="en-US" dirty="0" err="1"/>
              <a:t>LoadBalancer</a:t>
            </a:r>
            <a:r>
              <a:rPr lang="en-US" dirty="0"/>
              <a:t>) sub-objects: svc, endpoint, iptables and IPVS.</a:t>
            </a:r>
          </a:p>
          <a:p>
            <a:r>
              <a:rPr lang="en-US" dirty="0"/>
              <a:t>Volume – storage of a container (supporting stateful workloads) sub-objects: PV and PVC and </a:t>
            </a:r>
            <a:r>
              <a:rPr lang="en-US" dirty="0" err="1"/>
              <a:t>StorageClass</a:t>
            </a:r>
            <a:r>
              <a:rPr lang="en-US" dirty="0"/>
              <a:t>.</a:t>
            </a:r>
          </a:p>
          <a:p>
            <a:r>
              <a:rPr lang="en-US" dirty="0"/>
              <a:t>Namespace – resources grouping.</a:t>
            </a:r>
          </a:p>
          <a:p>
            <a:r>
              <a:rPr lang="en-US" dirty="0"/>
              <a:t>Deployment – declarative packaging of a set of pods and services.</a:t>
            </a:r>
          </a:p>
          <a:p>
            <a:r>
              <a:rPr lang="en-US" dirty="0" err="1"/>
              <a:t>DaemonSet</a:t>
            </a:r>
            <a:r>
              <a:rPr lang="en-US" dirty="0"/>
              <a:t> – run a pod instance on all nodes.</a:t>
            </a:r>
          </a:p>
          <a:p>
            <a:r>
              <a:rPr lang="en-US" dirty="0" err="1"/>
              <a:t>StatefulSet</a:t>
            </a:r>
            <a:r>
              <a:rPr lang="en-US" dirty="0"/>
              <a:t> – manages Pods that are based on stateful workloads.</a:t>
            </a:r>
          </a:p>
          <a:p>
            <a:r>
              <a:rPr lang="en-US" dirty="0"/>
              <a:t>Job – creates one or more Pods / service.</a:t>
            </a:r>
          </a:p>
          <a:p>
            <a:r>
              <a:rPr lang="en-US" dirty="0"/>
              <a:t>Ingress – manages external access to the services in a cluster.</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7</a:t>
            </a:fld>
            <a:endParaRPr lang="en-US"/>
          </a:p>
        </p:txBody>
      </p:sp>
    </p:spTree>
    <p:extLst>
      <p:ext uri="{BB962C8B-B14F-4D97-AF65-F5344CB8AC3E}">
        <p14:creationId xmlns:p14="http://schemas.microsoft.com/office/powerpoint/2010/main" val="3286734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3C601-03E0-477D-E1C9-550F2862A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82D3C-2B31-43D5-BAD9-1E032D9D6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9E3A4-A505-3091-E22A-17A770FF58C0}"/>
              </a:ext>
            </a:extLst>
          </p:cNvPr>
          <p:cNvSpPr>
            <a:spLocks noGrp="1"/>
          </p:cNvSpPr>
          <p:nvPr>
            <p:ph type="body" idx="1"/>
          </p:nvPr>
        </p:nvSpPr>
        <p:spPr/>
        <p:txBody>
          <a:bodyPr/>
          <a:lstStyle/>
          <a:p>
            <a:r>
              <a:rPr lang="en-US" dirty="0">
                <a:hlinkClick r:id="rId3"/>
              </a:rPr>
              <a:t>The Ultimate Guide to the Kubernetes Dashboard: How to Install, Access, Authenticate and Add </a:t>
            </a:r>
            <a:r>
              <a:rPr lang="en-US" dirty="0" err="1">
                <a:hlinkClick r:id="rId3"/>
              </a:rPr>
              <a:t>Heapster</a:t>
            </a:r>
            <a:r>
              <a:rPr lang="en-US" dirty="0">
                <a:hlinkClick r:id="rId3"/>
              </a:rPr>
              <a:t> Metrics (replex.io)</a:t>
            </a:r>
            <a:endParaRPr lang="en-US" dirty="0"/>
          </a:p>
          <a:p>
            <a:endParaRPr lang="en-US" dirty="0"/>
          </a:p>
          <a:p>
            <a:r>
              <a:rPr lang="en-US" dirty="0"/>
              <a:t> C:\Users\&lt;user&gt;\.kube\config</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CFE0ABC-5FE7-C465-3684-87FCC091EDDB}"/>
              </a:ext>
            </a:extLst>
          </p:cNvPr>
          <p:cNvSpPr>
            <a:spLocks noGrp="1"/>
          </p:cNvSpPr>
          <p:nvPr>
            <p:ph type="sldNum" sz="quarter" idx="5"/>
          </p:nvPr>
        </p:nvSpPr>
        <p:spPr/>
        <p:txBody>
          <a:bodyPr/>
          <a:lstStyle/>
          <a:p>
            <a:fld id="{572DD7D5-A1E7-4E59-B251-136D919D9E0A}" type="slidenum">
              <a:rPr lang="en-US" smtClean="0"/>
              <a:t>14</a:t>
            </a:fld>
            <a:endParaRPr lang="en-US"/>
          </a:p>
        </p:txBody>
      </p:sp>
    </p:spTree>
    <p:extLst>
      <p:ext uri="{BB962C8B-B14F-4D97-AF65-F5344CB8AC3E}">
        <p14:creationId xmlns:p14="http://schemas.microsoft.com/office/powerpoint/2010/main" val="1671875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The Ultimate Guide to the Kubernetes Dashboard: How to Install, Access, Authenticate and Add </a:t>
            </a:r>
            <a:r>
              <a:rPr lang="en-US" dirty="0" err="1">
                <a:hlinkClick r:id="rId3"/>
              </a:rPr>
              <a:t>Heapster</a:t>
            </a:r>
            <a:r>
              <a:rPr lang="en-US" dirty="0">
                <a:hlinkClick r:id="rId3"/>
              </a:rPr>
              <a:t> Metrics (replex.io)</a:t>
            </a:r>
            <a:endParaRPr lang="en-US" dirty="0"/>
          </a:p>
          <a:p>
            <a:endParaRPr lang="en-US" dirty="0"/>
          </a:p>
          <a:p>
            <a:r>
              <a:rPr lang="en-US" dirty="0"/>
              <a:t> C:\Users\&lt;user&gt;\.kube\config</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15</a:t>
            </a:fld>
            <a:endParaRPr lang="en-US"/>
          </a:p>
        </p:txBody>
      </p:sp>
    </p:spTree>
    <p:extLst>
      <p:ext uri="{BB962C8B-B14F-4D97-AF65-F5344CB8AC3E}">
        <p14:creationId xmlns:p14="http://schemas.microsoft.com/office/powerpoint/2010/main" val="2110837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Pods</a:t>
            </a:r>
            <a:r>
              <a:rPr lang="en-US" sz="1200" b="0" i="0" kern="1200" dirty="0">
                <a:solidFill>
                  <a:schemeClr val="tx1"/>
                </a:solidFill>
                <a:effectLst/>
                <a:latin typeface="+mn-lt"/>
                <a:ea typeface="+mn-ea"/>
                <a:cs typeface="+mn-cs"/>
              </a:rPr>
              <a:t> - runs one or more closely related containers</a:t>
            </a:r>
          </a:p>
          <a:p>
            <a:pPr fontAlgn="base"/>
            <a:r>
              <a:rPr lang="en-US" sz="1200" b="1" i="0" kern="1200" dirty="0">
                <a:solidFill>
                  <a:schemeClr val="tx1"/>
                </a:solidFill>
                <a:effectLst/>
                <a:latin typeface="+mn-lt"/>
                <a:ea typeface="+mn-ea"/>
                <a:cs typeface="+mn-cs"/>
              </a:rPr>
              <a:t>Services</a:t>
            </a:r>
            <a:r>
              <a:rPr lang="en-US" sz="1200" b="0" i="0" kern="1200" dirty="0">
                <a:solidFill>
                  <a:schemeClr val="tx1"/>
                </a:solidFill>
                <a:effectLst/>
                <a:latin typeface="+mn-lt"/>
                <a:ea typeface="+mn-ea"/>
                <a:cs typeface="+mn-cs"/>
              </a:rPr>
              <a:t> - sets up networking in a Kubernetes cluster</a:t>
            </a:r>
          </a:p>
          <a:p>
            <a:pPr fontAlgn="base"/>
            <a:r>
              <a:rPr lang="en-US" sz="1200" b="1" i="0" kern="1200" dirty="0">
                <a:solidFill>
                  <a:schemeClr val="tx1"/>
                </a:solidFill>
                <a:effectLst/>
                <a:latin typeface="+mn-lt"/>
                <a:ea typeface="+mn-ea"/>
                <a:cs typeface="+mn-cs"/>
              </a:rPr>
              <a:t>Deployment</a:t>
            </a:r>
            <a:r>
              <a:rPr lang="en-US" sz="1200" b="0" i="0" kern="1200" dirty="0">
                <a:solidFill>
                  <a:schemeClr val="tx1"/>
                </a:solidFill>
                <a:effectLst/>
                <a:latin typeface="+mn-lt"/>
                <a:ea typeface="+mn-ea"/>
                <a:cs typeface="+mn-cs"/>
              </a:rPr>
              <a:t> - Maintains a set of identical pods, ensuring that they have the correct config and that the right number of them exist.</a:t>
            </a:r>
          </a:p>
          <a:p>
            <a:endParaRPr lang="en-IN" dirty="0"/>
          </a:p>
          <a:p>
            <a:pPr fontAlgn="base"/>
            <a:r>
              <a:rPr lang="en-US" sz="1200" b="1" i="0" kern="1200" dirty="0">
                <a:solidFill>
                  <a:schemeClr val="tx1"/>
                </a:solidFill>
                <a:effectLst/>
                <a:latin typeface="+mn-lt"/>
                <a:ea typeface="+mn-ea"/>
                <a:cs typeface="+mn-cs"/>
              </a:rPr>
              <a:t>Pods:</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Runs a single set of containers</a:t>
            </a:r>
          </a:p>
          <a:p>
            <a:pPr fontAlgn="base"/>
            <a:r>
              <a:rPr lang="en-US" sz="1200" b="0" i="0" kern="1200" dirty="0">
                <a:solidFill>
                  <a:schemeClr val="tx1"/>
                </a:solidFill>
                <a:effectLst/>
                <a:latin typeface="+mn-lt"/>
                <a:ea typeface="+mn-ea"/>
                <a:cs typeface="+mn-cs"/>
              </a:rPr>
              <a:t>Good for one-off dev purposes</a:t>
            </a:r>
          </a:p>
          <a:p>
            <a:pPr fontAlgn="base"/>
            <a:r>
              <a:rPr lang="en-US" sz="1200" b="0" i="0" kern="1200" dirty="0">
                <a:solidFill>
                  <a:schemeClr val="tx1"/>
                </a:solidFill>
                <a:effectLst/>
                <a:latin typeface="+mn-lt"/>
                <a:ea typeface="+mn-ea"/>
                <a:cs typeface="+mn-cs"/>
              </a:rPr>
              <a:t>Rarely used directly in production</a:t>
            </a:r>
          </a:p>
          <a:p>
            <a:pPr fontAlgn="base"/>
            <a:r>
              <a:rPr lang="en-US" sz="1200" b="1" i="0" kern="1200" dirty="0">
                <a:solidFill>
                  <a:schemeClr val="tx1"/>
                </a:solidFill>
                <a:effectLst/>
                <a:latin typeface="+mn-lt"/>
                <a:ea typeface="+mn-ea"/>
                <a:cs typeface="+mn-cs"/>
              </a:rPr>
              <a:t>Deployment:</a:t>
            </a:r>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Runs a set of identical pods</a:t>
            </a:r>
          </a:p>
          <a:p>
            <a:pPr fontAlgn="base"/>
            <a:r>
              <a:rPr lang="en-US" sz="1200" b="0" i="0" kern="1200" dirty="0">
                <a:solidFill>
                  <a:schemeClr val="tx1"/>
                </a:solidFill>
                <a:effectLst/>
                <a:latin typeface="+mn-lt"/>
                <a:ea typeface="+mn-ea"/>
                <a:cs typeface="+mn-cs"/>
              </a:rPr>
              <a:t>Monitors the state of each pod, updating as necessary</a:t>
            </a:r>
          </a:p>
          <a:p>
            <a:pPr fontAlgn="base"/>
            <a:r>
              <a:rPr lang="en-US" sz="1200" b="0" i="0" kern="1200" dirty="0">
                <a:solidFill>
                  <a:schemeClr val="tx1"/>
                </a:solidFill>
                <a:effectLst/>
                <a:latin typeface="+mn-lt"/>
                <a:ea typeface="+mn-ea"/>
                <a:cs typeface="+mn-cs"/>
              </a:rPr>
              <a:t>Good for dev</a:t>
            </a:r>
          </a:p>
          <a:p>
            <a:pPr fontAlgn="base"/>
            <a:r>
              <a:rPr lang="en-US" sz="1200" b="0" i="0" kern="1200" dirty="0">
                <a:solidFill>
                  <a:schemeClr val="tx1"/>
                </a:solidFill>
                <a:effectLst/>
                <a:latin typeface="+mn-lt"/>
                <a:ea typeface="+mn-ea"/>
                <a:cs typeface="+mn-cs"/>
              </a:rPr>
              <a:t>Good for production</a:t>
            </a:r>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23</a:t>
            </a:fld>
            <a:endParaRPr lang="en-US"/>
          </a:p>
        </p:txBody>
      </p:sp>
    </p:spTree>
    <p:extLst>
      <p:ext uri="{BB962C8B-B14F-4D97-AF65-F5344CB8AC3E}">
        <p14:creationId xmlns:p14="http://schemas.microsoft.com/office/powerpoint/2010/main" val="2390508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Step 1: Log in to Docker Hub</a:t>
            </a:r>
          </a:p>
          <a:p>
            <a:r>
              <a:rPr lang="en-US" dirty="0"/>
              <a:t>docker login</a:t>
            </a:r>
          </a:p>
          <a:p>
            <a:endParaRPr lang="en-US" dirty="0"/>
          </a:p>
          <a:p>
            <a:r>
              <a:rPr lang="en-US" dirty="0"/>
              <a:t># Step 2: Tag your local image</a:t>
            </a:r>
          </a:p>
          <a:p>
            <a:r>
              <a:rPr lang="en-US" dirty="0"/>
              <a:t>docker tag webappdocker28sep:latest </a:t>
            </a:r>
            <a:r>
              <a:rPr lang="en-US" dirty="0" err="1"/>
              <a:t>proshailendra</a:t>
            </a:r>
            <a:r>
              <a:rPr lang="en-US" dirty="0"/>
              <a:t>/webappdocker28sep:latest</a:t>
            </a:r>
          </a:p>
          <a:p>
            <a:endParaRPr lang="en-US" dirty="0"/>
          </a:p>
          <a:p>
            <a:r>
              <a:rPr lang="en-US" dirty="0"/>
              <a:t># Step 3: Push the image to Docker Hub</a:t>
            </a:r>
          </a:p>
          <a:p>
            <a:r>
              <a:rPr lang="en-US" dirty="0"/>
              <a:t>docker push </a:t>
            </a:r>
            <a:r>
              <a:rPr lang="en-US" dirty="0" err="1"/>
              <a:t>proshailendra</a:t>
            </a:r>
            <a:r>
              <a:rPr lang="en-US" dirty="0"/>
              <a:t>/webappdocker28sep:latest</a:t>
            </a:r>
          </a:p>
        </p:txBody>
      </p:sp>
      <p:sp>
        <p:nvSpPr>
          <p:cNvPr id="4" name="Slide Number Placeholder 3"/>
          <p:cNvSpPr>
            <a:spLocks noGrp="1"/>
          </p:cNvSpPr>
          <p:nvPr>
            <p:ph type="sldNum" sz="quarter" idx="5"/>
          </p:nvPr>
        </p:nvSpPr>
        <p:spPr/>
        <p:txBody>
          <a:bodyPr/>
          <a:lstStyle/>
          <a:p>
            <a:fld id="{572DD7D5-A1E7-4E59-B251-136D919D9E0A}" type="slidenum">
              <a:rPr lang="en-US" smtClean="0"/>
              <a:t>25</a:t>
            </a:fld>
            <a:endParaRPr lang="en-US"/>
          </a:p>
        </p:txBody>
      </p:sp>
    </p:spTree>
    <p:extLst>
      <p:ext uri="{BB962C8B-B14F-4D97-AF65-F5344CB8AC3E}">
        <p14:creationId xmlns:p14="http://schemas.microsoft.com/office/powerpoint/2010/main" val="1771559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335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3115140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7624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1082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57918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834517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066803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0758458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04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929172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189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9170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115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1383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94778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8562150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1681552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987966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46790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215622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41119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3982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30006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373854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52090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44468454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4.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6DE97E-613A-4A0B-6F33-5E5ECB8177A0}"/>
              </a:ext>
            </a:extLst>
          </p:cNvPr>
          <p:cNvSpPr>
            <a:spLocks noGrp="1"/>
          </p:cNvSpPr>
          <p:nvPr>
            <p:ph sz="half" idx="1"/>
          </p:nvPr>
        </p:nvSpPr>
        <p:spPr/>
        <p:txBody>
          <a:bodyPr/>
          <a:lstStyle/>
          <a:p>
            <a:pPr>
              <a:lnSpc>
                <a:spcPct val="100000"/>
              </a:lnSpc>
            </a:pPr>
            <a:r>
              <a:rPr lang="en-IN" sz="2800" dirty="0"/>
              <a:t>Introduction to Kubernetes</a:t>
            </a:r>
          </a:p>
          <a:p>
            <a:pPr>
              <a:lnSpc>
                <a:spcPct val="100000"/>
              </a:lnSpc>
            </a:pPr>
            <a:r>
              <a:rPr lang="en-IN" sz="2800" dirty="0"/>
              <a:t>Docker Swarm vs. Kubernetes</a:t>
            </a:r>
          </a:p>
          <a:p>
            <a:pPr>
              <a:lnSpc>
                <a:spcPct val="100000"/>
              </a:lnSpc>
            </a:pPr>
            <a:r>
              <a:rPr lang="en-IN" sz="2800" dirty="0"/>
              <a:t>Kubernetes Architecture</a:t>
            </a:r>
          </a:p>
          <a:p>
            <a:pPr>
              <a:lnSpc>
                <a:spcPct val="100000"/>
              </a:lnSpc>
            </a:pPr>
            <a:r>
              <a:rPr lang="en-IN" sz="2800" dirty="0"/>
              <a:t>Configuring Kubernetes</a:t>
            </a:r>
          </a:p>
          <a:p>
            <a:pPr>
              <a:lnSpc>
                <a:spcPct val="100000"/>
              </a:lnSpc>
            </a:pPr>
            <a:r>
              <a:rPr lang="en-US" sz="2800" dirty="0"/>
              <a:t>YAML</a:t>
            </a:r>
          </a:p>
          <a:p>
            <a:pPr>
              <a:lnSpc>
                <a:spcPct val="100000"/>
              </a:lnSpc>
            </a:pPr>
            <a:r>
              <a:rPr lang="en-IN" sz="2800" dirty="0"/>
              <a:t>Pod</a:t>
            </a:r>
          </a:p>
          <a:p>
            <a:pPr>
              <a:lnSpc>
                <a:spcPct val="100000"/>
              </a:lnSpc>
            </a:pPr>
            <a:r>
              <a:rPr lang="en-IN" sz="2800" dirty="0"/>
              <a:t>Service</a:t>
            </a:r>
          </a:p>
          <a:p>
            <a:pPr>
              <a:lnSpc>
                <a:spcPct val="100000"/>
              </a:lnSpc>
            </a:pPr>
            <a:r>
              <a:rPr lang="en-US" sz="2800" dirty="0"/>
              <a:t>Deploy ASP.NET Core App to K8s</a:t>
            </a:r>
            <a:endParaRPr lang="en-IN" sz="2800" dirty="0"/>
          </a:p>
        </p:txBody>
      </p:sp>
      <p:sp>
        <p:nvSpPr>
          <p:cNvPr id="4" name="Content Placeholder 3">
            <a:extLst>
              <a:ext uri="{FF2B5EF4-FFF2-40B4-BE49-F238E27FC236}">
                <a16:creationId xmlns:a16="http://schemas.microsoft.com/office/drawing/2014/main" id="{670A32E6-3C58-1EB4-0454-9982A6DB2673}"/>
              </a:ext>
            </a:extLst>
          </p:cNvPr>
          <p:cNvSpPr>
            <a:spLocks noGrp="1"/>
          </p:cNvSpPr>
          <p:nvPr>
            <p:ph sz="half" idx="10"/>
          </p:nvPr>
        </p:nvSpPr>
        <p:spPr/>
        <p:txBody>
          <a:bodyPr/>
          <a:lstStyle/>
          <a:p>
            <a:r>
              <a:rPr lang="en-US" dirty="0"/>
              <a:t>Kubernetes Fundamentals</a:t>
            </a:r>
            <a:endParaRPr lang="en-IN" dirty="0"/>
          </a:p>
        </p:txBody>
      </p:sp>
      <p:sp>
        <p:nvSpPr>
          <p:cNvPr id="2" name="Title 1">
            <a:extLst>
              <a:ext uri="{FF2B5EF4-FFF2-40B4-BE49-F238E27FC236}">
                <a16:creationId xmlns:a16="http://schemas.microsoft.com/office/drawing/2014/main" id="{8C964BCC-3B3C-8047-E84C-632323D32F29}"/>
              </a:ext>
            </a:extLst>
          </p:cNvPr>
          <p:cNvSpPr>
            <a:spLocks noGrp="1"/>
          </p:cNvSpPr>
          <p:nvPr>
            <p:ph type="title"/>
          </p:nvPr>
        </p:nvSpPr>
        <p:spPr/>
        <p:txBody>
          <a:bodyPr/>
          <a:lstStyle/>
          <a:p>
            <a:r>
              <a:rPr lang="en-IN" dirty="0"/>
              <a:t>Agenda</a:t>
            </a:r>
          </a:p>
        </p:txBody>
      </p:sp>
    </p:spTree>
    <p:extLst>
      <p:ext uri="{BB962C8B-B14F-4D97-AF65-F5344CB8AC3E}">
        <p14:creationId xmlns:p14="http://schemas.microsoft.com/office/powerpoint/2010/main" val="367199453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6EDD6A-C428-4764-97C0-739D6FD8DED6}"/>
              </a:ext>
            </a:extLst>
          </p:cNvPr>
          <p:cNvSpPr>
            <a:spLocks noGrp="1"/>
          </p:cNvSpPr>
          <p:nvPr>
            <p:ph sz="half" idx="1"/>
          </p:nvPr>
        </p:nvSpPr>
        <p:spPr/>
        <p:txBody>
          <a:bodyPr>
            <a:normAutofit/>
          </a:bodyPr>
          <a:lstStyle/>
          <a:p>
            <a:pPr algn="just">
              <a:lnSpc>
                <a:spcPct val="100000"/>
              </a:lnSpc>
            </a:pPr>
            <a:r>
              <a:rPr lang="en-US" dirty="0"/>
              <a:t>Kubernetes is an open-source container management (orchestration) tool.</a:t>
            </a:r>
          </a:p>
          <a:p>
            <a:pPr algn="just">
              <a:lnSpc>
                <a:spcPct val="100000"/>
              </a:lnSpc>
            </a:pPr>
            <a:r>
              <a:rPr lang="en-US" dirty="0"/>
              <a:t>Simplify container deployment, scaling of containers &amp; container load balancing.</a:t>
            </a:r>
          </a:p>
          <a:p>
            <a:pPr algn="just">
              <a:lnSpc>
                <a:spcPct val="100000"/>
              </a:lnSpc>
            </a:pPr>
            <a:r>
              <a:rPr lang="en-US" dirty="0"/>
              <a:t>Kubernetes can run on-premises bare metal, OpenStack, public clouds Google, Azure, AWS, etc.</a:t>
            </a:r>
          </a:p>
          <a:p>
            <a:pPr algn="just">
              <a:lnSpc>
                <a:spcPct val="100000"/>
              </a:lnSpc>
            </a:pPr>
            <a:r>
              <a:rPr lang="en-US" b="1" i="1" dirty="0"/>
              <a:t>Note</a:t>
            </a:r>
            <a:r>
              <a:rPr lang="en-US" i="1" dirty="0"/>
              <a:t>: Kubernetes is not a containerization platform. It is a multi-container management solution.</a:t>
            </a:r>
            <a:endParaRPr lang="en-US" dirty="0"/>
          </a:p>
        </p:txBody>
      </p:sp>
      <p:sp>
        <p:nvSpPr>
          <p:cNvPr id="3" name="Content Placeholder 2">
            <a:extLst>
              <a:ext uri="{FF2B5EF4-FFF2-40B4-BE49-F238E27FC236}">
                <a16:creationId xmlns:a16="http://schemas.microsoft.com/office/drawing/2014/main" id="{2D797D34-FF10-412C-AD00-7D67659D2A60}"/>
              </a:ext>
            </a:extLst>
          </p:cNvPr>
          <p:cNvSpPr>
            <a:spLocks noGrp="1"/>
          </p:cNvSpPr>
          <p:nvPr>
            <p:ph sz="half" idx="10"/>
          </p:nvPr>
        </p:nvSpPr>
        <p:spPr/>
        <p:txBody>
          <a:bodyPr/>
          <a:lstStyle/>
          <a:p>
            <a:r>
              <a:rPr lang="en-IN" dirty="0"/>
              <a:t>Introduction to Kubernetes</a:t>
            </a:r>
          </a:p>
        </p:txBody>
      </p:sp>
    </p:spTree>
    <p:extLst>
      <p:ext uri="{BB962C8B-B14F-4D97-AF65-F5344CB8AC3E}">
        <p14:creationId xmlns:p14="http://schemas.microsoft.com/office/powerpoint/2010/main" val="3423674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0AC520-A504-4FDE-B86B-B92ECBAF0430}"/>
              </a:ext>
            </a:extLst>
          </p:cNvPr>
          <p:cNvSpPr>
            <a:spLocks noGrp="1"/>
          </p:cNvSpPr>
          <p:nvPr>
            <p:ph sz="half" idx="1"/>
          </p:nvPr>
        </p:nvSpPr>
        <p:spPr/>
        <p:txBody>
          <a:bodyPr>
            <a:normAutofit/>
          </a:bodyPr>
          <a:lstStyle/>
          <a:p>
            <a:pPr>
              <a:lnSpc>
                <a:spcPct val="100000"/>
              </a:lnSpc>
            </a:pPr>
            <a:r>
              <a:rPr lang="en-US" dirty="0"/>
              <a:t>Automated Scheduling</a:t>
            </a:r>
          </a:p>
          <a:p>
            <a:pPr>
              <a:lnSpc>
                <a:spcPct val="100000"/>
              </a:lnSpc>
            </a:pPr>
            <a:r>
              <a:rPr lang="en-US" dirty="0"/>
              <a:t>Self-Healing Capabilities</a:t>
            </a:r>
          </a:p>
          <a:p>
            <a:pPr>
              <a:lnSpc>
                <a:spcPct val="100000"/>
              </a:lnSpc>
            </a:pPr>
            <a:r>
              <a:rPr lang="en-US" dirty="0"/>
              <a:t>Automated rollouts &amp; rollback</a:t>
            </a:r>
          </a:p>
          <a:p>
            <a:pPr>
              <a:lnSpc>
                <a:spcPct val="100000"/>
              </a:lnSpc>
            </a:pPr>
            <a:r>
              <a:rPr lang="en-US" dirty="0"/>
              <a:t>Horizontal Scaling &amp; Load Balancing</a:t>
            </a:r>
          </a:p>
          <a:p>
            <a:pPr>
              <a:lnSpc>
                <a:spcPct val="100000"/>
              </a:lnSpc>
            </a:pPr>
            <a:r>
              <a:rPr lang="en-US" dirty="0"/>
              <a:t>Offers enterprise-ready features</a:t>
            </a:r>
          </a:p>
          <a:p>
            <a:pPr>
              <a:lnSpc>
                <a:spcPct val="100000"/>
              </a:lnSpc>
            </a:pPr>
            <a:r>
              <a:rPr lang="en-US" dirty="0"/>
              <a:t>Application-centric management</a:t>
            </a:r>
          </a:p>
          <a:p>
            <a:pPr>
              <a:lnSpc>
                <a:spcPct val="100000"/>
              </a:lnSpc>
            </a:pPr>
            <a:r>
              <a:rPr lang="en-US" dirty="0"/>
              <a:t>Auto-scalable infrastructure</a:t>
            </a:r>
          </a:p>
        </p:txBody>
      </p:sp>
      <p:sp>
        <p:nvSpPr>
          <p:cNvPr id="3" name="Content Placeholder 2">
            <a:extLst>
              <a:ext uri="{FF2B5EF4-FFF2-40B4-BE49-F238E27FC236}">
                <a16:creationId xmlns:a16="http://schemas.microsoft.com/office/drawing/2014/main" id="{BFAF8C9D-BC32-4BAC-AA6D-2B289F442697}"/>
              </a:ext>
            </a:extLst>
          </p:cNvPr>
          <p:cNvSpPr>
            <a:spLocks noGrp="1"/>
          </p:cNvSpPr>
          <p:nvPr>
            <p:ph sz="half" idx="10"/>
          </p:nvPr>
        </p:nvSpPr>
        <p:spPr/>
        <p:txBody>
          <a:bodyPr/>
          <a:lstStyle/>
          <a:p>
            <a:r>
              <a:rPr lang="en-IN" dirty="0"/>
              <a:t>Kubernetes Features</a:t>
            </a:r>
          </a:p>
        </p:txBody>
      </p:sp>
    </p:spTree>
    <p:extLst>
      <p:ext uri="{BB962C8B-B14F-4D97-AF65-F5344CB8AC3E}">
        <p14:creationId xmlns:p14="http://schemas.microsoft.com/office/powerpoint/2010/main" val="3978057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0AC520-A504-4FDE-B86B-B92ECBAF0430}"/>
              </a:ext>
            </a:extLst>
          </p:cNvPr>
          <p:cNvSpPr>
            <a:spLocks noGrp="1"/>
          </p:cNvSpPr>
          <p:nvPr>
            <p:ph sz="half" idx="1"/>
          </p:nvPr>
        </p:nvSpPr>
        <p:spPr/>
        <p:txBody>
          <a:bodyPr>
            <a:normAutofit/>
          </a:bodyPr>
          <a:lstStyle/>
          <a:p>
            <a:pPr>
              <a:lnSpc>
                <a:spcPct val="100000"/>
              </a:lnSpc>
            </a:pPr>
            <a:r>
              <a:rPr lang="en-US" sz="3200" dirty="0"/>
              <a:t>Kubernetes can be an overkill for simple applications</a:t>
            </a:r>
          </a:p>
          <a:p>
            <a:pPr>
              <a:lnSpc>
                <a:spcPct val="100000"/>
              </a:lnSpc>
            </a:pPr>
            <a:r>
              <a:rPr lang="en-US" sz="3200" dirty="0"/>
              <a:t>Kubernetes is very complex and can reduce productivity</a:t>
            </a:r>
          </a:p>
          <a:p>
            <a:pPr>
              <a:lnSpc>
                <a:spcPct val="100000"/>
              </a:lnSpc>
            </a:pPr>
            <a:r>
              <a:rPr lang="en-US" sz="3200" dirty="0"/>
              <a:t>The transition to Kubernetes can be complicated</a:t>
            </a:r>
          </a:p>
        </p:txBody>
      </p:sp>
      <p:sp>
        <p:nvSpPr>
          <p:cNvPr id="3" name="Content Placeholder 2">
            <a:extLst>
              <a:ext uri="{FF2B5EF4-FFF2-40B4-BE49-F238E27FC236}">
                <a16:creationId xmlns:a16="http://schemas.microsoft.com/office/drawing/2014/main" id="{BFAF8C9D-BC32-4BAC-AA6D-2B289F442697}"/>
              </a:ext>
            </a:extLst>
          </p:cNvPr>
          <p:cNvSpPr>
            <a:spLocks noGrp="1"/>
          </p:cNvSpPr>
          <p:nvPr>
            <p:ph sz="half" idx="10"/>
          </p:nvPr>
        </p:nvSpPr>
        <p:spPr/>
        <p:txBody>
          <a:bodyPr/>
          <a:lstStyle/>
          <a:p>
            <a:r>
              <a:rPr lang="en-IN" dirty="0"/>
              <a:t>Kubernetes Disadvantages</a:t>
            </a:r>
          </a:p>
        </p:txBody>
      </p:sp>
    </p:spTree>
    <p:extLst>
      <p:ext uri="{BB962C8B-B14F-4D97-AF65-F5344CB8AC3E}">
        <p14:creationId xmlns:p14="http://schemas.microsoft.com/office/powerpoint/2010/main" val="1458656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A2C3EB-6DC3-4785-A4CC-BC4E77498B46}"/>
              </a:ext>
            </a:extLst>
          </p:cNvPr>
          <p:cNvSpPr>
            <a:spLocks noGrp="1"/>
          </p:cNvSpPr>
          <p:nvPr>
            <p:ph sz="half" idx="10"/>
          </p:nvPr>
        </p:nvSpPr>
        <p:spPr/>
        <p:txBody>
          <a:bodyPr/>
          <a:lstStyle/>
          <a:p>
            <a:r>
              <a:rPr lang="en-IN" dirty="0"/>
              <a:t>Docker Swarm vs. Kubernetes</a:t>
            </a:r>
          </a:p>
        </p:txBody>
      </p:sp>
      <p:pic>
        <p:nvPicPr>
          <p:cNvPr id="5" name="Picture 4">
            <a:extLst>
              <a:ext uri="{FF2B5EF4-FFF2-40B4-BE49-F238E27FC236}">
                <a16:creationId xmlns:a16="http://schemas.microsoft.com/office/drawing/2014/main" id="{D638AC24-F389-41EA-AB1E-1EE722158867}"/>
              </a:ext>
            </a:extLst>
          </p:cNvPr>
          <p:cNvPicPr>
            <a:picLocks noChangeAspect="1"/>
          </p:cNvPicPr>
          <p:nvPr/>
        </p:nvPicPr>
        <p:blipFill>
          <a:blip r:embed="rId3"/>
          <a:stretch>
            <a:fillRect/>
          </a:stretch>
        </p:blipFill>
        <p:spPr>
          <a:xfrm>
            <a:off x="2037300" y="1177604"/>
            <a:ext cx="7919501" cy="5151785"/>
          </a:xfrm>
          <a:prstGeom prst="rect">
            <a:avLst/>
          </a:prstGeom>
        </p:spPr>
      </p:pic>
    </p:spTree>
    <p:extLst>
      <p:ext uri="{BB962C8B-B14F-4D97-AF65-F5344CB8AC3E}">
        <p14:creationId xmlns:p14="http://schemas.microsoft.com/office/powerpoint/2010/main" val="544214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D353B-24B9-4D8E-882F-9FB75332F2EA}"/>
              </a:ext>
            </a:extLst>
          </p:cNvPr>
          <p:cNvSpPr>
            <a:spLocks noGrp="1"/>
          </p:cNvSpPr>
          <p:nvPr>
            <p:ph sz="half" idx="10"/>
          </p:nvPr>
        </p:nvSpPr>
        <p:spPr/>
        <p:txBody>
          <a:bodyPr/>
          <a:lstStyle/>
          <a:p>
            <a:r>
              <a:rPr lang="en-IN" dirty="0"/>
              <a:t>Kubernetes Architecture</a:t>
            </a:r>
          </a:p>
        </p:txBody>
      </p:sp>
      <p:pic>
        <p:nvPicPr>
          <p:cNvPr id="9" name="Picture 8">
            <a:extLst>
              <a:ext uri="{FF2B5EF4-FFF2-40B4-BE49-F238E27FC236}">
                <a16:creationId xmlns:a16="http://schemas.microsoft.com/office/drawing/2014/main" id="{85DFC3EA-87BC-460D-95E7-E3F68B8F75FF}"/>
              </a:ext>
            </a:extLst>
          </p:cNvPr>
          <p:cNvPicPr>
            <a:picLocks noChangeAspect="1"/>
          </p:cNvPicPr>
          <p:nvPr/>
        </p:nvPicPr>
        <p:blipFill rotWithShape="1">
          <a:blip r:embed="rId3">
            <a:extLst>
              <a:ext uri="{28A0092B-C50C-407E-A947-70E740481C1C}">
                <a14:useLocalDpi xmlns:a14="http://schemas.microsoft.com/office/drawing/2010/main" val="0"/>
              </a:ext>
            </a:extLst>
          </a:blip>
          <a:srcRect l="49822" t="2811" r="37306" b="2540"/>
          <a:stretch/>
        </p:blipFill>
        <p:spPr>
          <a:xfrm>
            <a:off x="5726191" y="1299408"/>
            <a:ext cx="1011751" cy="4448897"/>
          </a:xfrm>
          <a:prstGeom prst="rect">
            <a:avLst/>
          </a:prstGeom>
        </p:spPr>
      </p:pic>
      <p:grpSp>
        <p:nvGrpSpPr>
          <p:cNvPr id="31" name="Group 30">
            <a:extLst>
              <a:ext uri="{FF2B5EF4-FFF2-40B4-BE49-F238E27FC236}">
                <a16:creationId xmlns:a16="http://schemas.microsoft.com/office/drawing/2014/main" id="{73E6263A-BB1D-46B9-8C18-21F8AFF30C4E}"/>
              </a:ext>
            </a:extLst>
          </p:cNvPr>
          <p:cNvGrpSpPr/>
          <p:nvPr/>
        </p:nvGrpSpPr>
        <p:grpSpPr>
          <a:xfrm>
            <a:off x="6805156" y="3623888"/>
            <a:ext cx="3281355" cy="2328759"/>
            <a:chOff x="5665304" y="1247926"/>
            <a:chExt cx="3346174" cy="2615083"/>
          </a:xfrm>
        </p:grpSpPr>
        <p:sp>
          <p:nvSpPr>
            <p:cNvPr id="8" name="Rectangle 7">
              <a:extLst>
                <a:ext uri="{FF2B5EF4-FFF2-40B4-BE49-F238E27FC236}">
                  <a16:creationId xmlns:a16="http://schemas.microsoft.com/office/drawing/2014/main" id="{9D52BF52-C7F0-498A-9730-98A52A76FC03}"/>
                </a:ext>
              </a:extLst>
            </p:cNvPr>
            <p:cNvSpPr/>
            <p:nvPr/>
          </p:nvSpPr>
          <p:spPr>
            <a:xfrm>
              <a:off x="5859769" y="1712736"/>
              <a:ext cx="1409048" cy="105034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7CA2EA22-895D-42D6-A466-60E804531088}"/>
                </a:ext>
              </a:extLst>
            </p:cNvPr>
            <p:cNvSpPr/>
            <p:nvPr/>
          </p:nvSpPr>
          <p:spPr>
            <a:xfrm>
              <a:off x="5956300" y="1951887"/>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container1</a:t>
              </a:r>
              <a:endParaRPr lang="en-IN" sz="1600" dirty="0"/>
            </a:p>
          </p:txBody>
        </p:sp>
        <p:sp>
          <p:nvSpPr>
            <p:cNvPr id="7" name="Rectangle 6">
              <a:extLst>
                <a:ext uri="{FF2B5EF4-FFF2-40B4-BE49-F238E27FC236}">
                  <a16:creationId xmlns:a16="http://schemas.microsoft.com/office/drawing/2014/main" id="{63A7BD87-E3C0-4B77-B14D-357EAFE31C35}"/>
                </a:ext>
              </a:extLst>
            </p:cNvPr>
            <p:cNvSpPr/>
            <p:nvPr/>
          </p:nvSpPr>
          <p:spPr>
            <a:xfrm>
              <a:off x="5956300" y="2358443"/>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container2</a:t>
              </a:r>
              <a:endParaRPr lang="en-IN" sz="1600" dirty="0"/>
            </a:p>
          </p:txBody>
        </p:sp>
        <p:sp>
          <p:nvSpPr>
            <p:cNvPr id="13" name="Rectangle 12">
              <a:extLst>
                <a:ext uri="{FF2B5EF4-FFF2-40B4-BE49-F238E27FC236}">
                  <a16:creationId xmlns:a16="http://schemas.microsoft.com/office/drawing/2014/main" id="{2423D390-D477-4E02-B2D1-13C35016F9D4}"/>
                </a:ext>
              </a:extLst>
            </p:cNvPr>
            <p:cNvSpPr/>
            <p:nvPr/>
          </p:nvSpPr>
          <p:spPr>
            <a:xfrm>
              <a:off x="5859769" y="2867050"/>
              <a:ext cx="2950345" cy="36195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 Runtime - Docker</a:t>
              </a:r>
              <a:endParaRPr lang="en-IN" sz="1600" dirty="0"/>
            </a:p>
          </p:txBody>
        </p:sp>
        <p:sp>
          <p:nvSpPr>
            <p:cNvPr id="14" name="Rectangle 13">
              <a:extLst>
                <a:ext uri="{FF2B5EF4-FFF2-40B4-BE49-F238E27FC236}">
                  <a16:creationId xmlns:a16="http://schemas.microsoft.com/office/drawing/2014/main" id="{FDF6EA56-3FB0-4EBD-9159-ED0D7067CA65}"/>
                </a:ext>
              </a:extLst>
            </p:cNvPr>
            <p:cNvSpPr/>
            <p:nvPr/>
          </p:nvSpPr>
          <p:spPr>
            <a:xfrm>
              <a:off x="5859769" y="3333410"/>
              <a:ext cx="1409048"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kubelet</a:t>
              </a:r>
              <a:endParaRPr lang="en-IN" dirty="0"/>
            </a:p>
          </p:txBody>
        </p:sp>
        <p:sp>
          <p:nvSpPr>
            <p:cNvPr id="15" name="Rectangle 14">
              <a:extLst>
                <a:ext uri="{FF2B5EF4-FFF2-40B4-BE49-F238E27FC236}">
                  <a16:creationId xmlns:a16="http://schemas.microsoft.com/office/drawing/2014/main" id="{7C0A7DAD-38E0-4B0A-B048-CD830AFDAA1C}"/>
                </a:ext>
              </a:extLst>
            </p:cNvPr>
            <p:cNvSpPr/>
            <p:nvPr/>
          </p:nvSpPr>
          <p:spPr>
            <a:xfrm>
              <a:off x="7401066" y="3333410"/>
              <a:ext cx="1409048"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kube-proxy</a:t>
              </a:r>
              <a:endParaRPr lang="en-IN" dirty="0"/>
            </a:p>
          </p:txBody>
        </p:sp>
        <p:sp>
          <p:nvSpPr>
            <p:cNvPr id="16" name="Rectangle 15">
              <a:extLst>
                <a:ext uri="{FF2B5EF4-FFF2-40B4-BE49-F238E27FC236}">
                  <a16:creationId xmlns:a16="http://schemas.microsoft.com/office/drawing/2014/main" id="{EF31D967-2808-482A-B6A7-5E8EA079516B}"/>
                </a:ext>
              </a:extLst>
            </p:cNvPr>
            <p:cNvSpPr/>
            <p:nvPr/>
          </p:nvSpPr>
          <p:spPr>
            <a:xfrm>
              <a:off x="5665304" y="1557130"/>
              <a:ext cx="3346174" cy="2305879"/>
            </a:xfrm>
            <a:prstGeom prst="rect">
              <a:avLst/>
            </a:prstGeom>
            <a:noFill/>
            <a:ln w="28575">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A2EDDF16-C6D5-46CD-B514-A854FB636B1B}"/>
                </a:ext>
              </a:extLst>
            </p:cNvPr>
            <p:cNvSpPr txBox="1"/>
            <p:nvPr/>
          </p:nvSpPr>
          <p:spPr>
            <a:xfrm>
              <a:off x="6699175" y="1247926"/>
              <a:ext cx="1403782" cy="338554"/>
            </a:xfrm>
            <a:prstGeom prst="rect">
              <a:avLst/>
            </a:prstGeom>
            <a:noFill/>
          </p:spPr>
          <p:txBody>
            <a:bodyPr wrap="none" rtlCol="0">
              <a:spAutoFit/>
            </a:bodyPr>
            <a:lstStyle/>
            <a:p>
              <a:r>
                <a:rPr lang="en-US" sz="1600" dirty="0"/>
                <a:t>Worker Node2</a:t>
              </a:r>
              <a:endParaRPr lang="en-IN" sz="1600" dirty="0"/>
            </a:p>
          </p:txBody>
        </p:sp>
        <p:sp>
          <p:nvSpPr>
            <p:cNvPr id="29" name="Rectangle 28">
              <a:extLst>
                <a:ext uri="{FF2B5EF4-FFF2-40B4-BE49-F238E27FC236}">
                  <a16:creationId xmlns:a16="http://schemas.microsoft.com/office/drawing/2014/main" id="{96C706F5-F33F-4B81-B8ED-F77CA078CF93}"/>
                </a:ext>
              </a:extLst>
            </p:cNvPr>
            <p:cNvSpPr/>
            <p:nvPr/>
          </p:nvSpPr>
          <p:spPr>
            <a:xfrm>
              <a:off x="7401066" y="1712736"/>
              <a:ext cx="1409048" cy="105034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Rectangle 29">
              <a:extLst>
                <a:ext uri="{FF2B5EF4-FFF2-40B4-BE49-F238E27FC236}">
                  <a16:creationId xmlns:a16="http://schemas.microsoft.com/office/drawing/2014/main" id="{B6971F2D-27AC-4AA6-9618-EFC26083D562}"/>
                </a:ext>
              </a:extLst>
            </p:cNvPr>
            <p:cNvSpPr/>
            <p:nvPr/>
          </p:nvSpPr>
          <p:spPr>
            <a:xfrm>
              <a:off x="7482390" y="2113153"/>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container1</a:t>
              </a:r>
              <a:endParaRPr lang="en-IN" sz="1600" dirty="0"/>
            </a:p>
          </p:txBody>
        </p:sp>
      </p:grpSp>
      <p:grpSp>
        <p:nvGrpSpPr>
          <p:cNvPr id="32" name="Group 31">
            <a:extLst>
              <a:ext uri="{FF2B5EF4-FFF2-40B4-BE49-F238E27FC236}">
                <a16:creationId xmlns:a16="http://schemas.microsoft.com/office/drawing/2014/main" id="{26F75388-B632-420C-9BD3-361A3BFE1910}"/>
              </a:ext>
            </a:extLst>
          </p:cNvPr>
          <p:cNvGrpSpPr/>
          <p:nvPr/>
        </p:nvGrpSpPr>
        <p:grpSpPr>
          <a:xfrm>
            <a:off x="6823225" y="1193028"/>
            <a:ext cx="3281355" cy="2330828"/>
            <a:chOff x="5665304" y="1245603"/>
            <a:chExt cx="3346174" cy="2617406"/>
          </a:xfrm>
        </p:grpSpPr>
        <p:sp>
          <p:nvSpPr>
            <p:cNvPr id="33" name="Rectangle 32">
              <a:extLst>
                <a:ext uri="{FF2B5EF4-FFF2-40B4-BE49-F238E27FC236}">
                  <a16:creationId xmlns:a16="http://schemas.microsoft.com/office/drawing/2014/main" id="{C9736AC5-FEBE-4CD8-BACA-3B31AB689447}"/>
                </a:ext>
              </a:extLst>
            </p:cNvPr>
            <p:cNvSpPr/>
            <p:nvPr/>
          </p:nvSpPr>
          <p:spPr>
            <a:xfrm>
              <a:off x="5859769" y="1712736"/>
              <a:ext cx="1409048" cy="105034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Rectangle 33">
              <a:extLst>
                <a:ext uri="{FF2B5EF4-FFF2-40B4-BE49-F238E27FC236}">
                  <a16:creationId xmlns:a16="http://schemas.microsoft.com/office/drawing/2014/main" id="{032B974E-4514-42C9-A147-A2C41CA0788C}"/>
                </a:ext>
              </a:extLst>
            </p:cNvPr>
            <p:cNvSpPr/>
            <p:nvPr/>
          </p:nvSpPr>
          <p:spPr>
            <a:xfrm>
              <a:off x="5956300" y="1951887"/>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container1</a:t>
              </a:r>
              <a:endParaRPr lang="en-IN" sz="1600" dirty="0"/>
            </a:p>
          </p:txBody>
        </p:sp>
        <p:sp>
          <p:nvSpPr>
            <p:cNvPr id="35" name="Rectangle 34">
              <a:extLst>
                <a:ext uri="{FF2B5EF4-FFF2-40B4-BE49-F238E27FC236}">
                  <a16:creationId xmlns:a16="http://schemas.microsoft.com/office/drawing/2014/main" id="{417044DC-F459-4FA5-84A4-DC06C3E0AC4A}"/>
                </a:ext>
              </a:extLst>
            </p:cNvPr>
            <p:cNvSpPr/>
            <p:nvPr/>
          </p:nvSpPr>
          <p:spPr>
            <a:xfrm>
              <a:off x="5956300" y="2358443"/>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container2</a:t>
              </a:r>
              <a:endParaRPr lang="en-IN" sz="1600" dirty="0"/>
            </a:p>
          </p:txBody>
        </p:sp>
        <p:sp>
          <p:nvSpPr>
            <p:cNvPr id="36" name="Rectangle 35">
              <a:extLst>
                <a:ext uri="{FF2B5EF4-FFF2-40B4-BE49-F238E27FC236}">
                  <a16:creationId xmlns:a16="http://schemas.microsoft.com/office/drawing/2014/main" id="{93840784-BA3A-4DD5-8084-B48FE5C48BB6}"/>
                </a:ext>
              </a:extLst>
            </p:cNvPr>
            <p:cNvSpPr/>
            <p:nvPr/>
          </p:nvSpPr>
          <p:spPr>
            <a:xfrm>
              <a:off x="5859769" y="2867050"/>
              <a:ext cx="2950345" cy="36195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 Runtime - Docker</a:t>
              </a:r>
              <a:endParaRPr lang="en-IN" sz="1600" dirty="0"/>
            </a:p>
          </p:txBody>
        </p:sp>
        <p:sp>
          <p:nvSpPr>
            <p:cNvPr id="37" name="Rectangle 36">
              <a:extLst>
                <a:ext uri="{FF2B5EF4-FFF2-40B4-BE49-F238E27FC236}">
                  <a16:creationId xmlns:a16="http://schemas.microsoft.com/office/drawing/2014/main" id="{B1EC63BF-785E-409B-8005-CDBB254030E0}"/>
                </a:ext>
              </a:extLst>
            </p:cNvPr>
            <p:cNvSpPr/>
            <p:nvPr/>
          </p:nvSpPr>
          <p:spPr>
            <a:xfrm>
              <a:off x="5859767" y="3333410"/>
              <a:ext cx="1409049"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kubelet</a:t>
              </a:r>
              <a:endParaRPr lang="en-IN" dirty="0"/>
            </a:p>
          </p:txBody>
        </p:sp>
        <p:sp>
          <p:nvSpPr>
            <p:cNvPr id="38" name="Rectangle 37">
              <a:extLst>
                <a:ext uri="{FF2B5EF4-FFF2-40B4-BE49-F238E27FC236}">
                  <a16:creationId xmlns:a16="http://schemas.microsoft.com/office/drawing/2014/main" id="{3F184AA2-225A-452F-9319-9226AF9F3660}"/>
                </a:ext>
              </a:extLst>
            </p:cNvPr>
            <p:cNvSpPr/>
            <p:nvPr/>
          </p:nvSpPr>
          <p:spPr>
            <a:xfrm>
              <a:off x="7401066" y="3333410"/>
              <a:ext cx="1409048"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kube-proxy</a:t>
              </a:r>
              <a:endParaRPr lang="en-IN" dirty="0"/>
            </a:p>
          </p:txBody>
        </p:sp>
        <p:sp>
          <p:nvSpPr>
            <p:cNvPr id="39" name="Rectangle 38">
              <a:extLst>
                <a:ext uri="{FF2B5EF4-FFF2-40B4-BE49-F238E27FC236}">
                  <a16:creationId xmlns:a16="http://schemas.microsoft.com/office/drawing/2014/main" id="{DB2F34ED-433D-454B-8401-EBE56CAFFDD6}"/>
                </a:ext>
              </a:extLst>
            </p:cNvPr>
            <p:cNvSpPr/>
            <p:nvPr/>
          </p:nvSpPr>
          <p:spPr>
            <a:xfrm>
              <a:off x="5665304" y="1557130"/>
              <a:ext cx="3346174" cy="2305879"/>
            </a:xfrm>
            <a:prstGeom prst="rect">
              <a:avLst/>
            </a:prstGeom>
            <a:noFill/>
            <a:ln w="28575">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TextBox 39">
              <a:extLst>
                <a:ext uri="{FF2B5EF4-FFF2-40B4-BE49-F238E27FC236}">
                  <a16:creationId xmlns:a16="http://schemas.microsoft.com/office/drawing/2014/main" id="{CF29F0E6-F60C-4C38-A0F1-DA6B3F786E59}"/>
                </a:ext>
              </a:extLst>
            </p:cNvPr>
            <p:cNvSpPr txBox="1"/>
            <p:nvPr/>
          </p:nvSpPr>
          <p:spPr>
            <a:xfrm>
              <a:off x="6680749" y="1245603"/>
              <a:ext cx="1403782" cy="338554"/>
            </a:xfrm>
            <a:prstGeom prst="rect">
              <a:avLst/>
            </a:prstGeom>
            <a:noFill/>
          </p:spPr>
          <p:txBody>
            <a:bodyPr wrap="none" rtlCol="0">
              <a:spAutoFit/>
            </a:bodyPr>
            <a:lstStyle/>
            <a:p>
              <a:r>
                <a:rPr lang="en-US" sz="1600" dirty="0"/>
                <a:t>Worker Node1</a:t>
              </a:r>
              <a:endParaRPr lang="en-IN" sz="1600" dirty="0"/>
            </a:p>
          </p:txBody>
        </p:sp>
        <p:sp>
          <p:nvSpPr>
            <p:cNvPr id="41" name="Rectangle 40">
              <a:extLst>
                <a:ext uri="{FF2B5EF4-FFF2-40B4-BE49-F238E27FC236}">
                  <a16:creationId xmlns:a16="http://schemas.microsoft.com/office/drawing/2014/main" id="{E902AF04-C73F-41EC-850B-D34DAB3CB43B}"/>
                </a:ext>
              </a:extLst>
            </p:cNvPr>
            <p:cNvSpPr/>
            <p:nvPr/>
          </p:nvSpPr>
          <p:spPr>
            <a:xfrm>
              <a:off x="7401066" y="1712736"/>
              <a:ext cx="1409048" cy="105034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2" name="Rectangle 41">
              <a:extLst>
                <a:ext uri="{FF2B5EF4-FFF2-40B4-BE49-F238E27FC236}">
                  <a16:creationId xmlns:a16="http://schemas.microsoft.com/office/drawing/2014/main" id="{72B1C3FF-9122-428C-84B8-BB5729DA98E7}"/>
                </a:ext>
              </a:extLst>
            </p:cNvPr>
            <p:cNvSpPr/>
            <p:nvPr/>
          </p:nvSpPr>
          <p:spPr>
            <a:xfrm>
              <a:off x="7492815" y="2086282"/>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container1</a:t>
              </a:r>
              <a:endParaRPr lang="en-IN" sz="1600" dirty="0"/>
            </a:p>
          </p:txBody>
        </p:sp>
      </p:grpSp>
      <p:grpSp>
        <p:nvGrpSpPr>
          <p:cNvPr id="57" name="Group 56">
            <a:extLst>
              <a:ext uri="{FF2B5EF4-FFF2-40B4-BE49-F238E27FC236}">
                <a16:creationId xmlns:a16="http://schemas.microsoft.com/office/drawing/2014/main" id="{A44947DE-1B3D-43B7-B638-FC5ACAC2531C}"/>
              </a:ext>
            </a:extLst>
          </p:cNvPr>
          <p:cNvGrpSpPr/>
          <p:nvPr/>
        </p:nvGrpSpPr>
        <p:grpSpPr>
          <a:xfrm>
            <a:off x="2444836" y="2328288"/>
            <a:ext cx="3281355" cy="2394794"/>
            <a:chOff x="1352826" y="2361423"/>
            <a:chExt cx="3346174" cy="2689237"/>
          </a:xfrm>
        </p:grpSpPr>
        <p:sp>
          <p:nvSpPr>
            <p:cNvPr id="47" name="Rectangle 46">
              <a:extLst>
                <a:ext uri="{FF2B5EF4-FFF2-40B4-BE49-F238E27FC236}">
                  <a16:creationId xmlns:a16="http://schemas.microsoft.com/office/drawing/2014/main" id="{5D5E79C5-9E9E-4558-8361-93F917DF7822}"/>
                </a:ext>
              </a:extLst>
            </p:cNvPr>
            <p:cNvSpPr/>
            <p:nvPr/>
          </p:nvSpPr>
          <p:spPr>
            <a:xfrm>
              <a:off x="1517339" y="4054701"/>
              <a:ext cx="2980297"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Controller-Manager</a:t>
              </a:r>
              <a:endParaRPr lang="en-IN" dirty="0"/>
            </a:p>
          </p:txBody>
        </p:sp>
        <p:sp>
          <p:nvSpPr>
            <p:cNvPr id="48" name="Rectangle 47">
              <a:extLst>
                <a:ext uri="{FF2B5EF4-FFF2-40B4-BE49-F238E27FC236}">
                  <a16:creationId xmlns:a16="http://schemas.microsoft.com/office/drawing/2014/main" id="{FA13516A-024E-4EB7-835A-911D9298C2A3}"/>
                </a:ext>
              </a:extLst>
            </p:cNvPr>
            <p:cNvSpPr/>
            <p:nvPr/>
          </p:nvSpPr>
          <p:spPr>
            <a:xfrm>
              <a:off x="1517339" y="4521061"/>
              <a:ext cx="2980296" cy="361950"/>
            </a:xfrm>
            <a:prstGeom prst="rect">
              <a:avLst/>
            </a:prstGeom>
            <a:solidFill>
              <a:schemeClr val="tx2">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etcd</a:t>
              </a:r>
              <a:endParaRPr lang="en-IN" dirty="0"/>
            </a:p>
          </p:txBody>
        </p:sp>
        <p:sp>
          <p:nvSpPr>
            <p:cNvPr id="50" name="Rectangle 49">
              <a:extLst>
                <a:ext uri="{FF2B5EF4-FFF2-40B4-BE49-F238E27FC236}">
                  <a16:creationId xmlns:a16="http://schemas.microsoft.com/office/drawing/2014/main" id="{93B9FA38-0B92-4ABE-A27B-B0CD73FF5994}"/>
                </a:ext>
              </a:extLst>
            </p:cNvPr>
            <p:cNvSpPr/>
            <p:nvPr/>
          </p:nvSpPr>
          <p:spPr>
            <a:xfrm>
              <a:off x="1352826" y="2744781"/>
              <a:ext cx="3346174" cy="2305879"/>
            </a:xfrm>
            <a:prstGeom prst="rect">
              <a:avLst/>
            </a:prstGeom>
            <a:noFill/>
            <a:ln w="285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1" name="TextBox 50">
              <a:extLst>
                <a:ext uri="{FF2B5EF4-FFF2-40B4-BE49-F238E27FC236}">
                  <a16:creationId xmlns:a16="http://schemas.microsoft.com/office/drawing/2014/main" id="{C0909B75-7798-4A89-8438-3CD0011540B8}"/>
                </a:ext>
              </a:extLst>
            </p:cNvPr>
            <p:cNvSpPr txBox="1"/>
            <p:nvPr/>
          </p:nvSpPr>
          <p:spPr>
            <a:xfrm>
              <a:off x="2373718" y="2361423"/>
              <a:ext cx="1275029" cy="338554"/>
            </a:xfrm>
            <a:prstGeom prst="rect">
              <a:avLst/>
            </a:prstGeom>
            <a:noFill/>
          </p:spPr>
          <p:txBody>
            <a:bodyPr wrap="none" rtlCol="0">
              <a:spAutoFit/>
            </a:bodyPr>
            <a:lstStyle/>
            <a:p>
              <a:r>
                <a:rPr lang="en-US" sz="1600" dirty="0"/>
                <a:t>Master Node</a:t>
              </a:r>
              <a:endParaRPr lang="en-IN" sz="1600" dirty="0"/>
            </a:p>
          </p:txBody>
        </p:sp>
        <p:sp>
          <p:nvSpPr>
            <p:cNvPr id="54" name="Rectangle 53">
              <a:extLst>
                <a:ext uri="{FF2B5EF4-FFF2-40B4-BE49-F238E27FC236}">
                  <a16:creationId xmlns:a16="http://schemas.microsoft.com/office/drawing/2014/main" id="{555055EA-C508-4375-AECD-B5D1358BE640}"/>
                </a:ext>
              </a:extLst>
            </p:cNvPr>
            <p:cNvSpPr/>
            <p:nvPr/>
          </p:nvSpPr>
          <p:spPr>
            <a:xfrm>
              <a:off x="1535764" y="3510806"/>
              <a:ext cx="2980297" cy="36195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Scheduler</a:t>
              </a:r>
              <a:endParaRPr lang="en-IN" dirty="0"/>
            </a:p>
          </p:txBody>
        </p:sp>
        <p:sp>
          <p:nvSpPr>
            <p:cNvPr id="55" name="Rectangle 54">
              <a:extLst>
                <a:ext uri="{FF2B5EF4-FFF2-40B4-BE49-F238E27FC236}">
                  <a16:creationId xmlns:a16="http://schemas.microsoft.com/office/drawing/2014/main" id="{4F03A510-ADB2-486B-8D58-43DFC3570163}"/>
                </a:ext>
              </a:extLst>
            </p:cNvPr>
            <p:cNvSpPr/>
            <p:nvPr/>
          </p:nvSpPr>
          <p:spPr>
            <a:xfrm>
              <a:off x="1535764" y="2981207"/>
              <a:ext cx="2980297" cy="36195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API Server</a:t>
              </a:r>
              <a:endParaRPr lang="en-IN" dirty="0"/>
            </a:p>
          </p:txBody>
        </p:sp>
      </p:grpSp>
      <p:grpSp>
        <p:nvGrpSpPr>
          <p:cNvPr id="59" name="Group 58">
            <a:extLst>
              <a:ext uri="{FF2B5EF4-FFF2-40B4-BE49-F238E27FC236}">
                <a16:creationId xmlns:a16="http://schemas.microsoft.com/office/drawing/2014/main" id="{A6F5B11D-7616-47E6-BD75-0A197AED9FF2}"/>
              </a:ext>
            </a:extLst>
          </p:cNvPr>
          <p:cNvGrpSpPr/>
          <p:nvPr/>
        </p:nvGrpSpPr>
        <p:grpSpPr>
          <a:xfrm>
            <a:off x="1123434" y="2801030"/>
            <a:ext cx="852507" cy="740794"/>
            <a:chOff x="401640" y="2917331"/>
            <a:chExt cx="869347" cy="831875"/>
          </a:xfrm>
        </p:grpSpPr>
        <p:pic>
          <p:nvPicPr>
            <p:cNvPr id="1026" name="Picture 2" descr="Related image">
              <a:extLst>
                <a:ext uri="{FF2B5EF4-FFF2-40B4-BE49-F238E27FC236}">
                  <a16:creationId xmlns:a16="http://schemas.microsoft.com/office/drawing/2014/main" id="{607FEEF7-D495-4151-8097-17E78C32C0D4}"/>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1733" r="20267"/>
            <a:stretch/>
          </p:blipFill>
          <p:spPr bwMode="auto">
            <a:xfrm>
              <a:off x="401640" y="2917331"/>
              <a:ext cx="869347" cy="831875"/>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57">
              <a:extLst>
                <a:ext uri="{FF2B5EF4-FFF2-40B4-BE49-F238E27FC236}">
                  <a16:creationId xmlns:a16="http://schemas.microsoft.com/office/drawing/2014/main" id="{646049DD-30CC-434F-8F86-796A2153417C}"/>
                </a:ext>
              </a:extLst>
            </p:cNvPr>
            <p:cNvSpPr txBox="1"/>
            <p:nvPr/>
          </p:nvSpPr>
          <p:spPr>
            <a:xfrm>
              <a:off x="461907" y="3384816"/>
              <a:ext cx="731675" cy="307777"/>
            </a:xfrm>
            <a:prstGeom prst="rect">
              <a:avLst/>
            </a:prstGeom>
            <a:noFill/>
          </p:spPr>
          <p:txBody>
            <a:bodyPr wrap="none" rtlCol="0">
              <a:spAutoFit/>
            </a:bodyPr>
            <a:lstStyle/>
            <a:p>
              <a:r>
                <a:rPr lang="en-US" sz="1400" dirty="0">
                  <a:solidFill>
                    <a:schemeClr val="bg1"/>
                  </a:solidFill>
                </a:rPr>
                <a:t>kubectl</a:t>
              </a:r>
              <a:endParaRPr lang="en-IN" sz="1400" dirty="0">
                <a:solidFill>
                  <a:schemeClr val="bg1"/>
                </a:solidFill>
              </a:endParaRPr>
            </a:p>
          </p:txBody>
        </p:sp>
      </p:grpSp>
      <p:grpSp>
        <p:nvGrpSpPr>
          <p:cNvPr id="62" name="Group 61">
            <a:extLst>
              <a:ext uri="{FF2B5EF4-FFF2-40B4-BE49-F238E27FC236}">
                <a16:creationId xmlns:a16="http://schemas.microsoft.com/office/drawing/2014/main" id="{761F5A72-623B-4C76-8F6A-BDE996066850}"/>
              </a:ext>
            </a:extLst>
          </p:cNvPr>
          <p:cNvGrpSpPr/>
          <p:nvPr/>
        </p:nvGrpSpPr>
        <p:grpSpPr>
          <a:xfrm>
            <a:off x="1061778" y="3674146"/>
            <a:ext cx="921103" cy="1100692"/>
            <a:chOff x="202798" y="3872756"/>
            <a:chExt cx="939298" cy="1236023"/>
          </a:xfrm>
        </p:grpSpPr>
        <p:pic>
          <p:nvPicPr>
            <p:cNvPr id="1028" name="Picture 4">
              <a:extLst>
                <a:ext uri="{FF2B5EF4-FFF2-40B4-BE49-F238E27FC236}">
                  <a16:creationId xmlns:a16="http://schemas.microsoft.com/office/drawing/2014/main" id="{83418C9E-7BFB-4EDA-9A43-FF3E7593C103}"/>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4842" t="12637" r="34083" b="46183"/>
            <a:stretch/>
          </p:blipFill>
          <p:spPr bwMode="auto">
            <a:xfrm>
              <a:off x="202798" y="3872756"/>
              <a:ext cx="939298" cy="933543"/>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a:extLst>
                <a:ext uri="{FF2B5EF4-FFF2-40B4-BE49-F238E27FC236}">
                  <a16:creationId xmlns:a16="http://schemas.microsoft.com/office/drawing/2014/main" id="{3B820F77-DF7F-457F-BEC6-B1F0810F61E0}"/>
                </a:ext>
              </a:extLst>
            </p:cNvPr>
            <p:cNvSpPr txBox="1"/>
            <p:nvPr/>
          </p:nvSpPr>
          <p:spPr>
            <a:xfrm>
              <a:off x="500389" y="4801002"/>
              <a:ext cx="349776" cy="307777"/>
            </a:xfrm>
            <a:prstGeom prst="rect">
              <a:avLst/>
            </a:prstGeom>
            <a:noFill/>
          </p:spPr>
          <p:txBody>
            <a:bodyPr wrap="none" rtlCol="0">
              <a:spAutoFit/>
            </a:bodyPr>
            <a:lstStyle/>
            <a:p>
              <a:r>
                <a:rPr lang="en-US" sz="1400" b="1" dirty="0">
                  <a:solidFill>
                    <a:srgbClr val="146BD8"/>
                  </a:solidFill>
                </a:rPr>
                <a:t>UI</a:t>
              </a:r>
              <a:endParaRPr lang="en-IN" sz="1400" b="1" dirty="0">
                <a:solidFill>
                  <a:srgbClr val="146BD8"/>
                </a:solidFill>
              </a:endParaRPr>
            </a:p>
          </p:txBody>
        </p:sp>
      </p:grpSp>
      <p:cxnSp>
        <p:nvCxnSpPr>
          <p:cNvPr id="1024" name="Straight Arrow Connector 1023">
            <a:extLst>
              <a:ext uri="{FF2B5EF4-FFF2-40B4-BE49-F238E27FC236}">
                <a16:creationId xmlns:a16="http://schemas.microsoft.com/office/drawing/2014/main" id="{56D0EEFB-FA72-4E33-BF72-B6E67F7EC665}"/>
              </a:ext>
            </a:extLst>
          </p:cNvPr>
          <p:cNvCxnSpPr>
            <a:cxnSpLocks/>
          </p:cNvCxnSpPr>
          <p:nvPr/>
        </p:nvCxnSpPr>
        <p:spPr>
          <a:xfrm>
            <a:off x="1944806" y="3177082"/>
            <a:ext cx="468895" cy="0"/>
          </a:xfrm>
          <a:prstGeom prst="straightConnector1">
            <a:avLst/>
          </a:prstGeom>
          <a:ln w="285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5DC28211-A7B3-46FD-BFDE-A89C026C24A1}"/>
              </a:ext>
            </a:extLst>
          </p:cNvPr>
          <p:cNvCxnSpPr>
            <a:cxnSpLocks/>
          </p:cNvCxnSpPr>
          <p:nvPr/>
        </p:nvCxnSpPr>
        <p:spPr>
          <a:xfrm>
            <a:off x="1944806" y="4089811"/>
            <a:ext cx="468895" cy="0"/>
          </a:xfrm>
          <a:prstGeom prst="straightConnector1">
            <a:avLst/>
          </a:prstGeom>
          <a:ln w="28575">
            <a:solidFill>
              <a:srgbClr val="146BD8"/>
            </a:solidFill>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A84A6C2C-ECF7-47E4-9B03-6C6107C902F2}"/>
              </a:ext>
            </a:extLst>
          </p:cNvPr>
          <p:cNvSpPr txBox="1"/>
          <p:nvPr/>
        </p:nvSpPr>
        <p:spPr>
          <a:xfrm>
            <a:off x="7494317" y="1552102"/>
            <a:ext cx="461211" cy="274079"/>
          </a:xfrm>
          <a:prstGeom prst="rect">
            <a:avLst/>
          </a:prstGeom>
          <a:noFill/>
        </p:spPr>
        <p:txBody>
          <a:bodyPr wrap="none" rtlCol="0">
            <a:spAutoFit/>
          </a:bodyPr>
          <a:lstStyle/>
          <a:p>
            <a:r>
              <a:rPr lang="en-US" sz="1400" b="1" dirty="0">
                <a:solidFill>
                  <a:schemeClr val="accent5">
                    <a:lumMod val="75000"/>
                  </a:schemeClr>
                </a:solidFill>
              </a:rPr>
              <a:t>Pod</a:t>
            </a:r>
            <a:endParaRPr lang="en-IN" sz="1400" b="1" dirty="0">
              <a:solidFill>
                <a:schemeClr val="accent5">
                  <a:lumMod val="75000"/>
                </a:schemeClr>
              </a:solidFill>
            </a:endParaRPr>
          </a:p>
        </p:txBody>
      </p:sp>
      <p:sp>
        <p:nvSpPr>
          <p:cNvPr id="71" name="TextBox 70">
            <a:extLst>
              <a:ext uri="{FF2B5EF4-FFF2-40B4-BE49-F238E27FC236}">
                <a16:creationId xmlns:a16="http://schemas.microsoft.com/office/drawing/2014/main" id="{9B0CED82-143E-455E-9DDF-6148F6B18AC2}"/>
              </a:ext>
            </a:extLst>
          </p:cNvPr>
          <p:cNvSpPr txBox="1"/>
          <p:nvPr/>
        </p:nvSpPr>
        <p:spPr>
          <a:xfrm>
            <a:off x="8923707" y="1552102"/>
            <a:ext cx="461211" cy="274079"/>
          </a:xfrm>
          <a:prstGeom prst="rect">
            <a:avLst/>
          </a:prstGeom>
          <a:noFill/>
        </p:spPr>
        <p:txBody>
          <a:bodyPr wrap="none" rtlCol="0">
            <a:spAutoFit/>
          </a:bodyPr>
          <a:lstStyle/>
          <a:p>
            <a:r>
              <a:rPr lang="en-US" sz="1400" b="1" dirty="0">
                <a:solidFill>
                  <a:schemeClr val="accent5">
                    <a:lumMod val="75000"/>
                  </a:schemeClr>
                </a:solidFill>
              </a:rPr>
              <a:t>Pod</a:t>
            </a:r>
            <a:endParaRPr lang="en-IN" sz="1400" b="1" dirty="0">
              <a:solidFill>
                <a:schemeClr val="accent5">
                  <a:lumMod val="75000"/>
                </a:schemeClr>
              </a:solidFill>
            </a:endParaRPr>
          </a:p>
        </p:txBody>
      </p:sp>
      <p:sp>
        <p:nvSpPr>
          <p:cNvPr id="72" name="TextBox 71">
            <a:extLst>
              <a:ext uri="{FF2B5EF4-FFF2-40B4-BE49-F238E27FC236}">
                <a16:creationId xmlns:a16="http://schemas.microsoft.com/office/drawing/2014/main" id="{6879C52D-179E-4C13-8293-8A0C68AD552F}"/>
              </a:ext>
            </a:extLst>
          </p:cNvPr>
          <p:cNvSpPr txBox="1"/>
          <p:nvPr/>
        </p:nvSpPr>
        <p:spPr>
          <a:xfrm>
            <a:off x="7447666" y="3978756"/>
            <a:ext cx="461211" cy="274079"/>
          </a:xfrm>
          <a:prstGeom prst="rect">
            <a:avLst/>
          </a:prstGeom>
          <a:noFill/>
        </p:spPr>
        <p:txBody>
          <a:bodyPr wrap="none" rtlCol="0">
            <a:spAutoFit/>
          </a:bodyPr>
          <a:lstStyle/>
          <a:p>
            <a:r>
              <a:rPr lang="en-US" sz="1400" b="1" dirty="0">
                <a:solidFill>
                  <a:schemeClr val="accent5">
                    <a:lumMod val="75000"/>
                  </a:schemeClr>
                </a:solidFill>
              </a:rPr>
              <a:t>Pod</a:t>
            </a:r>
            <a:endParaRPr lang="en-IN" sz="1400" b="1" dirty="0">
              <a:solidFill>
                <a:schemeClr val="accent5">
                  <a:lumMod val="75000"/>
                </a:schemeClr>
              </a:solidFill>
            </a:endParaRPr>
          </a:p>
        </p:txBody>
      </p:sp>
      <p:sp>
        <p:nvSpPr>
          <p:cNvPr id="73" name="TextBox 72">
            <a:extLst>
              <a:ext uri="{FF2B5EF4-FFF2-40B4-BE49-F238E27FC236}">
                <a16:creationId xmlns:a16="http://schemas.microsoft.com/office/drawing/2014/main" id="{FC38E003-F0E3-4A5E-B7A1-EFA91BDF056B}"/>
              </a:ext>
            </a:extLst>
          </p:cNvPr>
          <p:cNvSpPr txBox="1"/>
          <p:nvPr/>
        </p:nvSpPr>
        <p:spPr>
          <a:xfrm>
            <a:off x="8936929" y="3988722"/>
            <a:ext cx="461211" cy="274079"/>
          </a:xfrm>
          <a:prstGeom prst="rect">
            <a:avLst/>
          </a:prstGeom>
          <a:noFill/>
        </p:spPr>
        <p:txBody>
          <a:bodyPr wrap="none" rtlCol="0">
            <a:spAutoFit/>
          </a:bodyPr>
          <a:lstStyle/>
          <a:p>
            <a:r>
              <a:rPr lang="en-US" sz="1400" b="1" dirty="0">
                <a:solidFill>
                  <a:schemeClr val="accent5">
                    <a:lumMod val="75000"/>
                  </a:schemeClr>
                </a:solidFill>
              </a:rPr>
              <a:t>Pod</a:t>
            </a:r>
            <a:endParaRPr lang="en-IN" sz="1400" b="1" dirty="0">
              <a:solidFill>
                <a:schemeClr val="accent5">
                  <a:lumMod val="75000"/>
                </a:schemeClr>
              </a:solidFill>
            </a:endParaRPr>
          </a:p>
        </p:txBody>
      </p:sp>
    </p:spTree>
    <p:extLst>
      <p:ext uri="{BB962C8B-B14F-4D97-AF65-F5344CB8AC3E}">
        <p14:creationId xmlns:p14="http://schemas.microsoft.com/office/powerpoint/2010/main" val="2559473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D353B-24B9-4D8E-882F-9FB75332F2EA}"/>
              </a:ext>
            </a:extLst>
          </p:cNvPr>
          <p:cNvSpPr>
            <a:spLocks noGrp="1"/>
          </p:cNvSpPr>
          <p:nvPr>
            <p:ph sz="half" idx="10"/>
          </p:nvPr>
        </p:nvSpPr>
        <p:spPr/>
        <p:txBody>
          <a:bodyPr/>
          <a:lstStyle/>
          <a:p>
            <a:r>
              <a:rPr lang="en-IN" dirty="0"/>
              <a:t>Kubernetes Architecture</a:t>
            </a:r>
          </a:p>
        </p:txBody>
      </p:sp>
      <p:grpSp>
        <p:nvGrpSpPr>
          <p:cNvPr id="6" name="Group 5">
            <a:extLst>
              <a:ext uri="{FF2B5EF4-FFF2-40B4-BE49-F238E27FC236}">
                <a16:creationId xmlns:a16="http://schemas.microsoft.com/office/drawing/2014/main" id="{B3511741-AD2E-4807-8990-6AD9889A34B0}"/>
              </a:ext>
            </a:extLst>
          </p:cNvPr>
          <p:cNvGrpSpPr/>
          <p:nvPr/>
        </p:nvGrpSpPr>
        <p:grpSpPr>
          <a:xfrm>
            <a:off x="1613176" y="2361423"/>
            <a:ext cx="3346174" cy="3074018"/>
            <a:chOff x="1613176" y="2361423"/>
            <a:chExt cx="3346174" cy="3074018"/>
          </a:xfrm>
        </p:grpSpPr>
        <p:sp>
          <p:nvSpPr>
            <p:cNvPr id="47" name="Rectangle 46">
              <a:extLst>
                <a:ext uri="{FF2B5EF4-FFF2-40B4-BE49-F238E27FC236}">
                  <a16:creationId xmlns:a16="http://schemas.microsoft.com/office/drawing/2014/main" id="{5D5E79C5-9E9E-4558-8361-93F917DF7822}"/>
                </a:ext>
              </a:extLst>
            </p:cNvPr>
            <p:cNvSpPr/>
            <p:nvPr/>
          </p:nvSpPr>
          <p:spPr>
            <a:xfrm>
              <a:off x="1777689" y="4054701"/>
              <a:ext cx="2980297"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kube-controller-manager</a:t>
              </a:r>
              <a:endParaRPr lang="en-IN" dirty="0"/>
            </a:p>
          </p:txBody>
        </p:sp>
        <p:sp>
          <p:nvSpPr>
            <p:cNvPr id="48" name="Rectangle 47">
              <a:extLst>
                <a:ext uri="{FF2B5EF4-FFF2-40B4-BE49-F238E27FC236}">
                  <a16:creationId xmlns:a16="http://schemas.microsoft.com/office/drawing/2014/main" id="{FA13516A-024E-4EB7-835A-911D9298C2A3}"/>
                </a:ext>
              </a:extLst>
            </p:cNvPr>
            <p:cNvSpPr/>
            <p:nvPr/>
          </p:nvSpPr>
          <p:spPr>
            <a:xfrm>
              <a:off x="1777689" y="4521061"/>
              <a:ext cx="2980296" cy="361950"/>
            </a:xfrm>
            <a:prstGeom prst="rect">
              <a:avLst/>
            </a:prstGeom>
            <a:solidFill>
              <a:schemeClr val="tx2">
                <a:lumMod val="75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etcd</a:t>
              </a:r>
              <a:endParaRPr lang="en-IN" dirty="0"/>
            </a:p>
          </p:txBody>
        </p:sp>
        <p:sp>
          <p:nvSpPr>
            <p:cNvPr id="50" name="Rectangle 49">
              <a:extLst>
                <a:ext uri="{FF2B5EF4-FFF2-40B4-BE49-F238E27FC236}">
                  <a16:creationId xmlns:a16="http://schemas.microsoft.com/office/drawing/2014/main" id="{93B9FA38-0B92-4ABE-A27B-B0CD73FF5994}"/>
                </a:ext>
              </a:extLst>
            </p:cNvPr>
            <p:cNvSpPr/>
            <p:nvPr/>
          </p:nvSpPr>
          <p:spPr>
            <a:xfrm>
              <a:off x="1613176" y="2744781"/>
              <a:ext cx="3346174" cy="2690660"/>
            </a:xfrm>
            <a:prstGeom prst="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1" name="TextBox 50">
              <a:extLst>
                <a:ext uri="{FF2B5EF4-FFF2-40B4-BE49-F238E27FC236}">
                  <a16:creationId xmlns:a16="http://schemas.microsoft.com/office/drawing/2014/main" id="{C0909B75-7798-4A89-8438-3CD0011540B8}"/>
                </a:ext>
              </a:extLst>
            </p:cNvPr>
            <p:cNvSpPr txBox="1"/>
            <p:nvPr/>
          </p:nvSpPr>
          <p:spPr>
            <a:xfrm>
              <a:off x="2634068" y="2361423"/>
              <a:ext cx="1348446" cy="338554"/>
            </a:xfrm>
            <a:prstGeom prst="rect">
              <a:avLst/>
            </a:prstGeom>
            <a:noFill/>
          </p:spPr>
          <p:txBody>
            <a:bodyPr wrap="none" rtlCol="0">
              <a:spAutoFit/>
            </a:bodyPr>
            <a:lstStyle/>
            <a:p>
              <a:r>
                <a:rPr lang="en-US" sz="1600" dirty="0">
                  <a:solidFill>
                    <a:schemeClr val="accent1">
                      <a:lumMod val="20000"/>
                      <a:lumOff val="80000"/>
                    </a:schemeClr>
                  </a:solidFill>
                </a:rPr>
                <a:t>Master Node</a:t>
              </a:r>
              <a:endParaRPr lang="en-IN" sz="1600" dirty="0">
                <a:solidFill>
                  <a:schemeClr val="accent1">
                    <a:lumMod val="20000"/>
                    <a:lumOff val="80000"/>
                  </a:schemeClr>
                </a:solidFill>
              </a:endParaRPr>
            </a:p>
          </p:txBody>
        </p:sp>
        <p:sp>
          <p:nvSpPr>
            <p:cNvPr id="54" name="Rectangle 53">
              <a:extLst>
                <a:ext uri="{FF2B5EF4-FFF2-40B4-BE49-F238E27FC236}">
                  <a16:creationId xmlns:a16="http://schemas.microsoft.com/office/drawing/2014/main" id="{555055EA-C508-4375-AECD-B5D1358BE640}"/>
                </a:ext>
              </a:extLst>
            </p:cNvPr>
            <p:cNvSpPr/>
            <p:nvPr/>
          </p:nvSpPr>
          <p:spPr>
            <a:xfrm>
              <a:off x="1796114" y="3510806"/>
              <a:ext cx="2980297" cy="36195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kube-scheduler</a:t>
              </a:r>
              <a:endParaRPr lang="en-IN" dirty="0"/>
            </a:p>
          </p:txBody>
        </p:sp>
        <p:sp>
          <p:nvSpPr>
            <p:cNvPr id="4" name="Rectangle 3">
              <a:extLst>
                <a:ext uri="{FF2B5EF4-FFF2-40B4-BE49-F238E27FC236}">
                  <a16:creationId xmlns:a16="http://schemas.microsoft.com/office/drawing/2014/main" id="{9617549E-3498-44FE-9341-C96871254987}"/>
                </a:ext>
              </a:extLst>
            </p:cNvPr>
            <p:cNvSpPr/>
            <p:nvPr/>
          </p:nvSpPr>
          <p:spPr>
            <a:xfrm>
              <a:off x="1787098" y="4987421"/>
              <a:ext cx="2980297"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cloud-controller-manager</a:t>
              </a:r>
              <a:endParaRPr lang="en-IN" dirty="0"/>
            </a:p>
          </p:txBody>
        </p:sp>
        <p:sp>
          <p:nvSpPr>
            <p:cNvPr id="55" name="Rectangle 54">
              <a:extLst>
                <a:ext uri="{FF2B5EF4-FFF2-40B4-BE49-F238E27FC236}">
                  <a16:creationId xmlns:a16="http://schemas.microsoft.com/office/drawing/2014/main" id="{4F03A510-ADB2-486B-8D58-43DFC3570163}"/>
                </a:ext>
              </a:extLst>
            </p:cNvPr>
            <p:cNvSpPr/>
            <p:nvPr/>
          </p:nvSpPr>
          <p:spPr>
            <a:xfrm>
              <a:off x="1796114" y="2981207"/>
              <a:ext cx="2980297" cy="36195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kube-</a:t>
              </a:r>
              <a:r>
                <a:rPr lang="en-US" dirty="0" err="1"/>
                <a:t>apiserver</a:t>
              </a:r>
              <a:endParaRPr lang="en-IN" dirty="0"/>
            </a:p>
          </p:txBody>
        </p:sp>
      </p:grpSp>
      <p:grpSp>
        <p:nvGrpSpPr>
          <p:cNvPr id="12" name="Group 11">
            <a:extLst>
              <a:ext uri="{FF2B5EF4-FFF2-40B4-BE49-F238E27FC236}">
                <a16:creationId xmlns:a16="http://schemas.microsoft.com/office/drawing/2014/main" id="{89E2A5EF-2606-4979-AEDE-61B32CF851B4}"/>
              </a:ext>
            </a:extLst>
          </p:cNvPr>
          <p:cNvGrpSpPr/>
          <p:nvPr/>
        </p:nvGrpSpPr>
        <p:grpSpPr>
          <a:xfrm>
            <a:off x="6078054" y="2147735"/>
            <a:ext cx="3346174" cy="3002187"/>
            <a:chOff x="6078054" y="2147735"/>
            <a:chExt cx="3346174" cy="3002187"/>
          </a:xfrm>
        </p:grpSpPr>
        <p:sp>
          <p:nvSpPr>
            <p:cNvPr id="33" name="Rectangle 32">
              <a:extLst>
                <a:ext uri="{FF2B5EF4-FFF2-40B4-BE49-F238E27FC236}">
                  <a16:creationId xmlns:a16="http://schemas.microsoft.com/office/drawing/2014/main" id="{C9736AC5-FEBE-4CD8-BACA-3B31AB689447}"/>
                </a:ext>
              </a:extLst>
            </p:cNvPr>
            <p:cNvSpPr/>
            <p:nvPr/>
          </p:nvSpPr>
          <p:spPr>
            <a:xfrm>
              <a:off x="6272519" y="2614868"/>
              <a:ext cx="1409048" cy="105034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Rectangle 33">
              <a:extLst>
                <a:ext uri="{FF2B5EF4-FFF2-40B4-BE49-F238E27FC236}">
                  <a16:creationId xmlns:a16="http://schemas.microsoft.com/office/drawing/2014/main" id="{032B974E-4514-42C9-A147-A2C41CA0788C}"/>
                </a:ext>
              </a:extLst>
            </p:cNvPr>
            <p:cNvSpPr/>
            <p:nvPr/>
          </p:nvSpPr>
          <p:spPr>
            <a:xfrm>
              <a:off x="6369050" y="2854019"/>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container1</a:t>
              </a:r>
              <a:endParaRPr lang="en-IN" sz="1600" dirty="0"/>
            </a:p>
          </p:txBody>
        </p:sp>
        <p:sp>
          <p:nvSpPr>
            <p:cNvPr id="35" name="Rectangle 34">
              <a:extLst>
                <a:ext uri="{FF2B5EF4-FFF2-40B4-BE49-F238E27FC236}">
                  <a16:creationId xmlns:a16="http://schemas.microsoft.com/office/drawing/2014/main" id="{417044DC-F459-4FA5-84A4-DC06C3E0AC4A}"/>
                </a:ext>
              </a:extLst>
            </p:cNvPr>
            <p:cNvSpPr/>
            <p:nvPr/>
          </p:nvSpPr>
          <p:spPr>
            <a:xfrm>
              <a:off x="6369050" y="3260575"/>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container2</a:t>
              </a:r>
              <a:endParaRPr lang="en-IN" sz="1600" dirty="0"/>
            </a:p>
          </p:txBody>
        </p:sp>
        <p:sp>
          <p:nvSpPr>
            <p:cNvPr id="36" name="Rectangle 35">
              <a:extLst>
                <a:ext uri="{FF2B5EF4-FFF2-40B4-BE49-F238E27FC236}">
                  <a16:creationId xmlns:a16="http://schemas.microsoft.com/office/drawing/2014/main" id="{93840784-BA3A-4DD5-8084-B48FE5C48BB6}"/>
                </a:ext>
              </a:extLst>
            </p:cNvPr>
            <p:cNvSpPr/>
            <p:nvPr/>
          </p:nvSpPr>
          <p:spPr>
            <a:xfrm>
              <a:off x="6272519" y="3769182"/>
              <a:ext cx="2950345" cy="36195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 Runtime Interface</a:t>
              </a:r>
              <a:endParaRPr lang="en-IN" sz="1600" dirty="0"/>
            </a:p>
          </p:txBody>
        </p:sp>
        <p:sp>
          <p:nvSpPr>
            <p:cNvPr id="37" name="Rectangle 36">
              <a:extLst>
                <a:ext uri="{FF2B5EF4-FFF2-40B4-BE49-F238E27FC236}">
                  <a16:creationId xmlns:a16="http://schemas.microsoft.com/office/drawing/2014/main" id="{B1EC63BF-785E-409B-8005-CDBB254030E0}"/>
                </a:ext>
              </a:extLst>
            </p:cNvPr>
            <p:cNvSpPr/>
            <p:nvPr/>
          </p:nvSpPr>
          <p:spPr>
            <a:xfrm>
              <a:off x="6272517" y="4235542"/>
              <a:ext cx="1409049"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kubelet</a:t>
              </a:r>
              <a:endParaRPr lang="en-IN" sz="1600" dirty="0"/>
            </a:p>
          </p:txBody>
        </p:sp>
        <p:sp>
          <p:nvSpPr>
            <p:cNvPr id="38" name="Rectangle 37">
              <a:extLst>
                <a:ext uri="{FF2B5EF4-FFF2-40B4-BE49-F238E27FC236}">
                  <a16:creationId xmlns:a16="http://schemas.microsoft.com/office/drawing/2014/main" id="{3F184AA2-225A-452F-9319-9226AF9F3660}"/>
                </a:ext>
              </a:extLst>
            </p:cNvPr>
            <p:cNvSpPr/>
            <p:nvPr/>
          </p:nvSpPr>
          <p:spPr>
            <a:xfrm>
              <a:off x="7813816" y="4235542"/>
              <a:ext cx="1409048"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kube-proxy</a:t>
              </a:r>
              <a:endParaRPr lang="en-IN" sz="1600" dirty="0"/>
            </a:p>
          </p:txBody>
        </p:sp>
        <p:sp>
          <p:nvSpPr>
            <p:cNvPr id="39" name="Rectangle 38">
              <a:extLst>
                <a:ext uri="{FF2B5EF4-FFF2-40B4-BE49-F238E27FC236}">
                  <a16:creationId xmlns:a16="http://schemas.microsoft.com/office/drawing/2014/main" id="{DB2F34ED-433D-454B-8401-EBE56CAFFDD6}"/>
                </a:ext>
              </a:extLst>
            </p:cNvPr>
            <p:cNvSpPr/>
            <p:nvPr/>
          </p:nvSpPr>
          <p:spPr>
            <a:xfrm>
              <a:off x="6078054" y="2459262"/>
              <a:ext cx="3346174" cy="2690660"/>
            </a:xfrm>
            <a:prstGeom prst="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TextBox 39">
              <a:extLst>
                <a:ext uri="{FF2B5EF4-FFF2-40B4-BE49-F238E27FC236}">
                  <a16:creationId xmlns:a16="http://schemas.microsoft.com/office/drawing/2014/main" id="{CF29F0E6-F60C-4C38-A0F1-DA6B3F786E59}"/>
                </a:ext>
              </a:extLst>
            </p:cNvPr>
            <p:cNvSpPr txBox="1"/>
            <p:nvPr/>
          </p:nvSpPr>
          <p:spPr>
            <a:xfrm>
              <a:off x="7093499" y="2147735"/>
              <a:ext cx="1359668" cy="338554"/>
            </a:xfrm>
            <a:prstGeom prst="rect">
              <a:avLst/>
            </a:prstGeom>
            <a:noFill/>
          </p:spPr>
          <p:txBody>
            <a:bodyPr wrap="none" rtlCol="0">
              <a:spAutoFit/>
            </a:bodyPr>
            <a:lstStyle/>
            <a:p>
              <a:r>
                <a:rPr lang="en-US" sz="1600" dirty="0">
                  <a:solidFill>
                    <a:schemeClr val="accent1">
                      <a:lumMod val="20000"/>
                      <a:lumOff val="80000"/>
                    </a:schemeClr>
                  </a:solidFill>
                </a:rPr>
                <a:t>Worker Node</a:t>
              </a:r>
              <a:endParaRPr lang="en-IN" sz="1600" dirty="0">
                <a:solidFill>
                  <a:schemeClr val="accent1">
                    <a:lumMod val="20000"/>
                    <a:lumOff val="80000"/>
                  </a:schemeClr>
                </a:solidFill>
              </a:endParaRPr>
            </a:p>
          </p:txBody>
        </p:sp>
        <p:sp>
          <p:nvSpPr>
            <p:cNvPr id="41" name="Rectangle 40">
              <a:extLst>
                <a:ext uri="{FF2B5EF4-FFF2-40B4-BE49-F238E27FC236}">
                  <a16:creationId xmlns:a16="http://schemas.microsoft.com/office/drawing/2014/main" id="{E902AF04-C73F-41EC-850B-D34DAB3CB43B}"/>
                </a:ext>
              </a:extLst>
            </p:cNvPr>
            <p:cNvSpPr/>
            <p:nvPr/>
          </p:nvSpPr>
          <p:spPr>
            <a:xfrm>
              <a:off x="7813816" y="2614868"/>
              <a:ext cx="1409048" cy="105034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2" name="Rectangle 41">
              <a:extLst>
                <a:ext uri="{FF2B5EF4-FFF2-40B4-BE49-F238E27FC236}">
                  <a16:creationId xmlns:a16="http://schemas.microsoft.com/office/drawing/2014/main" id="{72B1C3FF-9122-428C-84B8-BB5729DA98E7}"/>
                </a:ext>
              </a:extLst>
            </p:cNvPr>
            <p:cNvSpPr/>
            <p:nvPr/>
          </p:nvSpPr>
          <p:spPr>
            <a:xfrm>
              <a:off x="7905565" y="2988414"/>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container1</a:t>
              </a:r>
              <a:endParaRPr lang="en-IN" sz="1600" dirty="0"/>
            </a:p>
          </p:txBody>
        </p:sp>
        <p:sp>
          <p:nvSpPr>
            <p:cNvPr id="70" name="TextBox 69">
              <a:extLst>
                <a:ext uri="{FF2B5EF4-FFF2-40B4-BE49-F238E27FC236}">
                  <a16:creationId xmlns:a16="http://schemas.microsoft.com/office/drawing/2014/main" id="{A84A6C2C-ECF7-47E4-9B03-6C6107C902F2}"/>
                </a:ext>
              </a:extLst>
            </p:cNvPr>
            <p:cNvSpPr txBox="1"/>
            <p:nvPr/>
          </p:nvSpPr>
          <p:spPr>
            <a:xfrm>
              <a:off x="6762403" y="2550958"/>
              <a:ext cx="470322" cy="307777"/>
            </a:xfrm>
            <a:prstGeom prst="rect">
              <a:avLst/>
            </a:prstGeom>
            <a:noFill/>
          </p:spPr>
          <p:txBody>
            <a:bodyPr wrap="none" rtlCol="0">
              <a:spAutoFit/>
            </a:bodyPr>
            <a:lstStyle/>
            <a:p>
              <a:r>
                <a:rPr lang="en-US" sz="1400" b="1" dirty="0">
                  <a:solidFill>
                    <a:schemeClr val="accent5">
                      <a:lumMod val="75000"/>
                    </a:schemeClr>
                  </a:solidFill>
                </a:rPr>
                <a:t>Pod</a:t>
              </a:r>
              <a:endParaRPr lang="en-IN" sz="1400" b="1" dirty="0">
                <a:solidFill>
                  <a:schemeClr val="accent5">
                    <a:lumMod val="75000"/>
                  </a:schemeClr>
                </a:solidFill>
              </a:endParaRPr>
            </a:p>
          </p:txBody>
        </p:sp>
        <p:sp>
          <p:nvSpPr>
            <p:cNvPr id="71" name="TextBox 70">
              <a:extLst>
                <a:ext uri="{FF2B5EF4-FFF2-40B4-BE49-F238E27FC236}">
                  <a16:creationId xmlns:a16="http://schemas.microsoft.com/office/drawing/2014/main" id="{9B0CED82-143E-455E-9DDF-6148F6B18AC2}"/>
                </a:ext>
              </a:extLst>
            </p:cNvPr>
            <p:cNvSpPr txBox="1"/>
            <p:nvPr/>
          </p:nvSpPr>
          <p:spPr>
            <a:xfrm>
              <a:off x="8220029" y="2550958"/>
              <a:ext cx="470322" cy="307777"/>
            </a:xfrm>
            <a:prstGeom prst="rect">
              <a:avLst/>
            </a:prstGeom>
            <a:noFill/>
          </p:spPr>
          <p:txBody>
            <a:bodyPr wrap="none" rtlCol="0">
              <a:spAutoFit/>
            </a:bodyPr>
            <a:lstStyle/>
            <a:p>
              <a:r>
                <a:rPr lang="en-US" sz="1400" b="1" dirty="0">
                  <a:solidFill>
                    <a:schemeClr val="accent5">
                      <a:lumMod val="75000"/>
                    </a:schemeClr>
                  </a:solidFill>
                </a:rPr>
                <a:t>Pod</a:t>
              </a:r>
              <a:endParaRPr lang="en-IN" sz="1400" b="1" dirty="0">
                <a:solidFill>
                  <a:schemeClr val="accent5">
                    <a:lumMod val="75000"/>
                  </a:schemeClr>
                </a:solidFill>
              </a:endParaRPr>
            </a:p>
          </p:txBody>
        </p:sp>
        <p:sp>
          <p:nvSpPr>
            <p:cNvPr id="11" name="Rectangle 10">
              <a:extLst>
                <a:ext uri="{FF2B5EF4-FFF2-40B4-BE49-F238E27FC236}">
                  <a16:creationId xmlns:a16="http://schemas.microsoft.com/office/drawing/2014/main" id="{B13599E8-A0BE-4FED-A91A-BDE8D1E3FFEB}"/>
                </a:ext>
              </a:extLst>
            </p:cNvPr>
            <p:cNvSpPr/>
            <p:nvPr/>
          </p:nvSpPr>
          <p:spPr>
            <a:xfrm>
              <a:off x="6283806" y="4701463"/>
              <a:ext cx="2950345" cy="361950"/>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kube DNS</a:t>
              </a:r>
              <a:endParaRPr lang="en-IN" sz="1600" dirty="0"/>
            </a:p>
          </p:txBody>
        </p:sp>
      </p:grpSp>
    </p:spTree>
    <p:extLst>
      <p:ext uri="{BB962C8B-B14F-4D97-AF65-F5344CB8AC3E}">
        <p14:creationId xmlns:p14="http://schemas.microsoft.com/office/powerpoint/2010/main" val="1339993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CDF011-0D78-4064-A27D-CCE89C0FC2E0}"/>
              </a:ext>
            </a:extLst>
          </p:cNvPr>
          <p:cNvSpPr>
            <a:spLocks noGrp="1"/>
          </p:cNvSpPr>
          <p:nvPr>
            <p:ph sz="half" idx="1"/>
          </p:nvPr>
        </p:nvSpPr>
        <p:spPr/>
        <p:txBody>
          <a:bodyPr>
            <a:normAutofit fontScale="85000" lnSpcReduction="10000"/>
          </a:bodyPr>
          <a:lstStyle/>
          <a:p>
            <a:pPr algn="just">
              <a:lnSpc>
                <a:spcPct val="120000"/>
              </a:lnSpc>
            </a:pPr>
            <a:r>
              <a:rPr lang="en-US" sz="2800" b="1" dirty="0"/>
              <a:t>API Server - </a:t>
            </a:r>
            <a:r>
              <a:rPr lang="en-US" sz="2800" dirty="0"/>
              <a:t>The API server exposes a REST interface to the Kubernetes cluster. All operations against pods, services, and so forth, are executed programmatically by communicating with the endpoints provided by it.</a:t>
            </a:r>
          </a:p>
          <a:p>
            <a:pPr algn="just">
              <a:lnSpc>
                <a:spcPct val="120000"/>
              </a:lnSpc>
            </a:pPr>
            <a:r>
              <a:rPr lang="en-US" sz="2800" b="1" dirty="0"/>
              <a:t>Scheduler - </a:t>
            </a:r>
            <a:r>
              <a:rPr lang="en-US" sz="2800" dirty="0"/>
              <a:t>The scheduler is responsible for assigning work to the various nodes. It keeps watch over the resource capacity and ensures that a worker node’s performance is within an appropriate threshold.</a:t>
            </a:r>
          </a:p>
          <a:p>
            <a:pPr algn="just">
              <a:lnSpc>
                <a:spcPct val="120000"/>
              </a:lnSpc>
            </a:pPr>
            <a:r>
              <a:rPr lang="en-US" sz="2800" b="1" dirty="0"/>
              <a:t>Controller manager - </a:t>
            </a:r>
            <a:r>
              <a:rPr lang="en-US" sz="2800" dirty="0"/>
              <a:t>The controller-manager is responsible for making sure that the shared state of the cluster is operating as expected. </a:t>
            </a:r>
          </a:p>
          <a:p>
            <a:pPr algn="just">
              <a:lnSpc>
                <a:spcPct val="120000"/>
              </a:lnSpc>
            </a:pPr>
            <a:r>
              <a:rPr lang="en-US" sz="2800" b="1" dirty="0"/>
              <a:t>Etcd - </a:t>
            </a:r>
            <a:r>
              <a:rPr lang="en-US" sz="2800" dirty="0"/>
              <a:t>A</a:t>
            </a:r>
            <a:r>
              <a:rPr lang="en-US" sz="2800" b="1" dirty="0"/>
              <a:t> </a:t>
            </a:r>
            <a:r>
              <a:rPr lang="en-US" sz="2800" dirty="0"/>
              <a:t>distributed key-value store that Kubernetes uses to share information about the overall state of a cluster</a:t>
            </a:r>
            <a:r>
              <a:rPr lang="en-US" sz="2100" dirty="0"/>
              <a:t>. </a:t>
            </a:r>
            <a:r>
              <a:rPr lang="en-US" sz="2800" dirty="0"/>
              <a:t>The master queries etcd to retrieve various parameters of the state of the nodes, pods and containers.</a:t>
            </a:r>
          </a:p>
        </p:txBody>
      </p:sp>
      <p:sp>
        <p:nvSpPr>
          <p:cNvPr id="3" name="Content Placeholder 2">
            <a:extLst>
              <a:ext uri="{FF2B5EF4-FFF2-40B4-BE49-F238E27FC236}">
                <a16:creationId xmlns:a16="http://schemas.microsoft.com/office/drawing/2014/main" id="{DCEBAA3C-939F-4387-88FE-B87A54F24F43}"/>
              </a:ext>
            </a:extLst>
          </p:cNvPr>
          <p:cNvSpPr>
            <a:spLocks noGrp="1"/>
          </p:cNvSpPr>
          <p:nvPr>
            <p:ph sz="half" idx="10"/>
          </p:nvPr>
        </p:nvSpPr>
        <p:spPr/>
        <p:txBody>
          <a:bodyPr/>
          <a:lstStyle/>
          <a:p>
            <a:r>
              <a:rPr lang="en-IN" dirty="0"/>
              <a:t>Master Node Components</a:t>
            </a:r>
          </a:p>
        </p:txBody>
      </p:sp>
    </p:spTree>
    <p:extLst>
      <p:ext uri="{BB962C8B-B14F-4D97-AF65-F5344CB8AC3E}">
        <p14:creationId xmlns:p14="http://schemas.microsoft.com/office/powerpoint/2010/main" val="2000772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CDF011-0D78-4064-A27D-CCE89C0FC2E0}"/>
              </a:ext>
            </a:extLst>
          </p:cNvPr>
          <p:cNvSpPr>
            <a:spLocks noGrp="1"/>
          </p:cNvSpPr>
          <p:nvPr>
            <p:ph sz="half" idx="1"/>
          </p:nvPr>
        </p:nvSpPr>
        <p:spPr/>
        <p:txBody>
          <a:bodyPr>
            <a:normAutofit/>
          </a:bodyPr>
          <a:lstStyle/>
          <a:p>
            <a:pPr>
              <a:lnSpc>
                <a:spcPct val="120000"/>
              </a:lnSpc>
            </a:pPr>
            <a:r>
              <a:rPr lang="en-US" sz="2400" b="1" dirty="0"/>
              <a:t>Kubelet</a:t>
            </a:r>
            <a:r>
              <a:rPr lang="en-US" sz="2400" dirty="0"/>
              <a:t>: gets the configuration of a Pod from the API server and ensures that the described containers are up and running.</a:t>
            </a:r>
          </a:p>
          <a:p>
            <a:pPr>
              <a:lnSpc>
                <a:spcPct val="120000"/>
              </a:lnSpc>
            </a:pPr>
            <a:r>
              <a:rPr lang="en-US" sz="2400" b="1" dirty="0"/>
              <a:t>Container Engine/Runtime</a:t>
            </a:r>
            <a:r>
              <a:rPr lang="en-US" sz="2400" dirty="0"/>
              <a:t>: Responsible for container management like pulling images, starting/stopping containers. Usually Docker is used for container runtime.</a:t>
            </a:r>
          </a:p>
          <a:p>
            <a:pPr>
              <a:lnSpc>
                <a:spcPct val="120000"/>
              </a:lnSpc>
            </a:pPr>
            <a:r>
              <a:rPr lang="en-US" sz="2400" b="1" dirty="0" err="1"/>
              <a:t>Kube</a:t>
            </a:r>
            <a:r>
              <a:rPr lang="en-US" sz="2400" b="1" dirty="0"/>
              <a:t>-proxy</a:t>
            </a:r>
            <a:r>
              <a:rPr lang="en-US" sz="2400" dirty="0"/>
              <a:t>: </a:t>
            </a:r>
            <a:r>
              <a:rPr lang="en-US" sz="2400" dirty="0" err="1"/>
              <a:t>Kube</a:t>
            </a:r>
            <a:r>
              <a:rPr lang="en-US" sz="2400" dirty="0"/>
              <a:t>-proxy acts as a load balancer and network proxy to perform service on a single worker node</a:t>
            </a:r>
          </a:p>
          <a:p>
            <a:pPr>
              <a:lnSpc>
                <a:spcPct val="120000"/>
              </a:lnSpc>
            </a:pPr>
            <a:r>
              <a:rPr lang="en-US" sz="2400" b="1" dirty="0"/>
              <a:t>Pods</a:t>
            </a:r>
            <a:r>
              <a:rPr lang="en-US" sz="2400" dirty="0"/>
              <a:t>: A pod is a combination of single or multiple containers that logically run together on nodes</a:t>
            </a:r>
          </a:p>
        </p:txBody>
      </p:sp>
      <p:sp>
        <p:nvSpPr>
          <p:cNvPr id="3" name="Content Placeholder 2">
            <a:extLst>
              <a:ext uri="{FF2B5EF4-FFF2-40B4-BE49-F238E27FC236}">
                <a16:creationId xmlns:a16="http://schemas.microsoft.com/office/drawing/2014/main" id="{DCEBAA3C-939F-4387-88FE-B87A54F24F43}"/>
              </a:ext>
            </a:extLst>
          </p:cNvPr>
          <p:cNvSpPr>
            <a:spLocks noGrp="1"/>
          </p:cNvSpPr>
          <p:nvPr>
            <p:ph sz="half" idx="10"/>
          </p:nvPr>
        </p:nvSpPr>
        <p:spPr/>
        <p:txBody>
          <a:bodyPr/>
          <a:lstStyle/>
          <a:p>
            <a:r>
              <a:rPr lang="en-IN" dirty="0"/>
              <a:t>Worker Node Components</a:t>
            </a:r>
          </a:p>
        </p:txBody>
      </p:sp>
    </p:spTree>
    <p:extLst>
      <p:ext uri="{BB962C8B-B14F-4D97-AF65-F5344CB8AC3E}">
        <p14:creationId xmlns:p14="http://schemas.microsoft.com/office/powerpoint/2010/main" val="3097778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4F83C2-1C33-421D-970A-4291900E958E}"/>
              </a:ext>
            </a:extLst>
          </p:cNvPr>
          <p:cNvSpPr>
            <a:spLocks noGrp="1"/>
          </p:cNvSpPr>
          <p:nvPr>
            <p:ph sz="half" idx="10"/>
          </p:nvPr>
        </p:nvSpPr>
        <p:spPr/>
        <p:txBody>
          <a:bodyPr/>
          <a:lstStyle/>
          <a:p>
            <a:r>
              <a:rPr lang="en-US" dirty="0"/>
              <a:t>Configure Kubernetes</a:t>
            </a:r>
            <a:endParaRPr lang="en-IN" dirty="0"/>
          </a:p>
        </p:txBody>
      </p:sp>
      <p:pic>
        <p:nvPicPr>
          <p:cNvPr id="1030" name="Picture 6" descr="Tech Ed">
            <a:extLst>
              <a:ext uri="{FF2B5EF4-FFF2-40B4-BE49-F238E27FC236}">
                <a16:creationId xmlns:a16="http://schemas.microsoft.com/office/drawing/2014/main" id="{76ECD44C-FC1F-4D1B-A465-A379D2118C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01" t="24876" r="69116" b="6979"/>
          <a:stretch/>
        </p:blipFill>
        <p:spPr bwMode="auto">
          <a:xfrm>
            <a:off x="552450" y="1754646"/>
            <a:ext cx="2042027" cy="209762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Overview of kubeadm - Kubernetes">
            <a:extLst>
              <a:ext uri="{FF2B5EF4-FFF2-40B4-BE49-F238E27FC236}">
                <a16:creationId xmlns:a16="http://schemas.microsoft.com/office/drawing/2014/main" id="{97B90847-D14E-4831-9340-A9F24AAF31B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9444"/>
          <a:stretch/>
        </p:blipFill>
        <p:spPr bwMode="auto">
          <a:xfrm>
            <a:off x="6382796" y="1996160"/>
            <a:ext cx="1755645" cy="16146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ocker Logos and Photos | Docker">
            <a:extLst>
              <a:ext uri="{FF2B5EF4-FFF2-40B4-BE49-F238E27FC236}">
                <a16:creationId xmlns:a16="http://schemas.microsoft.com/office/drawing/2014/main" id="{CDD4C4BD-1ABD-4E45-A8AF-8041F095814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1447" r="4154" b="30469"/>
          <a:stretch/>
        </p:blipFill>
        <p:spPr bwMode="auto">
          <a:xfrm>
            <a:off x="3216990" y="1958111"/>
            <a:ext cx="2505400" cy="176602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14CDF27-662C-484E-B18C-459D1F89A3F7}"/>
              </a:ext>
            </a:extLst>
          </p:cNvPr>
          <p:cNvSpPr txBox="1"/>
          <p:nvPr/>
        </p:nvSpPr>
        <p:spPr>
          <a:xfrm>
            <a:off x="3016407" y="3843748"/>
            <a:ext cx="2906565" cy="369332"/>
          </a:xfrm>
          <a:prstGeom prst="rect">
            <a:avLst/>
          </a:prstGeom>
          <a:noFill/>
        </p:spPr>
        <p:txBody>
          <a:bodyPr wrap="none" rtlCol="0">
            <a:spAutoFit/>
          </a:bodyPr>
          <a:lstStyle/>
          <a:p>
            <a:r>
              <a:rPr lang="en-IN" dirty="0"/>
              <a:t>Docker Desktop(</a:t>
            </a:r>
            <a:r>
              <a:rPr lang="en-IN" dirty="0" err="1"/>
              <a:t>Kubeadm</a:t>
            </a:r>
            <a:r>
              <a:rPr lang="en-IN" dirty="0"/>
              <a:t>)</a:t>
            </a:r>
          </a:p>
        </p:txBody>
      </p:sp>
      <p:sp>
        <p:nvSpPr>
          <p:cNvPr id="10" name="TextBox 9">
            <a:extLst>
              <a:ext uri="{FF2B5EF4-FFF2-40B4-BE49-F238E27FC236}">
                <a16:creationId xmlns:a16="http://schemas.microsoft.com/office/drawing/2014/main" id="{B28431EB-1CCE-4145-B6F9-5E8570D5FD3B}"/>
              </a:ext>
            </a:extLst>
          </p:cNvPr>
          <p:cNvSpPr txBox="1"/>
          <p:nvPr/>
        </p:nvSpPr>
        <p:spPr>
          <a:xfrm>
            <a:off x="958446" y="3881373"/>
            <a:ext cx="1069780" cy="369332"/>
          </a:xfrm>
          <a:prstGeom prst="rect">
            <a:avLst/>
          </a:prstGeom>
          <a:noFill/>
        </p:spPr>
        <p:txBody>
          <a:bodyPr wrap="none" rtlCol="0">
            <a:spAutoFit/>
          </a:bodyPr>
          <a:lstStyle/>
          <a:p>
            <a:r>
              <a:rPr lang="en-IN" dirty="0" err="1"/>
              <a:t>Minikube</a:t>
            </a:r>
            <a:endParaRPr lang="en-IN" dirty="0"/>
          </a:p>
        </p:txBody>
      </p:sp>
      <p:sp>
        <p:nvSpPr>
          <p:cNvPr id="11" name="TextBox 10">
            <a:extLst>
              <a:ext uri="{FF2B5EF4-FFF2-40B4-BE49-F238E27FC236}">
                <a16:creationId xmlns:a16="http://schemas.microsoft.com/office/drawing/2014/main" id="{EE066DAB-DC62-41E1-A766-10D035B75448}"/>
              </a:ext>
            </a:extLst>
          </p:cNvPr>
          <p:cNvSpPr txBox="1"/>
          <p:nvPr/>
        </p:nvSpPr>
        <p:spPr>
          <a:xfrm>
            <a:off x="6743997" y="3880243"/>
            <a:ext cx="1077154" cy="369332"/>
          </a:xfrm>
          <a:prstGeom prst="rect">
            <a:avLst/>
          </a:prstGeom>
          <a:noFill/>
        </p:spPr>
        <p:txBody>
          <a:bodyPr wrap="none" rtlCol="0">
            <a:spAutoFit/>
          </a:bodyPr>
          <a:lstStyle/>
          <a:p>
            <a:r>
              <a:rPr lang="en-IN" dirty="0" err="1"/>
              <a:t>Kubeadm</a:t>
            </a:r>
            <a:endParaRPr lang="en-IN" dirty="0"/>
          </a:p>
        </p:txBody>
      </p:sp>
      <p:pic>
        <p:nvPicPr>
          <p:cNvPr id="5" name="Picture 4">
            <a:extLst>
              <a:ext uri="{FF2B5EF4-FFF2-40B4-BE49-F238E27FC236}">
                <a16:creationId xmlns:a16="http://schemas.microsoft.com/office/drawing/2014/main" id="{CBC7F77D-C86E-4788-AEB2-2DE4BB9E5B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08229" y="1996160"/>
            <a:ext cx="2627659" cy="1573448"/>
          </a:xfrm>
          <a:prstGeom prst="rect">
            <a:avLst/>
          </a:prstGeom>
        </p:spPr>
      </p:pic>
      <p:sp>
        <p:nvSpPr>
          <p:cNvPr id="12" name="TextBox 11">
            <a:extLst>
              <a:ext uri="{FF2B5EF4-FFF2-40B4-BE49-F238E27FC236}">
                <a16:creationId xmlns:a16="http://schemas.microsoft.com/office/drawing/2014/main" id="{C3AB8E56-FF82-49F1-A2FA-D16A28B505F5}"/>
              </a:ext>
            </a:extLst>
          </p:cNvPr>
          <p:cNvSpPr txBox="1"/>
          <p:nvPr/>
        </p:nvSpPr>
        <p:spPr>
          <a:xfrm>
            <a:off x="9917375" y="3880243"/>
            <a:ext cx="726481" cy="369332"/>
          </a:xfrm>
          <a:prstGeom prst="rect">
            <a:avLst/>
          </a:prstGeom>
          <a:noFill/>
        </p:spPr>
        <p:txBody>
          <a:bodyPr wrap="none" rtlCol="0">
            <a:spAutoFit/>
          </a:bodyPr>
          <a:lstStyle/>
          <a:p>
            <a:r>
              <a:rPr lang="en-IN" dirty="0"/>
              <a:t>Cloud</a:t>
            </a:r>
          </a:p>
        </p:txBody>
      </p:sp>
      <p:sp>
        <p:nvSpPr>
          <p:cNvPr id="6" name="Right Bracket 5">
            <a:extLst>
              <a:ext uri="{FF2B5EF4-FFF2-40B4-BE49-F238E27FC236}">
                <a16:creationId xmlns:a16="http://schemas.microsoft.com/office/drawing/2014/main" id="{1C4C0400-BA5A-4554-A54D-EBA220C4AC7F}"/>
              </a:ext>
            </a:extLst>
          </p:cNvPr>
          <p:cNvSpPr/>
          <p:nvPr/>
        </p:nvSpPr>
        <p:spPr>
          <a:xfrm rot="5400000">
            <a:off x="2651872" y="3098269"/>
            <a:ext cx="482330" cy="3311333"/>
          </a:xfrm>
          <a:prstGeom prst="rightBracket">
            <a:avLst/>
          </a:prstGeom>
          <a:ln w="38100">
            <a:solidFill>
              <a:srgbClr val="146BD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3" name="Right Bracket 12">
            <a:extLst>
              <a:ext uri="{FF2B5EF4-FFF2-40B4-BE49-F238E27FC236}">
                <a16:creationId xmlns:a16="http://schemas.microsoft.com/office/drawing/2014/main" id="{41FB7EAD-D87F-4127-AE95-AEC190533574}"/>
              </a:ext>
            </a:extLst>
          </p:cNvPr>
          <p:cNvSpPr/>
          <p:nvPr/>
        </p:nvSpPr>
        <p:spPr>
          <a:xfrm rot="5400000">
            <a:off x="8490761" y="3035210"/>
            <a:ext cx="482330" cy="3311335"/>
          </a:xfrm>
          <a:prstGeom prst="rightBracket">
            <a:avLst/>
          </a:prstGeom>
          <a:ln w="38100">
            <a:solidFill>
              <a:srgbClr val="146BD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 name="TextBox 6">
            <a:extLst>
              <a:ext uri="{FF2B5EF4-FFF2-40B4-BE49-F238E27FC236}">
                <a16:creationId xmlns:a16="http://schemas.microsoft.com/office/drawing/2014/main" id="{A8DE493C-8A9A-4C4E-81D2-6832C2A258DE}"/>
              </a:ext>
            </a:extLst>
          </p:cNvPr>
          <p:cNvSpPr txBox="1"/>
          <p:nvPr/>
        </p:nvSpPr>
        <p:spPr>
          <a:xfrm>
            <a:off x="1729788" y="5189500"/>
            <a:ext cx="2009909" cy="369332"/>
          </a:xfrm>
          <a:prstGeom prst="rect">
            <a:avLst/>
          </a:prstGeom>
          <a:noFill/>
        </p:spPr>
        <p:txBody>
          <a:bodyPr wrap="none" rtlCol="0">
            <a:spAutoFit/>
          </a:bodyPr>
          <a:lstStyle/>
          <a:p>
            <a:r>
              <a:rPr lang="en-IN" dirty="0"/>
              <a:t>Single Node Cluster</a:t>
            </a:r>
          </a:p>
        </p:txBody>
      </p:sp>
      <p:sp>
        <p:nvSpPr>
          <p:cNvPr id="15" name="TextBox 14">
            <a:extLst>
              <a:ext uri="{FF2B5EF4-FFF2-40B4-BE49-F238E27FC236}">
                <a16:creationId xmlns:a16="http://schemas.microsoft.com/office/drawing/2014/main" id="{DF746F1D-54AF-4F67-A17D-7EB4111B1B47}"/>
              </a:ext>
            </a:extLst>
          </p:cNvPr>
          <p:cNvSpPr txBox="1"/>
          <p:nvPr/>
        </p:nvSpPr>
        <p:spPr>
          <a:xfrm>
            <a:off x="7821151" y="5088527"/>
            <a:ext cx="1955728" cy="369332"/>
          </a:xfrm>
          <a:prstGeom prst="rect">
            <a:avLst/>
          </a:prstGeom>
          <a:noFill/>
        </p:spPr>
        <p:txBody>
          <a:bodyPr wrap="none" rtlCol="0">
            <a:spAutoFit/>
          </a:bodyPr>
          <a:lstStyle/>
          <a:p>
            <a:r>
              <a:rPr lang="en-IN" dirty="0"/>
              <a:t>Multi Node Cluster</a:t>
            </a:r>
          </a:p>
        </p:txBody>
      </p:sp>
    </p:spTree>
    <p:extLst>
      <p:ext uri="{BB962C8B-B14F-4D97-AF65-F5344CB8AC3E}">
        <p14:creationId xmlns:p14="http://schemas.microsoft.com/office/powerpoint/2010/main" val="3239549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D3DFE5-B190-4014-AF7E-D0395FE51018}"/>
              </a:ext>
            </a:extLst>
          </p:cNvPr>
          <p:cNvSpPr>
            <a:spLocks noGrp="1"/>
          </p:cNvSpPr>
          <p:nvPr>
            <p:ph sz="half" idx="10"/>
          </p:nvPr>
        </p:nvSpPr>
        <p:spPr/>
        <p:txBody>
          <a:bodyPr/>
          <a:lstStyle/>
          <a:p>
            <a:r>
              <a:rPr lang="en-IN" dirty="0"/>
              <a:t>Single Node Cluster</a:t>
            </a:r>
          </a:p>
        </p:txBody>
      </p:sp>
      <p:sp>
        <p:nvSpPr>
          <p:cNvPr id="59" name="Rectangle 58">
            <a:extLst>
              <a:ext uri="{FF2B5EF4-FFF2-40B4-BE49-F238E27FC236}">
                <a16:creationId xmlns:a16="http://schemas.microsoft.com/office/drawing/2014/main" id="{68117838-B5F9-47D0-BFA6-47E2D9E4C8AB}"/>
              </a:ext>
            </a:extLst>
          </p:cNvPr>
          <p:cNvSpPr/>
          <p:nvPr/>
        </p:nvSpPr>
        <p:spPr>
          <a:xfrm>
            <a:off x="4009314" y="3819694"/>
            <a:ext cx="1409048" cy="105034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0" name="Rectangle 59">
            <a:extLst>
              <a:ext uri="{FF2B5EF4-FFF2-40B4-BE49-F238E27FC236}">
                <a16:creationId xmlns:a16="http://schemas.microsoft.com/office/drawing/2014/main" id="{2F9E80EA-61FF-42F0-B60C-6592DD7FBA36}"/>
              </a:ext>
            </a:extLst>
          </p:cNvPr>
          <p:cNvSpPr/>
          <p:nvPr/>
        </p:nvSpPr>
        <p:spPr>
          <a:xfrm>
            <a:off x="4105845" y="4058845"/>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container1</a:t>
            </a:r>
            <a:endParaRPr lang="en-IN" sz="1600" dirty="0"/>
          </a:p>
        </p:txBody>
      </p:sp>
      <p:sp>
        <p:nvSpPr>
          <p:cNvPr id="61" name="Rectangle 60">
            <a:extLst>
              <a:ext uri="{FF2B5EF4-FFF2-40B4-BE49-F238E27FC236}">
                <a16:creationId xmlns:a16="http://schemas.microsoft.com/office/drawing/2014/main" id="{C6482483-0045-4604-BB07-33A86D458A17}"/>
              </a:ext>
            </a:extLst>
          </p:cNvPr>
          <p:cNvSpPr/>
          <p:nvPr/>
        </p:nvSpPr>
        <p:spPr>
          <a:xfrm>
            <a:off x="4105845" y="4465401"/>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container2</a:t>
            </a:r>
            <a:endParaRPr lang="en-IN" sz="1600" dirty="0"/>
          </a:p>
        </p:txBody>
      </p:sp>
      <p:sp>
        <p:nvSpPr>
          <p:cNvPr id="62" name="Rectangle 61">
            <a:extLst>
              <a:ext uri="{FF2B5EF4-FFF2-40B4-BE49-F238E27FC236}">
                <a16:creationId xmlns:a16="http://schemas.microsoft.com/office/drawing/2014/main" id="{DD3E0D9A-7653-402A-AD50-02613B41967F}"/>
              </a:ext>
            </a:extLst>
          </p:cNvPr>
          <p:cNvSpPr/>
          <p:nvPr/>
        </p:nvSpPr>
        <p:spPr>
          <a:xfrm>
            <a:off x="4009314" y="4991481"/>
            <a:ext cx="2950345" cy="36195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Container Runtime - Docker</a:t>
            </a:r>
            <a:endParaRPr lang="en-IN" dirty="0"/>
          </a:p>
        </p:txBody>
      </p:sp>
      <p:sp>
        <p:nvSpPr>
          <p:cNvPr id="63" name="Rectangle 62">
            <a:extLst>
              <a:ext uri="{FF2B5EF4-FFF2-40B4-BE49-F238E27FC236}">
                <a16:creationId xmlns:a16="http://schemas.microsoft.com/office/drawing/2014/main" id="{4E6DA15B-18A4-4CA5-9F48-D61289425B4E}"/>
              </a:ext>
            </a:extLst>
          </p:cNvPr>
          <p:cNvSpPr/>
          <p:nvPr/>
        </p:nvSpPr>
        <p:spPr>
          <a:xfrm>
            <a:off x="4009312" y="5457841"/>
            <a:ext cx="1409049"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kubelet</a:t>
            </a:r>
            <a:endParaRPr lang="en-IN" dirty="0"/>
          </a:p>
        </p:txBody>
      </p:sp>
      <p:sp>
        <p:nvSpPr>
          <p:cNvPr id="64" name="Rectangle 63">
            <a:extLst>
              <a:ext uri="{FF2B5EF4-FFF2-40B4-BE49-F238E27FC236}">
                <a16:creationId xmlns:a16="http://schemas.microsoft.com/office/drawing/2014/main" id="{FA288744-F700-43AF-A718-7BD69D6A8D48}"/>
              </a:ext>
            </a:extLst>
          </p:cNvPr>
          <p:cNvSpPr/>
          <p:nvPr/>
        </p:nvSpPr>
        <p:spPr>
          <a:xfrm>
            <a:off x="5550611" y="5457841"/>
            <a:ext cx="1409048"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kube</a:t>
            </a:r>
            <a:r>
              <a:rPr lang="en-US" dirty="0"/>
              <a:t>-proxy</a:t>
            </a:r>
            <a:endParaRPr lang="en-IN" dirty="0"/>
          </a:p>
        </p:txBody>
      </p:sp>
      <p:sp>
        <p:nvSpPr>
          <p:cNvPr id="67" name="Rectangle 66">
            <a:extLst>
              <a:ext uri="{FF2B5EF4-FFF2-40B4-BE49-F238E27FC236}">
                <a16:creationId xmlns:a16="http://schemas.microsoft.com/office/drawing/2014/main" id="{9119B1A0-2008-4748-AE47-DBBEB22712BD}"/>
              </a:ext>
            </a:extLst>
          </p:cNvPr>
          <p:cNvSpPr/>
          <p:nvPr/>
        </p:nvSpPr>
        <p:spPr>
          <a:xfrm>
            <a:off x="5550611" y="3819694"/>
            <a:ext cx="1409048" cy="105034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8" name="Rectangle 67">
            <a:extLst>
              <a:ext uri="{FF2B5EF4-FFF2-40B4-BE49-F238E27FC236}">
                <a16:creationId xmlns:a16="http://schemas.microsoft.com/office/drawing/2014/main" id="{BA595AFA-B514-4207-80EB-7F4BA41CD645}"/>
              </a:ext>
            </a:extLst>
          </p:cNvPr>
          <p:cNvSpPr/>
          <p:nvPr/>
        </p:nvSpPr>
        <p:spPr>
          <a:xfrm>
            <a:off x="5642360" y="4193240"/>
            <a:ext cx="1225550"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container1</a:t>
            </a:r>
            <a:endParaRPr lang="en-IN" dirty="0"/>
          </a:p>
        </p:txBody>
      </p:sp>
      <p:sp>
        <p:nvSpPr>
          <p:cNvPr id="70" name="Rectangle 69">
            <a:extLst>
              <a:ext uri="{FF2B5EF4-FFF2-40B4-BE49-F238E27FC236}">
                <a16:creationId xmlns:a16="http://schemas.microsoft.com/office/drawing/2014/main" id="{5C398029-5194-47DC-B588-BFA82D975177}"/>
              </a:ext>
            </a:extLst>
          </p:cNvPr>
          <p:cNvSpPr/>
          <p:nvPr/>
        </p:nvSpPr>
        <p:spPr>
          <a:xfrm>
            <a:off x="3990887" y="2741374"/>
            <a:ext cx="2980297" cy="361950"/>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Controller-Manager</a:t>
            </a:r>
            <a:endParaRPr lang="en-IN" dirty="0"/>
          </a:p>
        </p:txBody>
      </p:sp>
      <p:sp>
        <p:nvSpPr>
          <p:cNvPr id="71" name="Rectangle 70">
            <a:extLst>
              <a:ext uri="{FF2B5EF4-FFF2-40B4-BE49-F238E27FC236}">
                <a16:creationId xmlns:a16="http://schemas.microsoft.com/office/drawing/2014/main" id="{C186EAF9-7964-4685-9ABC-013191CE2452}"/>
              </a:ext>
            </a:extLst>
          </p:cNvPr>
          <p:cNvSpPr/>
          <p:nvPr/>
        </p:nvSpPr>
        <p:spPr>
          <a:xfrm>
            <a:off x="3990887" y="3219382"/>
            <a:ext cx="2980296" cy="361950"/>
          </a:xfrm>
          <a:prstGeom prst="rect">
            <a:avLst/>
          </a:prstGeom>
          <a:solidFill>
            <a:schemeClr val="tx2">
              <a:lumMod val="75000"/>
            </a:schemeClr>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etcd</a:t>
            </a:r>
            <a:endParaRPr lang="en-IN" dirty="0"/>
          </a:p>
        </p:txBody>
      </p:sp>
      <p:sp>
        <p:nvSpPr>
          <p:cNvPr id="72" name="Rectangle 71">
            <a:extLst>
              <a:ext uri="{FF2B5EF4-FFF2-40B4-BE49-F238E27FC236}">
                <a16:creationId xmlns:a16="http://schemas.microsoft.com/office/drawing/2014/main" id="{741A7B79-4072-4E29-B9C8-5968505201CE}"/>
              </a:ext>
            </a:extLst>
          </p:cNvPr>
          <p:cNvSpPr/>
          <p:nvPr/>
        </p:nvSpPr>
        <p:spPr>
          <a:xfrm>
            <a:off x="3826374" y="1577053"/>
            <a:ext cx="3346174" cy="4448105"/>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4" name="Rectangle 73">
            <a:extLst>
              <a:ext uri="{FF2B5EF4-FFF2-40B4-BE49-F238E27FC236}">
                <a16:creationId xmlns:a16="http://schemas.microsoft.com/office/drawing/2014/main" id="{6C62C63B-2253-47A6-8DA0-07C0E420E50C}"/>
              </a:ext>
            </a:extLst>
          </p:cNvPr>
          <p:cNvSpPr/>
          <p:nvPr/>
        </p:nvSpPr>
        <p:spPr>
          <a:xfrm>
            <a:off x="4009312" y="2273191"/>
            <a:ext cx="2980297" cy="36195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Scheduler</a:t>
            </a:r>
            <a:endParaRPr lang="en-IN" dirty="0"/>
          </a:p>
        </p:txBody>
      </p:sp>
      <p:sp>
        <p:nvSpPr>
          <p:cNvPr id="75" name="Rectangle 74">
            <a:extLst>
              <a:ext uri="{FF2B5EF4-FFF2-40B4-BE49-F238E27FC236}">
                <a16:creationId xmlns:a16="http://schemas.microsoft.com/office/drawing/2014/main" id="{9449EE07-DD93-403D-887B-2C122396D58D}"/>
              </a:ext>
            </a:extLst>
          </p:cNvPr>
          <p:cNvSpPr/>
          <p:nvPr/>
        </p:nvSpPr>
        <p:spPr>
          <a:xfrm>
            <a:off x="4009312" y="1813480"/>
            <a:ext cx="2980297" cy="361950"/>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API Server</a:t>
            </a:r>
            <a:endParaRPr lang="en-IN" dirty="0"/>
          </a:p>
        </p:txBody>
      </p:sp>
      <p:grpSp>
        <p:nvGrpSpPr>
          <p:cNvPr id="76" name="Group 75">
            <a:extLst>
              <a:ext uri="{FF2B5EF4-FFF2-40B4-BE49-F238E27FC236}">
                <a16:creationId xmlns:a16="http://schemas.microsoft.com/office/drawing/2014/main" id="{8A6C66EF-D601-40E4-A529-31CF7C3B40C2}"/>
              </a:ext>
            </a:extLst>
          </p:cNvPr>
          <p:cNvGrpSpPr/>
          <p:nvPr/>
        </p:nvGrpSpPr>
        <p:grpSpPr>
          <a:xfrm>
            <a:off x="2478870" y="1724562"/>
            <a:ext cx="869347" cy="831875"/>
            <a:chOff x="401640" y="2917331"/>
            <a:chExt cx="869347" cy="831875"/>
          </a:xfrm>
        </p:grpSpPr>
        <p:pic>
          <p:nvPicPr>
            <p:cNvPr id="77" name="Picture 2" descr="Related image">
              <a:extLst>
                <a:ext uri="{FF2B5EF4-FFF2-40B4-BE49-F238E27FC236}">
                  <a16:creationId xmlns:a16="http://schemas.microsoft.com/office/drawing/2014/main" id="{7BBC27B5-9C6F-4D5F-82A4-915705F65ED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733" r="20267"/>
            <a:stretch/>
          </p:blipFill>
          <p:spPr bwMode="auto">
            <a:xfrm>
              <a:off x="401640" y="2917331"/>
              <a:ext cx="869347" cy="831875"/>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77">
              <a:extLst>
                <a:ext uri="{FF2B5EF4-FFF2-40B4-BE49-F238E27FC236}">
                  <a16:creationId xmlns:a16="http://schemas.microsoft.com/office/drawing/2014/main" id="{0B80A886-7A1C-46FB-B012-ED8E55D13D9E}"/>
                </a:ext>
              </a:extLst>
            </p:cNvPr>
            <p:cNvSpPr txBox="1"/>
            <p:nvPr/>
          </p:nvSpPr>
          <p:spPr>
            <a:xfrm>
              <a:off x="461907" y="3384816"/>
              <a:ext cx="731675" cy="307777"/>
            </a:xfrm>
            <a:prstGeom prst="rect">
              <a:avLst/>
            </a:prstGeom>
            <a:noFill/>
          </p:spPr>
          <p:txBody>
            <a:bodyPr wrap="none" rtlCol="0">
              <a:spAutoFit/>
            </a:bodyPr>
            <a:lstStyle/>
            <a:p>
              <a:r>
                <a:rPr lang="en-US" sz="1400" dirty="0">
                  <a:solidFill>
                    <a:schemeClr val="bg1"/>
                  </a:solidFill>
                </a:rPr>
                <a:t>kubectl</a:t>
              </a:r>
              <a:endParaRPr lang="en-IN" sz="1400" dirty="0">
                <a:solidFill>
                  <a:schemeClr val="bg1"/>
                </a:solidFill>
              </a:endParaRPr>
            </a:p>
          </p:txBody>
        </p:sp>
      </p:grpSp>
      <p:grpSp>
        <p:nvGrpSpPr>
          <p:cNvPr id="79" name="Group 78">
            <a:extLst>
              <a:ext uri="{FF2B5EF4-FFF2-40B4-BE49-F238E27FC236}">
                <a16:creationId xmlns:a16="http://schemas.microsoft.com/office/drawing/2014/main" id="{258F3BBE-D106-4BE2-8CBD-2D18A9BAF539}"/>
              </a:ext>
            </a:extLst>
          </p:cNvPr>
          <p:cNvGrpSpPr/>
          <p:nvPr/>
        </p:nvGrpSpPr>
        <p:grpSpPr>
          <a:xfrm>
            <a:off x="2415996" y="2705029"/>
            <a:ext cx="939298" cy="1236023"/>
            <a:chOff x="202798" y="3872756"/>
            <a:chExt cx="939298" cy="1236023"/>
          </a:xfrm>
        </p:grpSpPr>
        <p:pic>
          <p:nvPicPr>
            <p:cNvPr id="80" name="Picture 4">
              <a:extLst>
                <a:ext uri="{FF2B5EF4-FFF2-40B4-BE49-F238E27FC236}">
                  <a16:creationId xmlns:a16="http://schemas.microsoft.com/office/drawing/2014/main" id="{D56DAB36-17DD-4B79-A5A3-AD5F7D97A48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4842" t="12637" r="34083" b="46183"/>
            <a:stretch/>
          </p:blipFill>
          <p:spPr bwMode="auto">
            <a:xfrm>
              <a:off x="202798" y="3872756"/>
              <a:ext cx="939298" cy="933543"/>
            </a:xfrm>
            <a:prstGeom prst="rect">
              <a:avLst/>
            </a:prstGeom>
            <a:noFill/>
            <a:extLst>
              <a:ext uri="{909E8E84-426E-40DD-AFC4-6F175D3DCCD1}">
                <a14:hiddenFill xmlns:a14="http://schemas.microsoft.com/office/drawing/2010/main">
                  <a:solidFill>
                    <a:srgbClr val="FFFFFF"/>
                  </a:solidFill>
                </a14:hiddenFill>
              </a:ext>
            </a:extLst>
          </p:spPr>
        </p:pic>
        <p:sp>
          <p:nvSpPr>
            <p:cNvPr id="81" name="TextBox 80">
              <a:extLst>
                <a:ext uri="{FF2B5EF4-FFF2-40B4-BE49-F238E27FC236}">
                  <a16:creationId xmlns:a16="http://schemas.microsoft.com/office/drawing/2014/main" id="{30684F34-CD17-4BEA-9302-DDA381FC4E6A}"/>
                </a:ext>
              </a:extLst>
            </p:cNvPr>
            <p:cNvSpPr txBox="1"/>
            <p:nvPr/>
          </p:nvSpPr>
          <p:spPr>
            <a:xfrm>
              <a:off x="500389" y="4801002"/>
              <a:ext cx="349776" cy="307777"/>
            </a:xfrm>
            <a:prstGeom prst="rect">
              <a:avLst/>
            </a:prstGeom>
            <a:noFill/>
          </p:spPr>
          <p:txBody>
            <a:bodyPr wrap="none" rtlCol="0">
              <a:spAutoFit/>
            </a:bodyPr>
            <a:lstStyle/>
            <a:p>
              <a:r>
                <a:rPr lang="en-US" sz="1400" b="1" dirty="0">
                  <a:solidFill>
                    <a:schemeClr val="bg2">
                      <a:lumMod val="90000"/>
                    </a:schemeClr>
                  </a:solidFill>
                </a:rPr>
                <a:t>UI</a:t>
              </a:r>
              <a:endParaRPr lang="en-IN" sz="1400" b="1" dirty="0">
                <a:solidFill>
                  <a:schemeClr val="bg2">
                    <a:lumMod val="90000"/>
                  </a:schemeClr>
                </a:solidFill>
              </a:endParaRPr>
            </a:p>
          </p:txBody>
        </p:sp>
      </p:grpSp>
      <p:cxnSp>
        <p:nvCxnSpPr>
          <p:cNvPr id="82" name="Straight Arrow Connector 81">
            <a:extLst>
              <a:ext uri="{FF2B5EF4-FFF2-40B4-BE49-F238E27FC236}">
                <a16:creationId xmlns:a16="http://schemas.microsoft.com/office/drawing/2014/main" id="{79DFC3CA-D213-40BA-A6CA-7A768144EB8C}"/>
              </a:ext>
            </a:extLst>
          </p:cNvPr>
          <p:cNvCxnSpPr>
            <a:cxnSpLocks/>
          </p:cNvCxnSpPr>
          <p:nvPr/>
        </p:nvCxnSpPr>
        <p:spPr>
          <a:xfrm>
            <a:off x="3316467" y="2146850"/>
            <a:ext cx="478157" cy="0"/>
          </a:xfrm>
          <a:prstGeom prst="straightConnector1">
            <a:avLst/>
          </a:prstGeom>
          <a:ln w="28575">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5E6549F4-5CC5-41A6-8D12-E58C33D07DBC}"/>
              </a:ext>
            </a:extLst>
          </p:cNvPr>
          <p:cNvCxnSpPr>
            <a:cxnSpLocks/>
          </p:cNvCxnSpPr>
          <p:nvPr/>
        </p:nvCxnSpPr>
        <p:spPr>
          <a:xfrm>
            <a:off x="3316467" y="3171800"/>
            <a:ext cx="478157" cy="0"/>
          </a:xfrm>
          <a:prstGeom prst="straightConnector1">
            <a:avLst/>
          </a:prstGeom>
          <a:ln w="28575">
            <a:solidFill>
              <a:srgbClr val="146BD8"/>
            </a:solidFill>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5E49FBCA-AEA4-406D-80E0-1E847BFF51ED}"/>
              </a:ext>
            </a:extLst>
          </p:cNvPr>
          <p:cNvSpPr txBox="1"/>
          <p:nvPr/>
        </p:nvSpPr>
        <p:spPr>
          <a:xfrm>
            <a:off x="4499198" y="3755784"/>
            <a:ext cx="470322" cy="307777"/>
          </a:xfrm>
          <a:prstGeom prst="rect">
            <a:avLst/>
          </a:prstGeom>
          <a:noFill/>
        </p:spPr>
        <p:txBody>
          <a:bodyPr wrap="none" rtlCol="0">
            <a:spAutoFit/>
          </a:bodyPr>
          <a:lstStyle/>
          <a:p>
            <a:r>
              <a:rPr lang="en-US" sz="1400" b="1" dirty="0">
                <a:solidFill>
                  <a:schemeClr val="accent5">
                    <a:lumMod val="75000"/>
                  </a:schemeClr>
                </a:solidFill>
              </a:rPr>
              <a:t>Pod</a:t>
            </a:r>
            <a:endParaRPr lang="en-IN" sz="1400" b="1" dirty="0">
              <a:solidFill>
                <a:schemeClr val="accent5">
                  <a:lumMod val="75000"/>
                </a:schemeClr>
              </a:solidFill>
            </a:endParaRPr>
          </a:p>
        </p:txBody>
      </p:sp>
      <p:sp>
        <p:nvSpPr>
          <p:cNvPr id="85" name="TextBox 84">
            <a:extLst>
              <a:ext uri="{FF2B5EF4-FFF2-40B4-BE49-F238E27FC236}">
                <a16:creationId xmlns:a16="http://schemas.microsoft.com/office/drawing/2014/main" id="{6C2DD67E-D006-4554-9DA1-20D50BFB88D2}"/>
              </a:ext>
            </a:extLst>
          </p:cNvPr>
          <p:cNvSpPr txBox="1"/>
          <p:nvPr/>
        </p:nvSpPr>
        <p:spPr>
          <a:xfrm>
            <a:off x="5956824" y="3755784"/>
            <a:ext cx="470322" cy="307777"/>
          </a:xfrm>
          <a:prstGeom prst="rect">
            <a:avLst/>
          </a:prstGeom>
          <a:noFill/>
        </p:spPr>
        <p:txBody>
          <a:bodyPr wrap="none" rtlCol="0">
            <a:spAutoFit/>
          </a:bodyPr>
          <a:lstStyle/>
          <a:p>
            <a:r>
              <a:rPr lang="en-US" sz="1400" b="1" dirty="0">
                <a:solidFill>
                  <a:schemeClr val="accent5">
                    <a:lumMod val="75000"/>
                  </a:schemeClr>
                </a:solidFill>
              </a:rPr>
              <a:t>Pod</a:t>
            </a:r>
            <a:endParaRPr lang="en-IN" sz="1400" b="1" dirty="0">
              <a:solidFill>
                <a:schemeClr val="accent5">
                  <a:lumMod val="75000"/>
                </a:schemeClr>
              </a:solidFill>
            </a:endParaRPr>
          </a:p>
        </p:txBody>
      </p:sp>
      <p:pic>
        <p:nvPicPr>
          <p:cNvPr id="88" name="Picture 10" descr="Docker Logos and Photos | Docker">
            <a:extLst>
              <a:ext uri="{FF2B5EF4-FFF2-40B4-BE49-F238E27FC236}">
                <a16:creationId xmlns:a16="http://schemas.microsoft.com/office/drawing/2014/main" id="{1E9D997C-1656-4B66-A3DE-F217D3A46AE3}"/>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1447" r="4154" b="30469"/>
          <a:stretch/>
        </p:blipFill>
        <p:spPr bwMode="auto">
          <a:xfrm>
            <a:off x="6747812" y="5624334"/>
            <a:ext cx="1137267" cy="801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74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4F83C2-1C33-421D-970A-4291900E958E}"/>
              </a:ext>
            </a:extLst>
          </p:cNvPr>
          <p:cNvSpPr>
            <a:spLocks noGrp="1"/>
          </p:cNvSpPr>
          <p:nvPr>
            <p:ph sz="half" idx="10"/>
          </p:nvPr>
        </p:nvSpPr>
        <p:spPr/>
        <p:txBody>
          <a:bodyPr/>
          <a:lstStyle/>
          <a:p>
            <a:r>
              <a:rPr lang="en-US" dirty="0"/>
              <a:t>Kubernetes Using Docker Desktop</a:t>
            </a:r>
            <a:endParaRPr lang="en-IN" dirty="0"/>
          </a:p>
        </p:txBody>
      </p:sp>
      <p:pic>
        <p:nvPicPr>
          <p:cNvPr id="5" name="Picture 4">
            <a:extLst>
              <a:ext uri="{FF2B5EF4-FFF2-40B4-BE49-F238E27FC236}">
                <a16:creationId xmlns:a16="http://schemas.microsoft.com/office/drawing/2014/main" id="{38881436-CE91-49E2-413E-A89310AB7350}"/>
              </a:ext>
            </a:extLst>
          </p:cNvPr>
          <p:cNvPicPr>
            <a:picLocks noChangeAspect="1"/>
          </p:cNvPicPr>
          <p:nvPr/>
        </p:nvPicPr>
        <p:blipFill rotWithShape="1">
          <a:blip r:embed="rId2"/>
          <a:srcRect b="10984"/>
          <a:stretch/>
        </p:blipFill>
        <p:spPr>
          <a:xfrm>
            <a:off x="6510216" y="1397687"/>
            <a:ext cx="5474101" cy="3502558"/>
          </a:xfrm>
          <a:prstGeom prst="rect">
            <a:avLst/>
          </a:prstGeom>
        </p:spPr>
      </p:pic>
      <p:pic>
        <p:nvPicPr>
          <p:cNvPr id="7" name="Picture 6">
            <a:extLst>
              <a:ext uri="{FF2B5EF4-FFF2-40B4-BE49-F238E27FC236}">
                <a16:creationId xmlns:a16="http://schemas.microsoft.com/office/drawing/2014/main" id="{9BE91156-9F77-4702-DD53-404EF5726549}"/>
              </a:ext>
            </a:extLst>
          </p:cNvPr>
          <p:cNvPicPr>
            <a:picLocks noChangeAspect="1"/>
          </p:cNvPicPr>
          <p:nvPr/>
        </p:nvPicPr>
        <p:blipFill>
          <a:blip r:embed="rId3"/>
          <a:stretch>
            <a:fillRect/>
          </a:stretch>
        </p:blipFill>
        <p:spPr>
          <a:xfrm>
            <a:off x="532370" y="1397686"/>
            <a:ext cx="5744536" cy="3502559"/>
          </a:xfrm>
          <a:prstGeom prst="rect">
            <a:avLst/>
          </a:prstGeom>
        </p:spPr>
      </p:pic>
    </p:spTree>
    <p:extLst>
      <p:ext uri="{BB962C8B-B14F-4D97-AF65-F5344CB8AC3E}">
        <p14:creationId xmlns:p14="http://schemas.microsoft.com/office/powerpoint/2010/main" val="3197244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4F83C2-1C33-421D-970A-4291900E958E}"/>
              </a:ext>
            </a:extLst>
          </p:cNvPr>
          <p:cNvSpPr>
            <a:spLocks noGrp="1"/>
          </p:cNvSpPr>
          <p:nvPr>
            <p:ph sz="half" idx="1"/>
          </p:nvPr>
        </p:nvSpPr>
        <p:spPr/>
        <p:txBody>
          <a:bodyPr>
            <a:normAutofit/>
          </a:bodyPr>
          <a:lstStyle/>
          <a:p>
            <a:pPr marL="0" indent="0">
              <a:buNone/>
            </a:pPr>
            <a:r>
              <a:rPr lang="en-US" sz="2800" dirty="0"/>
              <a:t>&gt; </a:t>
            </a:r>
            <a:r>
              <a:rPr lang="en-US" sz="2800" dirty="0" err="1"/>
              <a:t>kubectl</a:t>
            </a:r>
            <a:r>
              <a:rPr lang="en-US" sz="2800" dirty="0"/>
              <a:t> help</a:t>
            </a:r>
          </a:p>
          <a:p>
            <a:pPr marL="0" indent="0">
              <a:buNone/>
            </a:pPr>
            <a:r>
              <a:rPr lang="en-US" sz="2800" dirty="0"/>
              <a:t>&gt; </a:t>
            </a:r>
            <a:r>
              <a:rPr lang="en-US" sz="2800" dirty="0" err="1"/>
              <a:t>kubectl</a:t>
            </a:r>
            <a:r>
              <a:rPr lang="en-US" sz="2800" dirty="0"/>
              <a:t> get nodes</a:t>
            </a:r>
          </a:p>
          <a:p>
            <a:pPr marL="0" indent="0">
              <a:buNone/>
            </a:pPr>
            <a:r>
              <a:rPr lang="en-US" sz="2800" dirty="0"/>
              <a:t>&gt; </a:t>
            </a:r>
            <a:r>
              <a:rPr lang="en-US" sz="2800" dirty="0" err="1"/>
              <a:t>kubectl</a:t>
            </a:r>
            <a:r>
              <a:rPr lang="en-US" sz="2800" dirty="0"/>
              <a:t> cluster-info</a:t>
            </a:r>
          </a:p>
          <a:p>
            <a:pPr marL="0" indent="0">
              <a:buNone/>
            </a:pPr>
            <a:endParaRPr lang="en-US" sz="1050" dirty="0"/>
          </a:p>
          <a:p>
            <a:pPr marL="0" indent="0">
              <a:buNone/>
            </a:pPr>
            <a:r>
              <a:rPr lang="en-US" sz="2800" dirty="0"/>
              <a:t>&gt; </a:t>
            </a:r>
            <a:r>
              <a:rPr lang="en-US" sz="2800" dirty="0" err="1"/>
              <a:t>kubectl</a:t>
            </a:r>
            <a:r>
              <a:rPr lang="en-US" sz="2800" dirty="0"/>
              <a:t> config get-clusters</a:t>
            </a:r>
          </a:p>
          <a:p>
            <a:pPr marL="0" indent="0">
              <a:buNone/>
            </a:pPr>
            <a:r>
              <a:rPr lang="en-US" sz="2800" dirty="0"/>
              <a:t>&gt; </a:t>
            </a:r>
            <a:r>
              <a:rPr lang="en-US" sz="2800" dirty="0" err="1"/>
              <a:t>kubectl</a:t>
            </a:r>
            <a:r>
              <a:rPr lang="en-US" sz="2800" dirty="0"/>
              <a:t> config get-contexts</a:t>
            </a:r>
          </a:p>
          <a:p>
            <a:pPr marL="0" indent="0">
              <a:buNone/>
            </a:pPr>
            <a:r>
              <a:rPr lang="en-US" sz="2800" dirty="0"/>
              <a:t>&gt; </a:t>
            </a:r>
            <a:r>
              <a:rPr lang="en-US" sz="2800" dirty="0" err="1"/>
              <a:t>kubectl</a:t>
            </a:r>
            <a:r>
              <a:rPr lang="en-US" sz="2800" dirty="0"/>
              <a:t> config view</a:t>
            </a:r>
          </a:p>
          <a:p>
            <a:pPr marL="0" indent="0">
              <a:buNone/>
            </a:pPr>
            <a:r>
              <a:rPr lang="en-US" sz="2800" dirty="0"/>
              <a:t>&gt; </a:t>
            </a:r>
            <a:r>
              <a:rPr lang="en-US" sz="2800" dirty="0" err="1"/>
              <a:t>kubectl</a:t>
            </a:r>
            <a:r>
              <a:rPr lang="en-US" sz="2800" dirty="0"/>
              <a:t> config use-context docker-desktop</a:t>
            </a:r>
            <a:endParaRPr lang="en-IN" sz="1600" dirty="0"/>
          </a:p>
        </p:txBody>
      </p:sp>
      <p:sp>
        <p:nvSpPr>
          <p:cNvPr id="2" name="Content Placeholder 1">
            <a:extLst>
              <a:ext uri="{FF2B5EF4-FFF2-40B4-BE49-F238E27FC236}">
                <a16:creationId xmlns:a16="http://schemas.microsoft.com/office/drawing/2014/main" id="{4801E6A8-9330-494B-BFE4-9BCF8FA745B2}"/>
              </a:ext>
            </a:extLst>
          </p:cNvPr>
          <p:cNvSpPr>
            <a:spLocks noGrp="1"/>
          </p:cNvSpPr>
          <p:nvPr>
            <p:ph sz="half" idx="10"/>
          </p:nvPr>
        </p:nvSpPr>
        <p:spPr/>
        <p:txBody>
          <a:bodyPr/>
          <a:lstStyle/>
          <a:p>
            <a:r>
              <a:rPr lang="en-US" dirty="0"/>
              <a:t>Verify Kubernetes Setup</a:t>
            </a:r>
            <a:endParaRPr lang="en-IN" dirty="0"/>
          </a:p>
        </p:txBody>
      </p:sp>
    </p:spTree>
    <p:extLst>
      <p:ext uri="{BB962C8B-B14F-4D97-AF65-F5344CB8AC3E}">
        <p14:creationId xmlns:p14="http://schemas.microsoft.com/office/powerpoint/2010/main" val="1650652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1D902-2E3B-7581-282E-CFD6FBE798B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3C9C14-E561-0328-1B95-8A30345602B8}"/>
              </a:ext>
            </a:extLst>
          </p:cNvPr>
          <p:cNvSpPr>
            <a:spLocks noGrp="1"/>
          </p:cNvSpPr>
          <p:nvPr>
            <p:ph sz="half" idx="1"/>
          </p:nvPr>
        </p:nvSpPr>
        <p:spPr/>
        <p:txBody>
          <a:bodyPr>
            <a:normAutofit/>
          </a:bodyPr>
          <a:lstStyle/>
          <a:p>
            <a:pPr marL="0" indent="0">
              <a:buNone/>
            </a:pPr>
            <a:r>
              <a:rPr lang="en-US" sz="1800" i="1" dirty="0">
                <a:latin typeface="+mn-lt"/>
              </a:rPr>
              <a:t>&gt; </a:t>
            </a:r>
            <a:r>
              <a:rPr lang="en-US" sz="1800" i="1" dirty="0" err="1">
                <a:latin typeface="+mn-lt"/>
              </a:rPr>
              <a:t>kubectl</a:t>
            </a:r>
            <a:r>
              <a:rPr lang="en-US" sz="1800" i="1" dirty="0">
                <a:latin typeface="+mn-lt"/>
              </a:rPr>
              <a:t> version --output=</a:t>
            </a:r>
            <a:r>
              <a:rPr lang="en-US" sz="1800" i="1" dirty="0" err="1">
                <a:latin typeface="+mn-lt"/>
              </a:rPr>
              <a:t>json</a:t>
            </a:r>
            <a:endParaRPr lang="en-US" sz="1800" i="1" dirty="0">
              <a:latin typeface="+mn-lt"/>
            </a:endParaRPr>
          </a:p>
          <a:p>
            <a:pPr marL="0" indent="0">
              <a:buNone/>
            </a:pPr>
            <a:r>
              <a:rPr lang="en-US" sz="1800" i="1" dirty="0">
                <a:latin typeface="+mn-lt"/>
              </a:rPr>
              <a:t>&gt; </a:t>
            </a:r>
            <a:r>
              <a:rPr lang="en-US" sz="1800" i="1" dirty="0" err="1">
                <a:latin typeface="+mn-lt"/>
              </a:rPr>
              <a:t>kubectl</a:t>
            </a:r>
            <a:r>
              <a:rPr lang="en-US" sz="1800" i="1" dirty="0">
                <a:latin typeface="+mn-lt"/>
              </a:rPr>
              <a:t> apply -f https://raw.githubusercontent.com/kubernetes/dashboard/v2.7.0/aio/deploy/recommended.yaml</a:t>
            </a:r>
          </a:p>
          <a:p>
            <a:pPr marL="0" indent="0">
              <a:buNone/>
            </a:pPr>
            <a:r>
              <a:rPr lang="en-IN" sz="1800" dirty="0">
                <a:latin typeface="+mn-lt"/>
              </a:rPr>
              <a:t>&gt; </a:t>
            </a:r>
            <a:r>
              <a:rPr lang="en-IN" sz="1800" dirty="0" err="1">
                <a:latin typeface="+mn-lt"/>
              </a:rPr>
              <a:t>kubectl</a:t>
            </a:r>
            <a:r>
              <a:rPr lang="en-IN" sz="1800" dirty="0">
                <a:latin typeface="+mn-lt"/>
              </a:rPr>
              <a:t> proxy </a:t>
            </a:r>
          </a:p>
          <a:p>
            <a:pPr marL="0" indent="0">
              <a:buNone/>
            </a:pPr>
            <a:r>
              <a:rPr lang="en-IN" sz="1800" dirty="0">
                <a:latin typeface="+mn-lt"/>
              </a:rPr>
              <a:t>      - Check Config file here= C:\Users\&lt;user&gt;\.kube\config</a:t>
            </a:r>
          </a:p>
          <a:p>
            <a:pPr marL="0" indent="0">
              <a:buNone/>
            </a:pPr>
            <a:r>
              <a:rPr lang="en-US" sz="1800" i="1" dirty="0">
                <a:latin typeface="+mn-lt"/>
              </a:rPr>
              <a:t>      - To Access dashboard run the above command</a:t>
            </a:r>
            <a:endParaRPr lang="en-IN" sz="1800" dirty="0">
              <a:latin typeface="+mn-lt"/>
            </a:endParaRPr>
          </a:p>
          <a:p>
            <a:pPr marL="0" indent="0">
              <a:buNone/>
            </a:pPr>
            <a:r>
              <a:rPr lang="en-US" sz="1800" dirty="0">
                <a:latin typeface="+mn-lt"/>
              </a:rPr>
              <a:t>&gt; </a:t>
            </a:r>
            <a:r>
              <a:rPr lang="en-US" sz="1800" dirty="0" err="1">
                <a:latin typeface="+mn-lt"/>
              </a:rPr>
              <a:t>kubectl</a:t>
            </a:r>
            <a:r>
              <a:rPr lang="en-US" sz="1800" dirty="0">
                <a:latin typeface="+mn-lt"/>
              </a:rPr>
              <a:t> create </a:t>
            </a:r>
            <a:r>
              <a:rPr lang="en-US" sz="1800" dirty="0" err="1">
                <a:latin typeface="+mn-lt"/>
              </a:rPr>
              <a:t>serviceaccount</a:t>
            </a:r>
            <a:r>
              <a:rPr lang="en-US" sz="1800" dirty="0">
                <a:latin typeface="+mn-lt"/>
              </a:rPr>
              <a:t> dashboard-admin-</a:t>
            </a:r>
            <a:r>
              <a:rPr lang="en-US" sz="1800" dirty="0" err="1">
                <a:latin typeface="+mn-lt"/>
              </a:rPr>
              <a:t>sa</a:t>
            </a:r>
            <a:endParaRPr lang="en-US" sz="1800" dirty="0">
              <a:latin typeface="+mn-lt"/>
            </a:endParaRPr>
          </a:p>
          <a:p>
            <a:pPr marL="0" indent="0">
              <a:buNone/>
            </a:pPr>
            <a:r>
              <a:rPr lang="en-US" sz="1800" dirty="0">
                <a:latin typeface="+mn-lt"/>
              </a:rPr>
              <a:t>&gt; </a:t>
            </a:r>
            <a:r>
              <a:rPr lang="en-US" sz="1800" dirty="0" err="1">
                <a:latin typeface="+mn-lt"/>
              </a:rPr>
              <a:t>kubectl</a:t>
            </a:r>
            <a:r>
              <a:rPr lang="en-US" sz="1800" dirty="0">
                <a:latin typeface="+mn-lt"/>
              </a:rPr>
              <a:t> create </a:t>
            </a:r>
            <a:r>
              <a:rPr lang="en-US" sz="1800" dirty="0" err="1">
                <a:latin typeface="+mn-lt"/>
              </a:rPr>
              <a:t>clusterrolebinding</a:t>
            </a:r>
            <a:r>
              <a:rPr lang="en-US" sz="1800" dirty="0">
                <a:latin typeface="+mn-lt"/>
              </a:rPr>
              <a:t> dashboard-admin-</a:t>
            </a:r>
            <a:r>
              <a:rPr lang="en-US" sz="1800" dirty="0" err="1">
                <a:latin typeface="+mn-lt"/>
              </a:rPr>
              <a:t>sa</a:t>
            </a:r>
            <a:r>
              <a:rPr lang="en-US" sz="1800" dirty="0">
                <a:latin typeface="+mn-lt"/>
              </a:rPr>
              <a:t> --</a:t>
            </a:r>
            <a:r>
              <a:rPr lang="en-US" sz="1800" dirty="0" err="1">
                <a:latin typeface="+mn-lt"/>
              </a:rPr>
              <a:t>clusterrole</a:t>
            </a:r>
            <a:r>
              <a:rPr lang="en-US" sz="1800" dirty="0">
                <a:latin typeface="+mn-lt"/>
              </a:rPr>
              <a:t>=cluster-admin --</a:t>
            </a:r>
            <a:r>
              <a:rPr lang="en-US" sz="1800" dirty="0" err="1">
                <a:latin typeface="+mn-lt"/>
              </a:rPr>
              <a:t>serviceaccount</a:t>
            </a:r>
            <a:r>
              <a:rPr lang="en-US" sz="1800" dirty="0">
                <a:latin typeface="+mn-lt"/>
              </a:rPr>
              <a:t>=</a:t>
            </a:r>
            <a:r>
              <a:rPr lang="en-US" sz="1800" dirty="0" err="1">
                <a:latin typeface="+mn-lt"/>
              </a:rPr>
              <a:t>default:dashboard-admin-sa</a:t>
            </a:r>
            <a:endParaRPr lang="en-US" sz="1800" dirty="0">
              <a:latin typeface="+mn-lt"/>
            </a:endParaRPr>
          </a:p>
          <a:p>
            <a:pPr marL="0" indent="0">
              <a:buNone/>
            </a:pPr>
            <a:endParaRPr lang="en-IN" sz="1800" dirty="0">
              <a:latin typeface="+mn-lt"/>
            </a:endParaRPr>
          </a:p>
        </p:txBody>
      </p:sp>
      <p:sp>
        <p:nvSpPr>
          <p:cNvPr id="3" name="Content Placeholder 2">
            <a:extLst>
              <a:ext uri="{FF2B5EF4-FFF2-40B4-BE49-F238E27FC236}">
                <a16:creationId xmlns:a16="http://schemas.microsoft.com/office/drawing/2014/main" id="{A1D5E677-E832-D74E-F49B-32B9F5984360}"/>
              </a:ext>
            </a:extLst>
          </p:cNvPr>
          <p:cNvSpPr>
            <a:spLocks noGrp="1"/>
          </p:cNvSpPr>
          <p:nvPr>
            <p:ph sz="half" idx="10"/>
          </p:nvPr>
        </p:nvSpPr>
        <p:spPr/>
        <p:txBody>
          <a:bodyPr>
            <a:normAutofit fontScale="92500" lnSpcReduction="10000"/>
          </a:bodyPr>
          <a:lstStyle/>
          <a:p>
            <a:r>
              <a:rPr lang="en-US" sz="3600" dirty="0"/>
              <a:t>Configure Kubernetes Dashboard</a:t>
            </a:r>
            <a:endParaRPr lang="en-IN" sz="3600" dirty="0"/>
          </a:p>
        </p:txBody>
      </p:sp>
    </p:spTree>
    <p:extLst>
      <p:ext uri="{BB962C8B-B14F-4D97-AF65-F5344CB8AC3E}">
        <p14:creationId xmlns:p14="http://schemas.microsoft.com/office/powerpoint/2010/main" val="1254068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0EA5A0-47EF-48CF-B04B-A773C82E4E34}"/>
              </a:ext>
            </a:extLst>
          </p:cNvPr>
          <p:cNvSpPr>
            <a:spLocks noGrp="1"/>
          </p:cNvSpPr>
          <p:nvPr>
            <p:ph sz="half" idx="1"/>
          </p:nvPr>
        </p:nvSpPr>
        <p:spPr/>
        <p:txBody>
          <a:bodyPr>
            <a:normAutofit/>
          </a:bodyPr>
          <a:lstStyle/>
          <a:p>
            <a:pPr marL="0" indent="0">
              <a:buNone/>
            </a:pPr>
            <a:r>
              <a:rPr lang="en-IN" sz="1800" dirty="0">
                <a:latin typeface="+mn-lt"/>
              </a:rPr>
              <a:t>&gt; </a:t>
            </a:r>
            <a:r>
              <a:rPr lang="en-IN" sz="1800" dirty="0" err="1">
                <a:latin typeface="+mn-lt"/>
              </a:rPr>
              <a:t>kubectl</a:t>
            </a:r>
            <a:r>
              <a:rPr lang="en-IN" sz="1800" dirty="0">
                <a:latin typeface="+mn-lt"/>
              </a:rPr>
              <a:t> proxy </a:t>
            </a:r>
          </a:p>
          <a:p>
            <a:pPr marL="0" indent="0">
              <a:buNone/>
            </a:pPr>
            <a:r>
              <a:rPr lang="en-US" sz="1800" i="1" dirty="0">
                <a:latin typeface="+mn-lt"/>
              </a:rPr>
              <a:t>       - To Access dashboard run the above command and keep running</a:t>
            </a:r>
            <a:endParaRPr lang="en-IN" sz="1800" dirty="0">
              <a:latin typeface="+mn-lt"/>
            </a:endParaRPr>
          </a:p>
          <a:p>
            <a:pPr marL="0" indent="0">
              <a:buNone/>
            </a:pPr>
            <a:r>
              <a:rPr lang="en-US" sz="1800" dirty="0">
                <a:latin typeface="+mn-lt"/>
              </a:rPr>
              <a:t>&gt; </a:t>
            </a:r>
            <a:r>
              <a:rPr lang="en-US" sz="1800" dirty="0" err="1">
                <a:latin typeface="+mn-lt"/>
              </a:rPr>
              <a:t>kubectl</a:t>
            </a:r>
            <a:r>
              <a:rPr lang="en-US" sz="1800" dirty="0">
                <a:latin typeface="+mn-lt"/>
              </a:rPr>
              <a:t> create token dashboard-admin-</a:t>
            </a:r>
            <a:r>
              <a:rPr lang="en-US" sz="1800" dirty="0" err="1">
                <a:latin typeface="+mn-lt"/>
              </a:rPr>
              <a:t>sa</a:t>
            </a:r>
            <a:r>
              <a:rPr lang="en-US" sz="1800" dirty="0">
                <a:latin typeface="+mn-lt"/>
              </a:rPr>
              <a:t> -n default --duration 72h</a:t>
            </a:r>
          </a:p>
          <a:p>
            <a:pPr marL="0" indent="0">
              <a:buNone/>
            </a:pPr>
            <a:endParaRPr lang="en-US" sz="1800" dirty="0">
              <a:latin typeface="+mn-lt"/>
            </a:endParaRPr>
          </a:p>
          <a:p>
            <a:pPr marL="0" indent="0">
              <a:buNone/>
            </a:pPr>
            <a:endParaRPr lang="en-US" sz="1800" dirty="0">
              <a:latin typeface="+mn-lt"/>
            </a:endParaRPr>
          </a:p>
          <a:p>
            <a:pPr marL="0" indent="0">
              <a:buNone/>
            </a:pPr>
            <a:endParaRPr lang="en-US" sz="1800" dirty="0">
              <a:latin typeface="+mn-lt"/>
            </a:endParaRPr>
          </a:p>
          <a:p>
            <a:pPr marL="0" indent="0">
              <a:buNone/>
            </a:pPr>
            <a:endParaRPr lang="en-US" sz="1800" dirty="0">
              <a:latin typeface="+mn-lt"/>
            </a:endParaRPr>
          </a:p>
          <a:p>
            <a:pPr marL="0" indent="0">
              <a:buNone/>
            </a:pPr>
            <a:endParaRPr lang="en-US" sz="1800" dirty="0">
              <a:latin typeface="+mn-lt"/>
            </a:endParaRPr>
          </a:p>
          <a:p>
            <a:pPr marL="0" indent="0">
              <a:buNone/>
            </a:pPr>
            <a:r>
              <a:rPr lang="en-US" sz="1800" dirty="0">
                <a:latin typeface="+mn-lt"/>
              </a:rPr>
              <a:t>- Copy the token and enter it into the token field on the following Kubernetes dashboard login page.</a:t>
            </a:r>
          </a:p>
          <a:p>
            <a:pPr marL="0" indent="0">
              <a:buNone/>
            </a:pPr>
            <a:r>
              <a:rPr lang="en-IN" sz="1800" dirty="0">
                <a:latin typeface="+mn-lt"/>
              </a:rPr>
              <a:t>&gt;</a:t>
            </a:r>
            <a:r>
              <a:rPr lang="en-IN" sz="1800" b="1" dirty="0">
                <a:latin typeface="+mn-lt"/>
              </a:rPr>
              <a:t> K8s Dashboard Url</a:t>
            </a:r>
            <a:r>
              <a:rPr lang="en-IN" sz="1800" dirty="0">
                <a:latin typeface="+mn-lt"/>
              </a:rPr>
              <a:t>: http://localhost:8001/api/v1/namespaces/kubernetes-dashboard/services/https:kubernetes-dashboard:/proxy/</a:t>
            </a:r>
          </a:p>
        </p:txBody>
      </p:sp>
      <p:sp>
        <p:nvSpPr>
          <p:cNvPr id="3" name="Content Placeholder 2">
            <a:extLst>
              <a:ext uri="{FF2B5EF4-FFF2-40B4-BE49-F238E27FC236}">
                <a16:creationId xmlns:a16="http://schemas.microsoft.com/office/drawing/2014/main" id="{3F8C4092-4302-40F9-9FED-98E6F335C45B}"/>
              </a:ext>
            </a:extLst>
          </p:cNvPr>
          <p:cNvSpPr>
            <a:spLocks noGrp="1"/>
          </p:cNvSpPr>
          <p:nvPr>
            <p:ph sz="half" idx="10"/>
          </p:nvPr>
        </p:nvSpPr>
        <p:spPr/>
        <p:txBody>
          <a:bodyPr>
            <a:normAutofit fontScale="92500" lnSpcReduction="10000"/>
          </a:bodyPr>
          <a:lstStyle/>
          <a:p>
            <a:r>
              <a:rPr lang="en-US" sz="3600" dirty="0"/>
              <a:t>Accessing Kubernetes Dashboard</a:t>
            </a:r>
            <a:endParaRPr lang="en-IN" sz="3600" dirty="0"/>
          </a:p>
        </p:txBody>
      </p:sp>
      <p:pic>
        <p:nvPicPr>
          <p:cNvPr id="6" name="Picture 5">
            <a:extLst>
              <a:ext uri="{FF2B5EF4-FFF2-40B4-BE49-F238E27FC236}">
                <a16:creationId xmlns:a16="http://schemas.microsoft.com/office/drawing/2014/main" id="{09B19B93-16B3-D196-44D0-B990C7A783AC}"/>
              </a:ext>
            </a:extLst>
          </p:cNvPr>
          <p:cNvPicPr>
            <a:picLocks noChangeAspect="1"/>
          </p:cNvPicPr>
          <p:nvPr/>
        </p:nvPicPr>
        <p:blipFill>
          <a:blip r:embed="rId3"/>
          <a:stretch>
            <a:fillRect/>
          </a:stretch>
        </p:blipFill>
        <p:spPr>
          <a:xfrm>
            <a:off x="711200" y="2690413"/>
            <a:ext cx="6377354" cy="1477173"/>
          </a:xfrm>
          <a:prstGeom prst="rect">
            <a:avLst/>
          </a:prstGeom>
        </p:spPr>
      </p:pic>
    </p:spTree>
    <p:extLst>
      <p:ext uri="{BB962C8B-B14F-4D97-AF65-F5344CB8AC3E}">
        <p14:creationId xmlns:p14="http://schemas.microsoft.com/office/powerpoint/2010/main" val="2869022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E2B5F1-0124-4E29-961B-A0CEA54260D9}"/>
              </a:ext>
            </a:extLst>
          </p:cNvPr>
          <p:cNvSpPr>
            <a:spLocks noGrp="1"/>
          </p:cNvSpPr>
          <p:nvPr>
            <p:ph sz="half" idx="1"/>
          </p:nvPr>
        </p:nvSpPr>
        <p:spPr/>
        <p:txBody>
          <a:bodyPr>
            <a:normAutofit/>
          </a:bodyPr>
          <a:lstStyle/>
          <a:p>
            <a:pPr>
              <a:lnSpc>
                <a:spcPct val="110000"/>
              </a:lnSpc>
            </a:pPr>
            <a:r>
              <a:rPr lang="en-US" dirty="0"/>
              <a:t>YAML is a human friendly data serialization standard for all programming languages.</a:t>
            </a:r>
          </a:p>
          <a:p>
            <a:pPr>
              <a:lnSpc>
                <a:spcPct val="110000"/>
              </a:lnSpc>
            </a:pPr>
            <a:r>
              <a:rPr lang="en-US" dirty="0"/>
              <a:t>Used for defining configuration or in an application where data is being stored or transmitted.</a:t>
            </a:r>
          </a:p>
          <a:p>
            <a:pPr>
              <a:lnSpc>
                <a:spcPct val="110000"/>
              </a:lnSpc>
            </a:pPr>
            <a:r>
              <a:rPr lang="en-US" dirty="0"/>
              <a:t>YAML is introduced in 2001.</a:t>
            </a:r>
          </a:p>
          <a:p>
            <a:pPr>
              <a:lnSpc>
                <a:spcPct val="110000"/>
              </a:lnSpc>
            </a:pPr>
            <a:r>
              <a:rPr lang="en-US" dirty="0"/>
              <a:t>Extension are .</a:t>
            </a:r>
            <a:r>
              <a:rPr lang="en-US" dirty="0" err="1"/>
              <a:t>yml</a:t>
            </a:r>
            <a:r>
              <a:rPr lang="en-US" dirty="0"/>
              <a:t> or .</a:t>
            </a:r>
            <a:r>
              <a:rPr lang="en-US" dirty="0" err="1"/>
              <a:t>yaml</a:t>
            </a:r>
            <a:endParaRPr lang="en-US" dirty="0"/>
          </a:p>
          <a:p>
            <a:pPr>
              <a:lnSpc>
                <a:spcPct val="110000"/>
              </a:lnSpc>
            </a:pPr>
            <a:r>
              <a:rPr lang="en-US" dirty="0"/>
              <a:t>YAML is case sensitive.</a:t>
            </a:r>
          </a:p>
          <a:p>
            <a:pPr>
              <a:lnSpc>
                <a:spcPct val="110000"/>
              </a:lnSpc>
            </a:pPr>
            <a:r>
              <a:rPr lang="en-US" dirty="0"/>
              <a:t>YAML supports spaces instead of tabs.</a:t>
            </a:r>
            <a:endParaRPr lang="en-IN" dirty="0"/>
          </a:p>
        </p:txBody>
      </p:sp>
      <p:sp>
        <p:nvSpPr>
          <p:cNvPr id="3" name="Content Placeholder 2">
            <a:extLst>
              <a:ext uri="{FF2B5EF4-FFF2-40B4-BE49-F238E27FC236}">
                <a16:creationId xmlns:a16="http://schemas.microsoft.com/office/drawing/2014/main" id="{CCB3D7CD-BCE7-4487-B353-A4481DFB5D5D}"/>
              </a:ext>
            </a:extLst>
          </p:cNvPr>
          <p:cNvSpPr>
            <a:spLocks noGrp="1"/>
          </p:cNvSpPr>
          <p:nvPr>
            <p:ph sz="half" idx="10"/>
          </p:nvPr>
        </p:nvSpPr>
        <p:spPr/>
        <p:txBody>
          <a:bodyPr/>
          <a:lstStyle/>
          <a:p>
            <a:r>
              <a:rPr lang="en-IN" dirty="0"/>
              <a:t>YAML</a:t>
            </a:r>
          </a:p>
        </p:txBody>
      </p:sp>
    </p:spTree>
    <p:extLst>
      <p:ext uri="{BB962C8B-B14F-4D97-AF65-F5344CB8AC3E}">
        <p14:creationId xmlns:p14="http://schemas.microsoft.com/office/powerpoint/2010/main" val="1438893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3894F4-A61E-4A1D-80AD-8F5DAB04DBA9}"/>
              </a:ext>
            </a:extLst>
          </p:cNvPr>
          <p:cNvSpPr>
            <a:spLocks noGrp="1"/>
          </p:cNvSpPr>
          <p:nvPr>
            <p:ph sz="half" idx="10"/>
          </p:nvPr>
        </p:nvSpPr>
        <p:spPr/>
        <p:txBody>
          <a:bodyPr/>
          <a:lstStyle/>
          <a:p>
            <a:r>
              <a:rPr lang="en-IN" dirty="0"/>
              <a:t>XML vs. JSON vs. YAML</a:t>
            </a:r>
          </a:p>
        </p:txBody>
      </p:sp>
      <p:sp>
        <p:nvSpPr>
          <p:cNvPr id="4" name="Rectangle 3">
            <a:extLst>
              <a:ext uri="{FF2B5EF4-FFF2-40B4-BE49-F238E27FC236}">
                <a16:creationId xmlns:a16="http://schemas.microsoft.com/office/drawing/2014/main" id="{10D13F71-2310-432D-89F9-96DBE3D91910}"/>
              </a:ext>
            </a:extLst>
          </p:cNvPr>
          <p:cNvSpPr/>
          <p:nvPr/>
        </p:nvSpPr>
        <p:spPr>
          <a:xfrm>
            <a:off x="549018" y="2238118"/>
            <a:ext cx="3597019" cy="2031325"/>
          </a:xfrm>
          <a:prstGeom prst="rect">
            <a:avLst/>
          </a:prstGeom>
          <a:solidFill>
            <a:schemeClr val="tx1">
              <a:lumMod val="85000"/>
              <a:lumOff val="15000"/>
            </a:schemeClr>
          </a:solidFill>
        </p:spPr>
        <p:txBody>
          <a:bodyPr wrap="square">
            <a:spAutoFit/>
          </a:bodyPr>
          <a:lstStyle/>
          <a:p>
            <a:r>
              <a:rPr lang="en-IN" sz="1400" dirty="0">
                <a:solidFill>
                  <a:srgbClr val="89DDFF"/>
                </a:solidFill>
                <a:latin typeface="Consolas" panose="020B0609020204030204" pitchFamily="49" charset="0"/>
              </a:rPr>
              <a:t>&lt;</a:t>
            </a:r>
            <a:r>
              <a:rPr lang="en-IN" sz="1400" dirty="0">
                <a:solidFill>
                  <a:srgbClr val="F07178"/>
                </a:solidFill>
                <a:latin typeface="Consolas" panose="020B0609020204030204" pitchFamily="49" charset="0"/>
              </a:rPr>
              <a:t>Servers</a:t>
            </a:r>
            <a:r>
              <a:rPr lang="en-IN" sz="1400" dirty="0">
                <a:solidFill>
                  <a:srgbClr val="89DDFF"/>
                </a:solidFill>
                <a:latin typeface="Consolas" panose="020B0609020204030204" pitchFamily="49" charset="0"/>
              </a:rPr>
              <a:t>&gt;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&lt;</a:t>
            </a:r>
            <a:r>
              <a:rPr lang="en-IN" sz="1400" dirty="0">
                <a:solidFill>
                  <a:srgbClr val="F07178"/>
                </a:solidFill>
                <a:latin typeface="Consolas" panose="020B0609020204030204" pitchFamily="49" charset="0"/>
              </a:rPr>
              <a:t>Server</a:t>
            </a:r>
            <a:r>
              <a:rPr lang="en-IN" sz="1400" dirty="0">
                <a:solidFill>
                  <a:srgbClr val="89DDFF"/>
                </a:solidFill>
                <a:latin typeface="Consolas" panose="020B0609020204030204" pitchFamily="49" charset="0"/>
              </a:rPr>
              <a:t>&gt;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&lt;</a:t>
            </a:r>
            <a:r>
              <a:rPr lang="en-IN" sz="1400" dirty="0">
                <a:solidFill>
                  <a:srgbClr val="F07178"/>
                </a:solidFill>
                <a:latin typeface="Consolas" panose="020B0609020204030204" pitchFamily="49" charset="0"/>
              </a:rPr>
              <a:t>name</a:t>
            </a:r>
            <a:r>
              <a:rPr lang="en-IN" sz="1400" dirty="0">
                <a:solidFill>
                  <a:srgbClr val="89DDFF"/>
                </a:solidFill>
                <a:latin typeface="Consolas" panose="020B0609020204030204" pitchFamily="49" charset="0"/>
              </a:rPr>
              <a:t>&gt;</a:t>
            </a:r>
            <a:r>
              <a:rPr lang="en-IN" sz="1400" dirty="0">
                <a:solidFill>
                  <a:srgbClr val="EEFFFF"/>
                </a:solidFill>
                <a:latin typeface="Consolas" panose="020B0609020204030204" pitchFamily="49" charset="0"/>
              </a:rPr>
              <a:t>server1</a:t>
            </a:r>
            <a:r>
              <a:rPr lang="en-IN" sz="1400" dirty="0">
                <a:solidFill>
                  <a:srgbClr val="89DDFF"/>
                </a:solidFill>
                <a:latin typeface="Consolas" panose="020B0609020204030204" pitchFamily="49" charset="0"/>
              </a:rPr>
              <a:t>&lt;/</a:t>
            </a:r>
            <a:r>
              <a:rPr lang="en-IN" sz="1400" dirty="0">
                <a:solidFill>
                  <a:srgbClr val="F07178"/>
                </a:solidFill>
                <a:latin typeface="Consolas" panose="020B0609020204030204" pitchFamily="49" charset="0"/>
              </a:rPr>
              <a:t>name</a:t>
            </a:r>
            <a:r>
              <a:rPr lang="en-IN" sz="1400" dirty="0">
                <a:solidFill>
                  <a:srgbClr val="89DDFF"/>
                </a:solidFill>
                <a:latin typeface="Consolas" panose="020B0609020204030204" pitchFamily="49" charset="0"/>
              </a:rPr>
              <a:t>&gt;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&lt;</a:t>
            </a:r>
            <a:r>
              <a:rPr lang="en-IN" sz="1400" dirty="0">
                <a:solidFill>
                  <a:srgbClr val="F07178"/>
                </a:solidFill>
                <a:latin typeface="Consolas" panose="020B0609020204030204" pitchFamily="49" charset="0"/>
              </a:rPr>
              <a:t>location</a:t>
            </a:r>
            <a:r>
              <a:rPr lang="en-IN" sz="1400" dirty="0">
                <a:solidFill>
                  <a:srgbClr val="89DDFF"/>
                </a:solidFill>
                <a:latin typeface="Consolas" panose="020B0609020204030204" pitchFamily="49" charset="0"/>
              </a:rPr>
              <a:t>&gt;</a:t>
            </a:r>
            <a:r>
              <a:rPr lang="en-IN" sz="1400" dirty="0" err="1">
                <a:solidFill>
                  <a:srgbClr val="EEFFFF"/>
                </a:solidFill>
                <a:latin typeface="Consolas" panose="020B0609020204030204" pitchFamily="49" charset="0"/>
              </a:rPr>
              <a:t>india</a:t>
            </a:r>
            <a:r>
              <a:rPr lang="en-IN" sz="1400" dirty="0">
                <a:solidFill>
                  <a:srgbClr val="89DDFF"/>
                </a:solidFill>
                <a:latin typeface="Consolas" panose="020B0609020204030204" pitchFamily="49" charset="0"/>
              </a:rPr>
              <a:t>&lt;/</a:t>
            </a:r>
            <a:r>
              <a:rPr lang="en-IN" sz="1400" dirty="0">
                <a:solidFill>
                  <a:srgbClr val="F07178"/>
                </a:solidFill>
                <a:latin typeface="Consolas" panose="020B0609020204030204" pitchFamily="49" charset="0"/>
              </a:rPr>
              <a:t>location</a:t>
            </a:r>
            <a:r>
              <a:rPr lang="en-IN" sz="1400" dirty="0">
                <a:solidFill>
                  <a:srgbClr val="89DDFF"/>
                </a:solidFill>
                <a:latin typeface="Consolas" panose="020B0609020204030204" pitchFamily="49" charset="0"/>
              </a:rPr>
              <a:t>&gt;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&lt;</a:t>
            </a:r>
            <a:r>
              <a:rPr lang="en-IN" sz="1400" dirty="0">
                <a:solidFill>
                  <a:srgbClr val="F07178"/>
                </a:solidFill>
                <a:latin typeface="Consolas" panose="020B0609020204030204" pitchFamily="49" charset="0"/>
              </a:rPr>
              <a:t>status</a:t>
            </a:r>
            <a:r>
              <a:rPr lang="en-IN" sz="1400" dirty="0">
                <a:solidFill>
                  <a:srgbClr val="89DDFF"/>
                </a:solidFill>
                <a:latin typeface="Consolas" panose="020B0609020204030204" pitchFamily="49" charset="0"/>
              </a:rPr>
              <a:t>&gt;</a:t>
            </a:r>
            <a:r>
              <a:rPr lang="en-IN" sz="1400" dirty="0">
                <a:solidFill>
                  <a:srgbClr val="EEFFFF"/>
                </a:solidFill>
                <a:latin typeface="Consolas" panose="020B0609020204030204" pitchFamily="49" charset="0"/>
              </a:rPr>
              <a:t>active</a:t>
            </a:r>
            <a:r>
              <a:rPr lang="en-IN" sz="1400" dirty="0">
                <a:solidFill>
                  <a:srgbClr val="89DDFF"/>
                </a:solidFill>
                <a:latin typeface="Consolas" panose="020B0609020204030204" pitchFamily="49" charset="0"/>
              </a:rPr>
              <a:t>&lt;/</a:t>
            </a:r>
            <a:r>
              <a:rPr lang="en-IN" sz="1400" dirty="0">
                <a:solidFill>
                  <a:srgbClr val="F07178"/>
                </a:solidFill>
                <a:latin typeface="Consolas" panose="020B0609020204030204" pitchFamily="49" charset="0"/>
              </a:rPr>
              <a:t>status</a:t>
            </a:r>
            <a:r>
              <a:rPr lang="en-IN" sz="1400" dirty="0">
                <a:solidFill>
                  <a:srgbClr val="89DDFF"/>
                </a:solidFill>
                <a:latin typeface="Consolas" panose="020B0609020204030204" pitchFamily="49" charset="0"/>
              </a:rPr>
              <a:t>&gt;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&lt;/</a:t>
            </a:r>
            <a:r>
              <a:rPr lang="en-IN" sz="1400" dirty="0">
                <a:solidFill>
                  <a:srgbClr val="F07178"/>
                </a:solidFill>
                <a:latin typeface="Consolas" panose="020B0609020204030204" pitchFamily="49" charset="0"/>
              </a:rPr>
              <a:t>Server</a:t>
            </a:r>
            <a:r>
              <a:rPr lang="en-IN" sz="1400" dirty="0">
                <a:solidFill>
                  <a:srgbClr val="89DDFF"/>
                </a:solidFill>
                <a:latin typeface="Consolas" panose="020B0609020204030204" pitchFamily="49" charset="0"/>
              </a:rPr>
              <a:t>&gt;</a:t>
            </a:r>
            <a:endParaRPr lang="en-IN" sz="1400" dirty="0">
              <a:solidFill>
                <a:srgbClr val="EEFFFF"/>
              </a:solidFill>
              <a:latin typeface="Consolas" panose="020B0609020204030204" pitchFamily="49" charset="0"/>
            </a:endParaRPr>
          </a:p>
          <a:p>
            <a:r>
              <a:rPr lang="en-IN" sz="1400" dirty="0">
                <a:solidFill>
                  <a:srgbClr val="89DDFF"/>
                </a:solidFill>
                <a:latin typeface="Consolas" panose="020B0609020204030204" pitchFamily="49" charset="0"/>
              </a:rPr>
              <a:t>&lt;/</a:t>
            </a:r>
            <a:r>
              <a:rPr lang="en-IN" sz="1400" dirty="0">
                <a:solidFill>
                  <a:srgbClr val="F07178"/>
                </a:solidFill>
                <a:latin typeface="Consolas" panose="020B0609020204030204" pitchFamily="49" charset="0"/>
              </a:rPr>
              <a:t>Servers</a:t>
            </a:r>
            <a:r>
              <a:rPr lang="en-IN" sz="1400" dirty="0">
                <a:solidFill>
                  <a:srgbClr val="89DDFF"/>
                </a:solidFill>
                <a:latin typeface="Consolas" panose="020B0609020204030204" pitchFamily="49" charset="0"/>
              </a:rPr>
              <a:t>&gt;</a:t>
            </a:r>
          </a:p>
          <a:p>
            <a:endParaRPr lang="en-IN" sz="1400" b="0" dirty="0">
              <a:solidFill>
                <a:srgbClr val="89DDFF"/>
              </a:solidFill>
              <a:effectLst/>
              <a:latin typeface="Consolas" panose="020B0609020204030204" pitchFamily="49" charset="0"/>
            </a:endParaRPr>
          </a:p>
          <a:p>
            <a:endParaRPr lang="en-IN" sz="1400" b="0" dirty="0">
              <a:solidFill>
                <a:srgbClr val="EEFFFF"/>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453BBAEC-E39F-4A72-889D-CD5B0E9D63F3}"/>
              </a:ext>
            </a:extLst>
          </p:cNvPr>
          <p:cNvSpPr/>
          <p:nvPr/>
        </p:nvSpPr>
        <p:spPr>
          <a:xfrm>
            <a:off x="4536030" y="2238118"/>
            <a:ext cx="3795801" cy="2031325"/>
          </a:xfrm>
          <a:prstGeom prst="rect">
            <a:avLst/>
          </a:prstGeom>
          <a:solidFill>
            <a:schemeClr val="tx1">
              <a:lumMod val="85000"/>
              <a:lumOff val="15000"/>
            </a:schemeClr>
          </a:solidFill>
        </p:spPr>
        <p:txBody>
          <a:bodyPr wrap="square">
            <a:spAutoFit/>
          </a:bodyPr>
          <a:lstStyle/>
          <a:p>
            <a:r>
              <a:rPr lang="en-IN" sz="1400" dirty="0">
                <a:solidFill>
                  <a:srgbClr val="89DDFF"/>
                </a:solidFill>
                <a:latin typeface="Consolas" panose="020B0609020204030204" pitchFamily="49" charset="0"/>
              </a:rPr>
              <a: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r>
              <a:rPr lang="en-IN" sz="1400" dirty="0">
                <a:solidFill>
                  <a:srgbClr val="C792EA"/>
                </a:solidFill>
                <a:latin typeface="Consolas" panose="020B0609020204030204" pitchFamily="49" charset="0"/>
              </a:rPr>
              <a:t>Servers</a:t>
            </a:r>
            <a:r>
              <a:rPr lang="en-IN" sz="1400" dirty="0">
                <a:solidFill>
                  <a:srgbClr val="89DDFF"/>
                </a:solidFill>
                <a:latin typeface="Consolas" panose="020B0609020204030204" pitchFamily="49" charset="0"/>
              </a:rPr>
              <a:t>":</a:t>
            </a:r>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r>
              <a:rPr lang="en-IN" sz="1400" dirty="0">
                <a:solidFill>
                  <a:srgbClr val="C3E88D"/>
                </a:solidFill>
                <a:latin typeface="Consolas" panose="020B0609020204030204" pitchFamily="49" charset="0"/>
              </a:rPr>
              <a:t>Server</a:t>
            </a:r>
            <a:r>
              <a:rPr lang="en-IN" sz="1400" dirty="0">
                <a:solidFill>
                  <a:srgbClr val="89DDFF"/>
                </a:solidFill>
                <a:latin typeface="Consolas" panose="020B0609020204030204" pitchFamily="49" charset="0"/>
              </a:rPr>
              <a:t>"</a:t>
            </a:r>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r>
              <a:rPr lang="en-IN" sz="1400" dirty="0">
                <a:solidFill>
                  <a:srgbClr val="FFCB6B"/>
                </a:solidFill>
                <a:latin typeface="Consolas" panose="020B0609020204030204" pitchFamily="49" charset="0"/>
              </a:rPr>
              <a:t>name</a:t>
            </a:r>
            <a:r>
              <a:rPr lang="en-IN" sz="1400" dirty="0">
                <a:solidFill>
                  <a:srgbClr val="89DDFF"/>
                </a:solidFill>
                <a:latin typeface="Consolas" panose="020B0609020204030204" pitchFamily="49" charset="0"/>
              </a:rPr>
              <a:t>":</a:t>
            </a:r>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r>
              <a:rPr lang="en-IN" sz="1400" dirty="0">
                <a:solidFill>
                  <a:srgbClr val="C3E88D"/>
                </a:solidFill>
                <a:latin typeface="Consolas" panose="020B0609020204030204" pitchFamily="49" charset="0"/>
              </a:rPr>
              <a:t>server1</a:t>
            </a:r>
            <a:r>
              <a:rPr lang="en-IN" sz="1400" dirty="0">
                <a:solidFill>
                  <a:srgbClr val="89DDFF"/>
                </a:solidFill>
                <a:latin typeface="Consolas" panose="020B0609020204030204" pitchFamily="49" charset="0"/>
              </a:rPr>
              <a: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r>
              <a:rPr lang="en-IN" sz="1400" dirty="0">
                <a:solidFill>
                  <a:srgbClr val="FFCB6B"/>
                </a:solidFill>
                <a:latin typeface="Consolas" panose="020B0609020204030204" pitchFamily="49" charset="0"/>
              </a:rPr>
              <a:t>location</a:t>
            </a:r>
            <a:r>
              <a:rPr lang="en-IN" sz="1400" dirty="0">
                <a:solidFill>
                  <a:srgbClr val="89DDFF"/>
                </a:solidFill>
                <a:latin typeface="Consolas" panose="020B0609020204030204" pitchFamily="49" charset="0"/>
              </a:rPr>
              <a:t>":</a:t>
            </a:r>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r>
              <a:rPr lang="en-IN" sz="1400" dirty="0" err="1">
                <a:solidFill>
                  <a:srgbClr val="C3E88D"/>
                </a:solidFill>
                <a:latin typeface="Consolas" panose="020B0609020204030204" pitchFamily="49" charset="0"/>
              </a:rPr>
              <a:t>india</a:t>
            </a:r>
            <a:r>
              <a:rPr lang="en-IN" sz="1400" dirty="0">
                <a:solidFill>
                  <a:srgbClr val="89DDFF"/>
                </a:solidFill>
                <a:latin typeface="Consolas" panose="020B0609020204030204" pitchFamily="49" charset="0"/>
              </a:rPr>
              <a: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r>
              <a:rPr lang="en-IN" sz="1400" dirty="0">
                <a:solidFill>
                  <a:srgbClr val="FFCB6B"/>
                </a:solidFill>
                <a:latin typeface="Consolas" panose="020B0609020204030204" pitchFamily="49" charset="0"/>
              </a:rPr>
              <a:t>status</a:t>
            </a:r>
            <a:r>
              <a:rPr lang="en-IN" sz="1400" dirty="0">
                <a:solidFill>
                  <a:srgbClr val="89DDFF"/>
                </a:solidFill>
                <a:latin typeface="Consolas" panose="020B0609020204030204" pitchFamily="49" charset="0"/>
              </a:rPr>
              <a:t>":</a:t>
            </a:r>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r>
              <a:rPr lang="en-IN" sz="1400" dirty="0">
                <a:solidFill>
                  <a:srgbClr val="C3E88D"/>
                </a:solidFill>
                <a:latin typeface="Consolas" panose="020B0609020204030204" pitchFamily="49" charset="0"/>
              </a:rPr>
              <a:t>active</a:t>
            </a:r>
            <a:r>
              <a:rPr lang="en-IN" sz="1400" dirty="0">
                <a:solidFill>
                  <a:srgbClr val="89DDFF"/>
                </a:solidFill>
                <a:latin typeface="Consolas" panose="020B0609020204030204" pitchFamily="49" charset="0"/>
              </a:rPr>
              <a: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endParaRPr lang="en-IN" sz="1400" dirty="0">
              <a:solidFill>
                <a:srgbClr val="EEFFFF"/>
              </a:solidFill>
              <a:latin typeface="Consolas" panose="020B0609020204030204" pitchFamily="49" charset="0"/>
            </a:endParaRPr>
          </a:p>
          <a:p>
            <a:r>
              <a:rPr lang="en-IN" sz="1400" dirty="0">
                <a:solidFill>
                  <a:srgbClr val="EEFFFF"/>
                </a:solidFill>
                <a:latin typeface="Consolas" panose="020B0609020204030204" pitchFamily="49" charset="0"/>
              </a:rPr>
              <a:t>    </a:t>
            </a:r>
            <a:r>
              <a:rPr lang="en-IN" sz="1400" dirty="0">
                <a:solidFill>
                  <a:srgbClr val="89DDFF"/>
                </a:solidFill>
                <a:latin typeface="Consolas" panose="020B0609020204030204" pitchFamily="49" charset="0"/>
              </a:rPr>
              <a:t>]</a:t>
            </a:r>
            <a:endParaRPr lang="en-IN" sz="1400" dirty="0">
              <a:solidFill>
                <a:srgbClr val="EEFFFF"/>
              </a:solidFill>
              <a:latin typeface="Consolas" panose="020B0609020204030204" pitchFamily="49" charset="0"/>
            </a:endParaRPr>
          </a:p>
          <a:p>
            <a:r>
              <a:rPr lang="en-IN" sz="1400" dirty="0">
                <a:solidFill>
                  <a:srgbClr val="89DDFF"/>
                </a:solidFill>
                <a:latin typeface="Consolas" panose="020B0609020204030204" pitchFamily="49" charset="0"/>
              </a:rPr>
              <a:t>}</a:t>
            </a:r>
            <a:endParaRPr lang="en-IN" sz="1400" b="0" dirty="0">
              <a:solidFill>
                <a:srgbClr val="EEFFFF"/>
              </a:solidFill>
              <a:effectLst/>
              <a:latin typeface="Consolas" panose="020B0609020204030204" pitchFamily="49" charset="0"/>
            </a:endParaRPr>
          </a:p>
        </p:txBody>
      </p:sp>
      <p:sp>
        <p:nvSpPr>
          <p:cNvPr id="2" name="Rectangle 1">
            <a:extLst>
              <a:ext uri="{FF2B5EF4-FFF2-40B4-BE49-F238E27FC236}">
                <a16:creationId xmlns:a16="http://schemas.microsoft.com/office/drawing/2014/main" id="{3CFD3E9B-B321-4C26-A317-0B680A9EC585}"/>
              </a:ext>
            </a:extLst>
          </p:cNvPr>
          <p:cNvSpPr/>
          <p:nvPr/>
        </p:nvSpPr>
        <p:spPr>
          <a:xfrm>
            <a:off x="8663135" y="2210114"/>
            <a:ext cx="3218386" cy="2031325"/>
          </a:xfrm>
          <a:prstGeom prst="rect">
            <a:avLst/>
          </a:prstGeom>
          <a:solidFill>
            <a:schemeClr val="tx1">
              <a:lumMod val="85000"/>
              <a:lumOff val="15000"/>
            </a:schemeClr>
          </a:solidFill>
        </p:spPr>
        <p:txBody>
          <a:bodyPr wrap="square">
            <a:spAutoFit/>
          </a:bodyPr>
          <a:lstStyle/>
          <a:p>
            <a:r>
              <a:rPr lang="en-IN" dirty="0">
                <a:solidFill>
                  <a:srgbClr val="F07178"/>
                </a:solidFill>
                <a:latin typeface="Consolas" panose="020B0609020204030204" pitchFamily="49" charset="0"/>
              </a:rPr>
              <a:t>Servers</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name</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server1</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location</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err="1">
                <a:solidFill>
                  <a:srgbClr val="C3E88D"/>
                </a:solidFill>
                <a:latin typeface="Consolas" panose="020B0609020204030204" pitchFamily="49" charset="0"/>
              </a:rPr>
              <a:t>india</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status</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active</a:t>
            </a:r>
          </a:p>
          <a:p>
            <a:endParaRPr lang="en-IN" b="0" dirty="0">
              <a:solidFill>
                <a:srgbClr val="C3E88D"/>
              </a:solidFill>
              <a:effectLst/>
              <a:latin typeface="Consolas" panose="020B0609020204030204" pitchFamily="49" charset="0"/>
            </a:endParaRPr>
          </a:p>
          <a:p>
            <a:endParaRPr lang="en-IN" dirty="0">
              <a:solidFill>
                <a:srgbClr val="C3E88D"/>
              </a:solidFill>
              <a:latin typeface="Consolas" panose="020B0609020204030204" pitchFamily="49" charset="0"/>
            </a:endParaRPr>
          </a:p>
          <a:p>
            <a:endParaRPr lang="en-IN" b="0" dirty="0">
              <a:solidFill>
                <a:srgbClr val="EEFFFF"/>
              </a:solidFill>
              <a:effectLst/>
              <a:latin typeface="Consolas" panose="020B0609020204030204" pitchFamily="49" charset="0"/>
            </a:endParaRPr>
          </a:p>
        </p:txBody>
      </p:sp>
    </p:spTree>
    <p:extLst>
      <p:ext uri="{BB962C8B-B14F-4D97-AF65-F5344CB8AC3E}">
        <p14:creationId xmlns:p14="http://schemas.microsoft.com/office/powerpoint/2010/main" val="595449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3894F4-A61E-4A1D-80AD-8F5DAB04DBA9}"/>
              </a:ext>
            </a:extLst>
          </p:cNvPr>
          <p:cNvSpPr>
            <a:spLocks noGrp="1"/>
          </p:cNvSpPr>
          <p:nvPr>
            <p:ph sz="half" idx="10"/>
          </p:nvPr>
        </p:nvSpPr>
        <p:spPr/>
        <p:txBody>
          <a:bodyPr/>
          <a:lstStyle/>
          <a:p>
            <a:r>
              <a:rPr lang="en-IN" dirty="0"/>
              <a:t>YAML in Action</a:t>
            </a:r>
          </a:p>
        </p:txBody>
      </p:sp>
      <p:grpSp>
        <p:nvGrpSpPr>
          <p:cNvPr id="13" name="Group 12">
            <a:extLst>
              <a:ext uri="{FF2B5EF4-FFF2-40B4-BE49-F238E27FC236}">
                <a16:creationId xmlns:a16="http://schemas.microsoft.com/office/drawing/2014/main" id="{0C18F034-B04A-402A-A2BA-D60CF46FBFA2}"/>
              </a:ext>
            </a:extLst>
          </p:cNvPr>
          <p:cNvGrpSpPr/>
          <p:nvPr/>
        </p:nvGrpSpPr>
        <p:grpSpPr>
          <a:xfrm>
            <a:off x="4497728" y="1634317"/>
            <a:ext cx="3113190" cy="1711383"/>
            <a:chOff x="635282" y="2018858"/>
            <a:chExt cx="3113190" cy="1711383"/>
          </a:xfrm>
        </p:grpSpPr>
        <p:sp>
          <p:nvSpPr>
            <p:cNvPr id="6" name="Rectangle 5">
              <a:extLst>
                <a:ext uri="{FF2B5EF4-FFF2-40B4-BE49-F238E27FC236}">
                  <a16:creationId xmlns:a16="http://schemas.microsoft.com/office/drawing/2014/main" id="{C8086795-1376-4BC5-A8D4-26AF8C4EEEBB}"/>
                </a:ext>
              </a:extLst>
            </p:cNvPr>
            <p:cNvSpPr/>
            <p:nvPr/>
          </p:nvSpPr>
          <p:spPr>
            <a:xfrm>
              <a:off x="635282" y="2018858"/>
              <a:ext cx="3113190" cy="1200329"/>
            </a:xfrm>
            <a:prstGeom prst="rect">
              <a:avLst/>
            </a:prstGeom>
            <a:solidFill>
              <a:schemeClr val="tx1">
                <a:lumMod val="85000"/>
                <a:lumOff val="15000"/>
              </a:schemeClr>
            </a:solidFill>
          </p:spPr>
          <p:txBody>
            <a:bodyPr wrap="square">
              <a:spAutoFit/>
            </a:bodyPr>
            <a:lstStyle/>
            <a:p>
              <a:r>
                <a:rPr lang="en-IN" dirty="0">
                  <a:solidFill>
                    <a:srgbClr val="F07178"/>
                  </a:solidFill>
                  <a:latin typeface="Consolas" panose="020B0609020204030204" pitchFamily="49" charset="0"/>
                </a:rPr>
                <a:t>name</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server1</a:t>
              </a:r>
              <a:endParaRPr lang="en-IN" dirty="0">
                <a:solidFill>
                  <a:srgbClr val="EEFFFF"/>
                </a:solidFill>
                <a:latin typeface="Consolas" panose="020B0609020204030204" pitchFamily="49" charset="0"/>
              </a:endParaRPr>
            </a:p>
            <a:p>
              <a:r>
                <a:rPr lang="en-IN" dirty="0">
                  <a:solidFill>
                    <a:srgbClr val="F07178"/>
                  </a:solidFill>
                  <a:latin typeface="Consolas" panose="020B0609020204030204" pitchFamily="49" charset="0"/>
                </a:rPr>
                <a:t>location</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err="1">
                  <a:solidFill>
                    <a:srgbClr val="C3E88D"/>
                  </a:solidFill>
                  <a:latin typeface="Consolas" panose="020B0609020204030204" pitchFamily="49" charset="0"/>
                </a:rPr>
                <a:t>india</a:t>
              </a:r>
              <a:endParaRPr lang="en-IN" dirty="0">
                <a:solidFill>
                  <a:srgbClr val="EEFFFF"/>
                </a:solidFill>
                <a:latin typeface="Consolas" panose="020B0609020204030204" pitchFamily="49" charset="0"/>
              </a:endParaRPr>
            </a:p>
            <a:p>
              <a:r>
                <a:rPr lang="en-IN" dirty="0">
                  <a:solidFill>
                    <a:srgbClr val="F07178"/>
                  </a:solidFill>
                  <a:latin typeface="Consolas" panose="020B0609020204030204" pitchFamily="49" charset="0"/>
                </a:rPr>
                <a:t>status</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active</a:t>
              </a:r>
            </a:p>
            <a:p>
              <a:endParaRPr lang="en-IN" b="0" dirty="0">
                <a:solidFill>
                  <a:srgbClr val="EEFFFF"/>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23E4FD2-BB9C-45C1-B4E6-8195E54D946A}"/>
                </a:ext>
              </a:extLst>
            </p:cNvPr>
            <p:cNvSpPr txBox="1"/>
            <p:nvPr/>
          </p:nvSpPr>
          <p:spPr>
            <a:xfrm>
              <a:off x="809047" y="3360909"/>
              <a:ext cx="1212191" cy="369332"/>
            </a:xfrm>
            <a:prstGeom prst="rect">
              <a:avLst/>
            </a:prstGeom>
            <a:noFill/>
          </p:spPr>
          <p:txBody>
            <a:bodyPr wrap="none" rtlCol="0">
              <a:spAutoFit/>
            </a:bodyPr>
            <a:lstStyle/>
            <a:p>
              <a:r>
                <a:rPr lang="en-IN" dirty="0">
                  <a:solidFill>
                    <a:schemeClr val="tx2">
                      <a:lumMod val="10000"/>
                      <a:lumOff val="90000"/>
                    </a:schemeClr>
                  </a:solidFill>
                </a:rPr>
                <a:t>Key/Value</a:t>
              </a:r>
            </a:p>
          </p:txBody>
        </p:sp>
      </p:grpSp>
      <p:grpSp>
        <p:nvGrpSpPr>
          <p:cNvPr id="12" name="Group 11">
            <a:extLst>
              <a:ext uri="{FF2B5EF4-FFF2-40B4-BE49-F238E27FC236}">
                <a16:creationId xmlns:a16="http://schemas.microsoft.com/office/drawing/2014/main" id="{3D189ECA-A5DD-4F3D-9454-B501876F7907}"/>
              </a:ext>
            </a:extLst>
          </p:cNvPr>
          <p:cNvGrpSpPr/>
          <p:nvPr/>
        </p:nvGrpSpPr>
        <p:grpSpPr>
          <a:xfrm>
            <a:off x="8629881" y="1597421"/>
            <a:ext cx="2926837" cy="1748279"/>
            <a:chOff x="3610271" y="2025447"/>
            <a:chExt cx="2926837" cy="1748279"/>
          </a:xfrm>
        </p:grpSpPr>
        <p:sp>
          <p:nvSpPr>
            <p:cNvPr id="8" name="Rectangle 7">
              <a:extLst>
                <a:ext uri="{FF2B5EF4-FFF2-40B4-BE49-F238E27FC236}">
                  <a16:creationId xmlns:a16="http://schemas.microsoft.com/office/drawing/2014/main" id="{038C9B4D-D9AA-4BE7-A59D-09CC61B57E9E}"/>
                </a:ext>
              </a:extLst>
            </p:cNvPr>
            <p:cNvSpPr/>
            <p:nvPr/>
          </p:nvSpPr>
          <p:spPr>
            <a:xfrm>
              <a:off x="3610271" y="2025447"/>
              <a:ext cx="2926837" cy="1200329"/>
            </a:xfrm>
            <a:prstGeom prst="rect">
              <a:avLst/>
            </a:prstGeom>
            <a:solidFill>
              <a:schemeClr val="tx1">
                <a:lumMod val="85000"/>
                <a:lumOff val="15000"/>
              </a:schemeClr>
            </a:solidFill>
          </p:spPr>
          <p:txBody>
            <a:bodyPr wrap="square">
              <a:spAutoFit/>
            </a:bodyPr>
            <a:lstStyle/>
            <a:p>
              <a:r>
                <a:rPr lang="en-IN" dirty="0">
                  <a:solidFill>
                    <a:srgbClr val="F07178"/>
                  </a:solidFill>
                  <a:latin typeface="Consolas" panose="020B0609020204030204" pitchFamily="49" charset="0"/>
                </a:rPr>
                <a:t>Servers</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server1</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server2</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server3</a:t>
              </a:r>
              <a:endParaRPr lang="en-IN" b="0" dirty="0">
                <a:solidFill>
                  <a:srgbClr val="EEFFFF"/>
                </a:solidFill>
                <a:effectLst/>
                <a:latin typeface="Consolas" panose="020B0609020204030204" pitchFamily="49" charset="0"/>
              </a:endParaRPr>
            </a:p>
          </p:txBody>
        </p:sp>
        <p:sp>
          <p:nvSpPr>
            <p:cNvPr id="9" name="TextBox 8">
              <a:extLst>
                <a:ext uri="{FF2B5EF4-FFF2-40B4-BE49-F238E27FC236}">
                  <a16:creationId xmlns:a16="http://schemas.microsoft.com/office/drawing/2014/main" id="{F1CEE401-97B9-4904-99D9-F87FBFB36B1A}"/>
                </a:ext>
              </a:extLst>
            </p:cNvPr>
            <p:cNvSpPr txBox="1"/>
            <p:nvPr/>
          </p:nvSpPr>
          <p:spPr>
            <a:xfrm>
              <a:off x="3842202" y="3404394"/>
              <a:ext cx="2077813" cy="369332"/>
            </a:xfrm>
            <a:prstGeom prst="rect">
              <a:avLst/>
            </a:prstGeom>
            <a:noFill/>
          </p:spPr>
          <p:txBody>
            <a:bodyPr wrap="none" rtlCol="0">
              <a:spAutoFit/>
            </a:bodyPr>
            <a:lstStyle/>
            <a:p>
              <a:r>
                <a:rPr lang="en-IN" dirty="0">
                  <a:solidFill>
                    <a:schemeClr val="tx2">
                      <a:lumMod val="10000"/>
                      <a:lumOff val="90000"/>
                    </a:schemeClr>
                  </a:solidFill>
                </a:rPr>
                <a:t>Array/List: Ordered</a:t>
              </a:r>
            </a:p>
          </p:txBody>
        </p:sp>
      </p:grpSp>
      <p:grpSp>
        <p:nvGrpSpPr>
          <p:cNvPr id="11" name="Group 10">
            <a:extLst>
              <a:ext uri="{FF2B5EF4-FFF2-40B4-BE49-F238E27FC236}">
                <a16:creationId xmlns:a16="http://schemas.microsoft.com/office/drawing/2014/main" id="{77552C33-45B6-455A-ABFE-45EDCEFC6475}"/>
              </a:ext>
            </a:extLst>
          </p:cNvPr>
          <p:cNvGrpSpPr/>
          <p:nvPr/>
        </p:nvGrpSpPr>
        <p:grpSpPr>
          <a:xfrm>
            <a:off x="635282" y="4013342"/>
            <a:ext cx="3218386" cy="1670428"/>
            <a:chOff x="7141028" y="1880614"/>
            <a:chExt cx="3218386" cy="1670428"/>
          </a:xfrm>
        </p:grpSpPr>
        <p:sp>
          <p:nvSpPr>
            <p:cNvPr id="2" name="Rectangle 1">
              <a:extLst>
                <a:ext uri="{FF2B5EF4-FFF2-40B4-BE49-F238E27FC236}">
                  <a16:creationId xmlns:a16="http://schemas.microsoft.com/office/drawing/2014/main" id="{3CFD3E9B-B321-4C26-A317-0B680A9EC585}"/>
                </a:ext>
              </a:extLst>
            </p:cNvPr>
            <p:cNvSpPr/>
            <p:nvPr/>
          </p:nvSpPr>
          <p:spPr>
            <a:xfrm>
              <a:off x="7141028" y="1880614"/>
              <a:ext cx="3218386" cy="1200329"/>
            </a:xfrm>
            <a:prstGeom prst="rect">
              <a:avLst/>
            </a:prstGeom>
            <a:solidFill>
              <a:schemeClr val="tx1">
                <a:lumMod val="85000"/>
                <a:lumOff val="15000"/>
              </a:schemeClr>
            </a:solidFill>
          </p:spPr>
          <p:txBody>
            <a:bodyPr wrap="square">
              <a:spAutoFit/>
            </a:bodyPr>
            <a:lstStyle/>
            <a:p>
              <a:r>
                <a:rPr lang="en-IN" dirty="0">
                  <a:solidFill>
                    <a:srgbClr val="F07178"/>
                  </a:solidFill>
                  <a:latin typeface="Consolas" panose="020B0609020204030204" pitchFamily="49" charset="0"/>
                </a:rPr>
                <a:t>Servers</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89DDFF"/>
                  </a:solidFill>
                  <a:latin typeface="Consolas" panose="020B0609020204030204" pitchFamily="49" charset="0"/>
                </a:rPr>
                <a:t> </a:t>
              </a:r>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name</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server1</a:t>
              </a: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status</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active</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location</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err="1">
                  <a:solidFill>
                    <a:srgbClr val="C3E88D"/>
                  </a:solidFill>
                  <a:latin typeface="Consolas" panose="020B0609020204030204" pitchFamily="49" charset="0"/>
                </a:rPr>
                <a:t>india</a:t>
              </a:r>
              <a:endParaRPr lang="en-IN" dirty="0">
                <a:solidFill>
                  <a:srgbClr val="EEFFFF"/>
                </a:solidFill>
                <a:latin typeface="Consolas" panose="020B0609020204030204" pitchFamily="49" charset="0"/>
              </a:endParaRPr>
            </a:p>
          </p:txBody>
        </p:sp>
        <p:sp>
          <p:nvSpPr>
            <p:cNvPr id="10" name="TextBox 9">
              <a:extLst>
                <a:ext uri="{FF2B5EF4-FFF2-40B4-BE49-F238E27FC236}">
                  <a16:creationId xmlns:a16="http://schemas.microsoft.com/office/drawing/2014/main" id="{2D45564A-B75F-4D52-A5A1-4A9382DF1779}"/>
                </a:ext>
              </a:extLst>
            </p:cNvPr>
            <p:cNvSpPr txBox="1"/>
            <p:nvPr/>
          </p:nvSpPr>
          <p:spPr>
            <a:xfrm>
              <a:off x="7349132" y="3181710"/>
              <a:ext cx="2900153" cy="369332"/>
            </a:xfrm>
            <a:prstGeom prst="rect">
              <a:avLst/>
            </a:prstGeom>
            <a:noFill/>
          </p:spPr>
          <p:txBody>
            <a:bodyPr wrap="none" rtlCol="0">
              <a:spAutoFit/>
            </a:bodyPr>
            <a:lstStyle/>
            <a:p>
              <a:r>
                <a:rPr lang="en-IN" dirty="0">
                  <a:solidFill>
                    <a:schemeClr val="tx2">
                      <a:lumMod val="10000"/>
                      <a:lumOff val="90000"/>
                    </a:schemeClr>
                  </a:solidFill>
                </a:rPr>
                <a:t>Dictionary/Map: Unordered</a:t>
              </a:r>
            </a:p>
          </p:txBody>
        </p:sp>
      </p:grpSp>
      <p:grpSp>
        <p:nvGrpSpPr>
          <p:cNvPr id="19" name="Group 18">
            <a:extLst>
              <a:ext uri="{FF2B5EF4-FFF2-40B4-BE49-F238E27FC236}">
                <a16:creationId xmlns:a16="http://schemas.microsoft.com/office/drawing/2014/main" id="{D8BBB267-8120-47A4-A99C-1BD84B95F8E0}"/>
              </a:ext>
            </a:extLst>
          </p:cNvPr>
          <p:cNvGrpSpPr/>
          <p:nvPr/>
        </p:nvGrpSpPr>
        <p:grpSpPr>
          <a:xfrm>
            <a:off x="4497728" y="4013342"/>
            <a:ext cx="3767404" cy="2480686"/>
            <a:chOff x="635282" y="4037414"/>
            <a:chExt cx="3767404" cy="2480686"/>
          </a:xfrm>
        </p:grpSpPr>
        <p:sp>
          <p:nvSpPr>
            <p:cNvPr id="14" name="Rectangle 13">
              <a:extLst>
                <a:ext uri="{FF2B5EF4-FFF2-40B4-BE49-F238E27FC236}">
                  <a16:creationId xmlns:a16="http://schemas.microsoft.com/office/drawing/2014/main" id="{D9186418-F65E-4DBA-B017-15DBA1F720FD}"/>
                </a:ext>
              </a:extLst>
            </p:cNvPr>
            <p:cNvSpPr/>
            <p:nvPr/>
          </p:nvSpPr>
          <p:spPr>
            <a:xfrm>
              <a:off x="635282" y="4037414"/>
              <a:ext cx="3767404" cy="2031325"/>
            </a:xfrm>
            <a:prstGeom prst="rect">
              <a:avLst/>
            </a:prstGeom>
            <a:solidFill>
              <a:schemeClr val="tx1">
                <a:lumMod val="95000"/>
                <a:lumOff val="5000"/>
              </a:schemeClr>
            </a:solidFill>
          </p:spPr>
          <p:txBody>
            <a:bodyPr wrap="square">
              <a:spAutoFit/>
            </a:bodyPr>
            <a:lstStyle/>
            <a:p>
              <a:r>
                <a:rPr lang="en-IN" dirty="0">
                  <a:solidFill>
                    <a:srgbClr val="F07178"/>
                  </a:solidFill>
                  <a:latin typeface="Consolas" panose="020B0609020204030204" pitchFamily="49" charset="0"/>
                </a:rPr>
                <a:t>Servers</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server1</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location</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err="1">
                  <a:solidFill>
                    <a:srgbClr val="C3E88D"/>
                  </a:solidFill>
                  <a:latin typeface="Consolas" panose="020B0609020204030204" pitchFamily="49" charset="0"/>
                </a:rPr>
                <a:t>india</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status</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active</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server2</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location</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err="1">
                  <a:solidFill>
                    <a:srgbClr val="C3E88D"/>
                  </a:solidFill>
                  <a:latin typeface="Consolas" panose="020B0609020204030204" pitchFamily="49" charset="0"/>
                </a:rPr>
                <a:t>usa</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status</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active</a:t>
              </a:r>
              <a:endParaRPr lang="en-IN" b="0" dirty="0">
                <a:solidFill>
                  <a:srgbClr val="EEFFFF"/>
                </a:solidFill>
                <a:effectLst/>
                <a:latin typeface="Consolas" panose="020B0609020204030204" pitchFamily="49" charset="0"/>
              </a:endParaRPr>
            </a:p>
          </p:txBody>
        </p:sp>
        <p:sp>
          <p:nvSpPr>
            <p:cNvPr id="15" name="TextBox 14">
              <a:extLst>
                <a:ext uri="{FF2B5EF4-FFF2-40B4-BE49-F238E27FC236}">
                  <a16:creationId xmlns:a16="http://schemas.microsoft.com/office/drawing/2014/main" id="{10A335D4-0047-4367-B71A-EC2104364A1E}"/>
                </a:ext>
              </a:extLst>
            </p:cNvPr>
            <p:cNvSpPr txBox="1"/>
            <p:nvPr/>
          </p:nvSpPr>
          <p:spPr>
            <a:xfrm>
              <a:off x="706102" y="6148768"/>
              <a:ext cx="2879314" cy="369332"/>
            </a:xfrm>
            <a:prstGeom prst="rect">
              <a:avLst/>
            </a:prstGeom>
            <a:noFill/>
          </p:spPr>
          <p:txBody>
            <a:bodyPr wrap="none" rtlCol="0">
              <a:spAutoFit/>
            </a:bodyPr>
            <a:lstStyle/>
            <a:p>
              <a:r>
                <a:rPr lang="en-IN" dirty="0">
                  <a:solidFill>
                    <a:schemeClr val="tx2">
                      <a:lumMod val="10000"/>
                      <a:lumOff val="90000"/>
                    </a:schemeClr>
                  </a:solidFill>
                </a:rPr>
                <a:t>Array/Dictionary/Key-value</a:t>
              </a:r>
            </a:p>
          </p:txBody>
        </p:sp>
      </p:grpSp>
      <p:grpSp>
        <p:nvGrpSpPr>
          <p:cNvPr id="22" name="Group 21">
            <a:extLst>
              <a:ext uri="{FF2B5EF4-FFF2-40B4-BE49-F238E27FC236}">
                <a16:creationId xmlns:a16="http://schemas.microsoft.com/office/drawing/2014/main" id="{3E860FA7-0BEE-417D-BC0F-92FF3519A54E}"/>
              </a:ext>
            </a:extLst>
          </p:cNvPr>
          <p:cNvGrpSpPr/>
          <p:nvPr/>
        </p:nvGrpSpPr>
        <p:grpSpPr>
          <a:xfrm>
            <a:off x="635282" y="1612846"/>
            <a:ext cx="2602639" cy="2191803"/>
            <a:chOff x="4741316" y="4037414"/>
            <a:chExt cx="2602639" cy="2191803"/>
          </a:xfrm>
        </p:grpSpPr>
        <p:sp>
          <p:nvSpPr>
            <p:cNvPr id="20" name="Rectangle 19">
              <a:extLst>
                <a:ext uri="{FF2B5EF4-FFF2-40B4-BE49-F238E27FC236}">
                  <a16:creationId xmlns:a16="http://schemas.microsoft.com/office/drawing/2014/main" id="{8505D0E5-3724-43A2-8841-34ADD3702236}"/>
                </a:ext>
              </a:extLst>
            </p:cNvPr>
            <p:cNvSpPr/>
            <p:nvPr/>
          </p:nvSpPr>
          <p:spPr>
            <a:xfrm>
              <a:off x="4741316" y="4037414"/>
              <a:ext cx="2602639" cy="1754326"/>
            </a:xfrm>
            <a:prstGeom prst="rect">
              <a:avLst/>
            </a:prstGeom>
            <a:solidFill>
              <a:schemeClr val="tx1">
                <a:lumMod val="85000"/>
                <a:lumOff val="15000"/>
              </a:schemeClr>
            </a:solidFill>
          </p:spPr>
          <p:txBody>
            <a:bodyPr wrap="square">
              <a:spAutoFit/>
            </a:bodyPr>
            <a:lstStyle/>
            <a:p>
              <a:r>
                <a:rPr lang="en-IN" dirty="0">
                  <a:solidFill>
                    <a:srgbClr val="F07178"/>
                  </a:solidFill>
                  <a:latin typeface="Consolas" panose="020B0609020204030204" pitchFamily="49" charset="0"/>
                </a:rPr>
                <a:t>integer</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F78C6C"/>
                  </a:solidFill>
                  <a:latin typeface="Consolas" panose="020B0609020204030204" pitchFamily="49" charset="0"/>
                </a:rPr>
                <a:t>25</a:t>
              </a:r>
              <a:endParaRPr lang="en-IN" dirty="0">
                <a:solidFill>
                  <a:srgbClr val="EEFFFF"/>
                </a:solidFill>
                <a:latin typeface="Consolas" panose="020B0609020204030204" pitchFamily="49" charset="0"/>
              </a:endParaRPr>
            </a:p>
            <a:p>
              <a:r>
                <a:rPr lang="en-IN" dirty="0">
                  <a:solidFill>
                    <a:srgbClr val="F07178"/>
                  </a:solidFill>
                  <a:latin typeface="Consolas" panose="020B0609020204030204" pitchFamily="49" charset="0"/>
                </a:rPr>
                <a:t>string1</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name</a:t>
              </a:r>
              <a:endParaRPr lang="en-IN" dirty="0">
                <a:solidFill>
                  <a:srgbClr val="EEFFFF"/>
                </a:solidFill>
                <a:latin typeface="Consolas" panose="020B0609020204030204" pitchFamily="49" charset="0"/>
              </a:endParaRPr>
            </a:p>
            <a:p>
              <a:r>
                <a:rPr lang="en-IN" dirty="0">
                  <a:solidFill>
                    <a:srgbClr val="F07178"/>
                  </a:solidFill>
                  <a:latin typeface="Consolas" panose="020B0609020204030204" pitchFamily="49" charset="0"/>
                </a:rPr>
                <a:t>string2</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89DDFF"/>
                  </a:solidFill>
                  <a:latin typeface="Consolas" panose="020B0609020204030204" pitchFamily="49" charset="0"/>
                </a:rPr>
                <a:t>"</a:t>
              </a:r>
              <a:r>
                <a:rPr lang="en-IN" dirty="0">
                  <a:solidFill>
                    <a:srgbClr val="C3E88D"/>
                  </a:solidFill>
                  <a:latin typeface="Consolas" panose="020B0609020204030204" pitchFamily="49" charset="0"/>
                </a:rPr>
                <a:t>name</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F07178"/>
                  </a:solidFill>
                  <a:latin typeface="Consolas" panose="020B0609020204030204" pitchFamily="49" charset="0"/>
                </a:rPr>
                <a:t>string3</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89DDFF"/>
                  </a:solidFill>
                  <a:latin typeface="Consolas" panose="020B0609020204030204" pitchFamily="49" charset="0"/>
                </a:rPr>
                <a:t>'</a:t>
              </a:r>
              <a:r>
                <a:rPr lang="en-IN" dirty="0">
                  <a:solidFill>
                    <a:srgbClr val="C3E88D"/>
                  </a:solidFill>
                  <a:latin typeface="Consolas" panose="020B0609020204030204" pitchFamily="49" charset="0"/>
                </a:rPr>
                <a:t>name</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F07178"/>
                  </a:solidFill>
                  <a:latin typeface="Consolas" panose="020B0609020204030204" pitchFamily="49" charset="0"/>
                </a:rPr>
                <a:t>float</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F78C6C"/>
                  </a:solidFill>
                  <a:latin typeface="Consolas" panose="020B0609020204030204" pitchFamily="49" charset="0"/>
                </a:rPr>
                <a:t>25.0</a:t>
              </a:r>
              <a:endParaRPr lang="en-IN" dirty="0">
                <a:solidFill>
                  <a:srgbClr val="EEFFFF"/>
                </a:solidFill>
                <a:latin typeface="Consolas" panose="020B0609020204030204" pitchFamily="49" charset="0"/>
              </a:endParaRPr>
            </a:p>
            <a:p>
              <a:r>
                <a:rPr lang="en-IN" dirty="0" err="1">
                  <a:solidFill>
                    <a:srgbClr val="F07178"/>
                  </a:solidFill>
                  <a:latin typeface="Consolas" panose="020B0609020204030204" pitchFamily="49" charset="0"/>
                </a:rPr>
                <a:t>boolean</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FF9CAC"/>
                  </a:solidFill>
                  <a:latin typeface="Consolas" panose="020B0609020204030204" pitchFamily="49" charset="0"/>
                </a:rPr>
                <a:t>true</a:t>
              </a:r>
              <a:endParaRPr lang="en-IN" b="0" dirty="0">
                <a:solidFill>
                  <a:srgbClr val="EEFFFF"/>
                </a:solidFill>
                <a:effectLst/>
                <a:latin typeface="Consolas" panose="020B0609020204030204" pitchFamily="49" charset="0"/>
              </a:endParaRPr>
            </a:p>
          </p:txBody>
        </p:sp>
        <p:sp>
          <p:nvSpPr>
            <p:cNvPr id="21" name="TextBox 20">
              <a:extLst>
                <a:ext uri="{FF2B5EF4-FFF2-40B4-BE49-F238E27FC236}">
                  <a16:creationId xmlns:a16="http://schemas.microsoft.com/office/drawing/2014/main" id="{DFDB44BF-6F66-4D54-B5E6-BFA10F192EEB}"/>
                </a:ext>
              </a:extLst>
            </p:cNvPr>
            <p:cNvSpPr txBox="1"/>
            <p:nvPr/>
          </p:nvSpPr>
          <p:spPr>
            <a:xfrm>
              <a:off x="4798996" y="5859885"/>
              <a:ext cx="1741182" cy="369332"/>
            </a:xfrm>
            <a:prstGeom prst="rect">
              <a:avLst/>
            </a:prstGeom>
            <a:noFill/>
          </p:spPr>
          <p:txBody>
            <a:bodyPr wrap="none" rtlCol="0">
              <a:spAutoFit/>
            </a:bodyPr>
            <a:lstStyle/>
            <a:p>
              <a:r>
                <a:rPr lang="en-IN" dirty="0">
                  <a:solidFill>
                    <a:schemeClr val="tx2">
                      <a:lumMod val="10000"/>
                      <a:lumOff val="90000"/>
                    </a:schemeClr>
                  </a:solidFill>
                </a:rPr>
                <a:t>Basic: Datatype</a:t>
              </a:r>
            </a:p>
          </p:txBody>
        </p:sp>
      </p:grpSp>
    </p:spTree>
    <p:extLst>
      <p:ext uri="{BB962C8B-B14F-4D97-AF65-F5344CB8AC3E}">
        <p14:creationId xmlns:p14="http://schemas.microsoft.com/office/powerpoint/2010/main" val="700543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7CB3E4-6879-45FB-96B7-10A7EE30F670}"/>
              </a:ext>
            </a:extLst>
          </p:cNvPr>
          <p:cNvSpPr>
            <a:spLocks noGrp="1"/>
          </p:cNvSpPr>
          <p:nvPr>
            <p:ph sz="half" idx="10"/>
          </p:nvPr>
        </p:nvSpPr>
        <p:spPr/>
        <p:txBody>
          <a:bodyPr/>
          <a:lstStyle/>
          <a:p>
            <a:r>
              <a:rPr lang="en-IN" dirty="0"/>
              <a:t>YAML in Kubernetes</a:t>
            </a:r>
          </a:p>
        </p:txBody>
      </p:sp>
      <p:pic>
        <p:nvPicPr>
          <p:cNvPr id="4" name="Picture 3">
            <a:extLst>
              <a:ext uri="{FF2B5EF4-FFF2-40B4-BE49-F238E27FC236}">
                <a16:creationId xmlns:a16="http://schemas.microsoft.com/office/drawing/2014/main" id="{7A5D2149-37D7-4393-870F-F2F17ABF8049}"/>
              </a:ext>
            </a:extLst>
          </p:cNvPr>
          <p:cNvPicPr>
            <a:picLocks noChangeAspect="1"/>
          </p:cNvPicPr>
          <p:nvPr/>
        </p:nvPicPr>
        <p:blipFill rotWithShape="1">
          <a:blip r:embed="rId2"/>
          <a:srcRect l="68266" t="10484" r="1115" b="33690"/>
          <a:stretch/>
        </p:blipFill>
        <p:spPr>
          <a:xfrm>
            <a:off x="7826355" y="1726735"/>
            <a:ext cx="3367945" cy="2227899"/>
          </a:xfrm>
          <a:prstGeom prst="rect">
            <a:avLst/>
          </a:prstGeom>
        </p:spPr>
      </p:pic>
      <p:sp>
        <p:nvSpPr>
          <p:cNvPr id="5" name="Rectangle 4">
            <a:extLst>
              <a:ext uri="{FF2B5EF4-FFF2-40B4-BE49-F238E27FC236}">
                <a16:creationId xmlns:a16="http://schemas.microsoft.com/office/drawing/2014/main" id="{CCAC453D-7652-46E7-9470-4CBF839448D7}"/>
              </a:ext>
            </a:extLst>
          </p:cNvPr>
          <p:cNvSpPr/>
          <p:nvPr/>
        </p:nvSpPr>
        <p:spPr>
          <a:xfrm>
            <a:off x="699008" y="1726735"/>
            <a:ext cx="6096000" cy="2862322"/>
          </a:xfrm>
          <a:prstGeom prst="rect">
            <a:avLst/>
          </a:prstGeom>
          <a:solidFill>
            <a:schemeClr val="tx1">
              <a:lumMod val="85000"/>
              <a:lumOff val="15000"/>
            </a:schemeClr>
          </a:solidFill>
        </p:spPr>
        <p:txBody>
          <a:bodyPr>
            <a:spAutoFit/>
          </a:bodyPr>
          <a:lstStyle/>
          <a:p>
            <a:r>
              <a:rPr lang="en-IN" dirty="0" err="1">
                <a:solidFill>
                  <a:srgbClr val="F07178"/>
                </a:solidFill>
                <a:latin typeface="Consolas" panose="020B0609020204030204" pitchFamily="49" charset="0"/>
              </a:rPr>
              <a:t>apiVersion</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v1</a:t>
            </a:r>
            <a:endParaRPr lang="en-IN" dirty="0">
              <a:solidFill>
                <a:srgbClr val="EEFFFF"/>
              </a:solidFill>
              <a:latin typeface="Consolas" panose="020B0609020204030204" pitchFamily="49" charset="0"/>
            </a:endParaRPr>
          </a:p>
          <a:p>
            <a:r>
              <a:rPr lang="en-IN" dirty="0">
                <a:solidFill>
                  <a:srgbClr val="F07178"/>
                </a:solidFill>
                <a:latin typeface="Consolas" panose="020B0609020204030204" pitchFamily="49" charset="0"/>
              </a:rPr>
              <a:t>kind</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C3E88D"/>
                </a:solidFill>
                <a:latin typeface="Consolas" panose="020B0609020204030204" pitchFamily="49" charset="0"/>
              </a:rPr>
              <a:t>Pod</a:t>
            </a:r>
            <a:endParaRPr lang="en-IN" dirty="0">
              <a:solidFill>
                <a:srgbClr val="EEFFFF"/>
              </a:solidFill>
              <a:latin typeface="Consolas" panose="020B0609020204030204" pitchFamily="49" charset="0"/>
            </a:endParaRPr>
          </a:p>
          <a:p>
            <a:r>
              <a:rPr lang="en-IN" dirty="0">
                <a:solidFill>
                  <a:srgbClr val="F07178"/>
                </a:solidFill>
                <a:latin typeface="Consolas" panose="020B0609020204030204" pitchFamily="49" charset="0"/>
              </a:rPr>
              <a:t>metadata</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name</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err="1">
                <a:solidFill>
                  <a:srgbClr val="C3E88D"/>
                </a:solidFill>
                <a:latin typeface="Consolas" panose="020B0609020204030204" pitchFamily="49" charset="0"/>
              </a:rPr>
              <a:t>myapp</a:t>
            </a:r>
            <a:r>
              <a:rPr lang="en-IN" dirty="0">
                <a:solidFill>
                  <a:srgbClr val="C3E88D"/>
                </a:solidFill>
                <a:latin typeface="Consolas" panose="020B0609020204030204" pitchFamily="49" charset="0"/>
              </a:rPr>
              <a:t>-pod</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labels</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name</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err="1">
                <a:solidFill>
                  <a:srgbClr val="C3E88D"/>
                </a:solidFill>
                <a:latin typeface="Consolas" panose="020B0609020204030204" pitchFamily="49" charset="0"/>
              </a:rPr>
              <a:t>myapp</a:t>
            </a:r>
            <a:endParaRPr lang="en-IN" dirty="0">
              <a:solidFill>
                <a:srgbClr val="EEFFFF"/>
              </a:solidFill>
              <a:latin typeface="Consolas" panose="020B0609020204030204" pitchFamily="49" charset="0"/>
            </a:endParaRPr>
          </a:p>
          <a:p>
            <a:r>
              <a:rPr lang="en-IN" dirty="0">
                <a:solidFill>
                  <a:srgbClr val="F07178"/>
                </a:solidFill>
                <a:latin typeface="Consolas" panose="020B0609020204030204" pitchFamily="49" charset="0"/>
              </a:rPr>
              <a:t>spec</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containers</a:t>
            </a:r>
            <a:r>
              <a:rPr lang="en-IN" dirty="0">
                <a:solidFill>
                  <a:srgbClr val="89DDFF"/>
                </a:solidFill>
                <a:latin typeface="Consolas" panose="020B0609020204030204" pitchFamily="49" charset="0"/>
              </a:rPr>
              <a:t>:</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name</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err="1">
                <a:solidFill>
                  <a:srgbClr val="C3E88D"/>
                </a:solidFill>
                <a:latin typeface="Consolas" panose="020B0609020204030204" pitchFamily="49" charset="0"/>
              </a:rPr>
              <a:t>nginx</a:t>
            </a:r>
            <a:r>
              <a:rPr lang="en-IN" dirty="0">
                <a:solidFill>
                  <a:srgbClr val="C3E88D"/>
                </a:solidFill>
                <a:latin typeface="Consolas" panose="020B0609020204030204" pitchFamily="49" charset="0"/>
              </a:rPr>
              <a:t>-container</a:t>
            </a:r>
            <a:endParaRPr lang="en-IN" dirty="0">
              <a:solidFill>
                <a:srgbClr val="EEFFFF"/>
              </a:solidFill>
              <a:latin typeface="Consolas" panose="020B0609020204030204" pitchFamily="49" charset="0"/>
            </a:endParaRPr>
          </a:p>
          <a:p>
            <a:r>
              <a:rPr lang="en-IN" dirty="0">
                <a:solidFill>
                  <a:srgbClr val="EEFFFF"/>
                </a:solidFill>
                <a:latin typeface="Consolas" panose="020B0609020204030204" pitchFamily="49" charset="0"/>
              </a:rPr>
              <a:t>      </a:t>
            </a:r>
            <a:r>
              <a:rPr lang="en-IN" dirty="0">
                <a:solidFill>
                  <a:srgbClr val="F07178"/>
                </a:solidFill>
                <a:latin typeface="Consolas" panose="020B0609020204030204" pitchFamily="49" charset="0"/>
              </a:rPr>
              <a:t>image</a:t>
            </a:r>
            <a:r>
              <a:rPr lang="en-IN" dirty="0">
                <a:solidFill>
                  <a:srgbClr val="89DDFF"/>
                </a:solidFill>
                <a:latin typeface="Consolas" panose="020B0609020204030204" pitchFamily="49" charset="0"/>
              </a:rPr>
              <a:t>:</a:t>
            </a:r>
            <a:r>
              <a:rPr lang="en-IN" dirty="0">
                <a:solidFill>
                  <a:srgbClr val="EEFFFF"/>
                </a:solidFill>
                <a:latin typeface="Consolas" panose="020B0609020204030204" pitchFamily="49" charset="0"/>
              </a:rPr>
              <a:t> </a:t>
            </a:r>
            <a:r>
              <a:rPr lang="en-IN" dirty="0" err="1">
                <a:solidFill>
                  <a:srgbClr val="C3E88D"/>
                </a:solidFill>
                <a:latin typeface="Consolas" panose="020B0609020204030204" pitchFamily="49" charset="0"/>
              </a:rPr>
              <a:t>nginx</a:t>
            </a:r>
            <a:endParaRPr lang="en-IN" dirty="0">
              <a:solidFill>
                <a:srgbClr val="EEFFFF"/>
              </a:solidFill>
              <a:latin typeface="Consolas" panose="020B0609020204030204" pitchFamily="49" charset="0"/>
            </a:endParaRPr>
          </a:p>
        </p:txBody>
      </p:sp>
    </p:spTree>
    <p:extLst>
      <p:ext uri="{BB962C8B-B14F-4D97-AF65-F5344CB8AC3E}">
        <p14:creationId xmlns:p14="http://schemas.microsoft.com/office/powerpoint/2010/main" val="1093391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F9BE00-1A15-4B0F-8848-5055613B84EC}"/>
              </a:ext>
            </a:extLst>
          </p:cNvPr>
          <p:cNvSpPr>
            <a:spLocks noGrp="1"/>
          </p:cNvSpPr>
          <p:nvPr>
            <p:ph sz="half" idx="1"/>
          </p:nvPr>
        </p:nvSpPr>
        <p:spPr/>
        <p:txBody>
          <a:bodyPr>
            <a:normAutofit/>
          </a:bodyPr>
          <a:lstStyle/>
          <a:p>
            <a:pPr algn="just">
              <a:lnSpc>
                <a:spcPct val="100000"/>
              </a:lnSpc>
            </a:pPr>
            <a:r>
              <a:rPr lang="en-US" dirty="0"/>
              <a:t>A logical container with one or more application containers and some shared resources (volumes). </a:t>
            </a:r>
          </a:p>
          <a:p>
            <a:pPr algn="just">
              <a:lnSpc>
                <a:spcPct val="100000"/>
              </a:lnSpc>
            </a:pPr>
            <a:r>
              <a:rPr lang="en-US" dirty="0"/>
              <a:t>Kubernetes uses pods to run your code and images in the cluster. Kubernetes works with Pods, rather than containers, so that containers in the same pod can be guaranteed to run on the same machine. </a:t>
            </a:r>
          </a:p>
          <a:p>
            <a:pPr algn="just">
              <a:lnSpc>
                <a:spcPct val="100000"/>
              </a:lnSpc>
            </a:pPr>
            <a:r>
              <a:rPr lang="en-US" dirty="0"/>
              <a:t>Containers in the same pod share their networking infrastructure, storage resources, and lifecycle.</a:t>
            </a:r>
          </a:p>
        </p:txBody>
      </p:sp>
      <p:sp>
        <p:nvSpPr>
          <p:cNvPr id="3" name="Content Placeholder 2">
            <a:extLst>
              <a:ext uri="{FF2B5EF4-FFF2-40B4-BE49-F238E27FC236}">
                <a16:creationId xmlns:a16="http://schemas.microsoft.com/office/drawing/2014/main" id="{72EBE9F8-48FA-496D-A485-0F9644E01ACA}"/>
              </a:ext>
            </a:extLst>
          </p:cNvPr>
          <p:cNvSpPr>
            <a:spLocks noGrp="1"/>
          </p:cNvSpPr>
          <p:nvPr>
            <p:ph sz="half" idx="10"/>
          </p:nvPr>
        </p:nvSpPr>
        <p:spPr/>
        <p:txBody>
          <a:bodyPr/>
          <a:lstStyle/>
          <a:p>
            <a:r>
              <a:rPr lang="en-IN" dirty="0"/>
              <a:t>Pod</a:t>
            </a:r>
          </a:p>
        </p:txBody>
      </p:sp>
    </p:spTree>
    <p:extLst>
      <p:ext uri="{BB962C8B-B14F-4D97-AF65-F5344CB8AC3E}">
        <p14:creationId xmlns:p14="http://schemas.microsoft.com/office/powerpoint/2010/main" val="2706701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57A4C3-49B4-4C53-9DFE-83C373601D7D}"/>
              </a:ext>
            </a:extLst>
          </p:cNvPr>
          <p:cNvSpPr>
            <a:spLocks noGrp="1"/>
          </p:cNvSpPr>
          <p:nvPr>
            <p:ph sz="half" idx="10"/>
          </p:nvPr>
        </p:nvSpPr>
        <p:spPr/>
        <p:txBody>
          <a:bodyPr/>
          <a:lstStyle/>
          <a:p>
            <a:r>
              <a:rPr lang="en-IN" dirty="0"/>
              <a:t>Pod Commands</a:t>
            </a:r>
          </a:p>
        </p:txBody>
      </p:sp>
      <p:sp>
        <p:nvSpPr>
          <p:cNvPr id="2" name="Content Placeholder 1">
            <a:extLst>
              <a:ext uri="{FF2B5EF4-FFF2-40B4-BE49-F238E27FC236}">
                <a16:creationId xmlns:a16="http://schemas.microsoft.com/office/drawing/2014/main" id="{9A9D6AA3-FF5A-4D31-BDF2-F3226F22583B}"/>
              </a:ext>
            </a:extLst>
          </p:cNvPr>
          <p:cNvSpPr>
            <a:spLocks noGrp="1"/>
          </p:cNvSpPr>
          <p:nvPr>
            <p:ph sz="half" idx="1"/>
          </p:nvPr>
        </p:nvSpPr>
        <p:spPr>
          <a:xfrm>
            <a:off x="493295" y="1268098"/>
            <a:ext cx="7505396" cy="4877624"/>
          </a:xfrm>
        </p:spPr>
        <p:txBody>
          <a:bodyPr>
            <a:normAutofit/>
          </a:bodyPr>
          <a:lstStyle/>
          <a:p>
            <a:pPr marL="0" indent="0">
              <a:buNone/>
            </a:pPr>
            <a:r>
              <a:rPr lang="en-US" sz="2400" dirty="0"/>
              <a:t>&gt; </a:t>
            </a:r>
            <a:r>
              <a:rPr lang="en-US" sz="2400" dirty="0" err="1"/>
              <a:t>kubectl</a:t>
            </a:r>
            <a:r>
              <a:rPr lang="en-US" sz="2400" dirty="0"/>
              <a:t> run my-pod --image=nginx --port</a:t>
            </a:r>
            <a:r>
              <a:rPr lang="en-US" sz="2400"/>
              <a:t>=8080</a:t>
            </a:r>
            <a:endParaRPr lang="en-US" sz="2400" dirty="0"/>
          </a:p>
          <a:p>
            <a:pPr marL="0" indent="0">
              <a:buNone/>
            </a:pPr>
            <a:endParaRPr lang="en-US" sz="1200" dirty="0"/>
          </a:p>
          <a:p>
            <a:pPr marL="0" indent="0">
              <a:buNone/>
            </a:pPr>
            <a:r>
              <a:rPr lang="en-US" sz="2400" dirty="0"/>
              <a:t>&gt; </a:t>
            </a:r>
            <a:r>
              <a:rPr lang="en-US" sz="2400" dirty="0" err="1"/>
              <a:t>kubectl</a:t>
            </a:r>
            <a:r>
              <a:rPr lang="en-US" sz="2400" dirty="0"/>
              <a:t> apply -f </a:t>
            </a:r>
            <a:r>
              <a:rPr lang="en-US" sz="2400" dirty="0" err="1"/>
              <a:t>pod.yaml</a:t>
            </a:r>
            <a:endParaRPr lang="en-IN" sz="2400" dirty="0"/>
          </a:p>
          <a:p>
            <a:pPr marL="0" indent="0">
              <a:buNone/>
            </a:pPr>
            <a:r>
              <a:rPr lang="en-IN" sz="2400" dirty="0"/>
              <a:t>&gt; </a:t>
            </a:r>
            <a:r>
              <a:rPr lang="en-IN" sz="2400" dirty="0" err="1"/>
              <a:t>kubectl</a:t>
            </a:r>
            <a:r>
              <a:rPr lang="en-IN" sz="2400" dirty="0"/>
              <a:t> get pods</a:t>
            </a:r>
          </a:p>
          <a:p>
            <a:pPr marL="0" indent="0">
              <a:buNone/>
            </a:pPr>
            <a:r>
              <a:rPr lang="en-IN" sz="2400" dirty="0"/>
              <a:t>&gt; </a:t>
            </a:r>
            <a:r>
              <a:rPr lang="en-IN" sz="2400" dirty="0" err="1"/>
              <a:t>kubectl</a:t>
            </a:r>
            <a:r>
              <a:rPr lang="en-IN" sz="2400" dirty="0"/>
              <a:t> delete pod my-pod</a:t>
            </a:r>
          </a:p>
          <a:p>
            <a:pPr marL="0" indent="0">
              <a:buNone/>
            </a:pPr>
            <a:r>
              <a:rPr lang="en-IN" sz="2400" dirty="0"/>
              <a:t>&gt; </a:t>
            </a:r>
            <a:r>
              <a:rPr lang="en-IN" sz="2400" dirty="0" err="1"/>
              <a:t>kubectl</a:t>
            </a:r>
            <a:r>
              <a:rPr lang="en-IN" sz="2400" dirty="0"/>
              <a:t> get pods --show-labels</a:t>
            </a:r>
          </a:p>
        </p:txBody>
      </p:sp>
      <p:sp>
        <p:nvSpPr>
          <p:cNvPr id="5" name="Rectangle 4">
            <a:extLst>
              <a:ext uri="{FF2B5EF4-FFF2-40B4-BE49-F238E27FC236}">
                <a16:creationId xmlns:a16="http://schemas.microsoft.com/office/drawing/2014/main" id="{D277430F-27EB-4396-9D9F-22F931C5EC7B}"/>
              </a:ext>
            </a:extLst>
          </p:cNvPr>
          <p:cNvSpPr/>
          <p:nvPr/>
        </p:nvSpPr>
        <p:spPr>
          <a:xfrm>
            <a:off x="8208244" y="1668834"/>
            <a:ext cx="3626537" cy="2862322"/>
          </a:xfrm>
          <a:prstGeom prst="rect">
            <a:avLst/>
          </a:prstGeom>
          <a:solidFill>
            <a:schemeClr val="tx1">
              <a:lumMod val="85000"/>
              <a:lumOff val="15000"/>
            </a:schemeClr>
          </a:solidFill>
        </p:spPr>
        <p:txBody>
          <a:bodyPr wrap="square">
            <a:spAutoFit/>
          </a:bodyPr>
          <a:lstStyle/>
          <a:p>
            <a:r>
              <a:rPr lang="en-US" dirty="0" err="1">
                <a:solidFill>
                  <a:srgbClr val="F07178"/>
                </a:solidFill>
                <a:latin typeface="Consolas" panose="020B0609020204030204" pitchFamily="49" charset="0"/>
              </a:rPr>
              <a:t>apiVersion</a:t>
            </a:r>
            <a:r>
              <a:rPr lang="en-US" dirty="0">
                <a:solidFill>
                  <a:srgbClr val="89DDFF"/>
                </a:solidFill>
                <a:latin typeface="Consolas" panose="020B0609020204030204" pitchFamily="49" charset="0"/>
              </a:rPr>
              <a:t>:</a:t>
            </a:r>
            <a:r>
              <a:rPr lang="en-US" dirty="0">
                <a:solidFill>
                  <a:srgbClr val="EEFFFF"/>
                </a:solidFill>
                <a:latin typeface="Consolas" panose="020B0609020204030204" pitchFamily="49" charset="0"/>
              </a:rPr>
              <a:t> </a:t>
            </a:r>
            <a:r>
              <a:rPr lang="en-US" dirty="0">
                <a:solidFill>
                  <a:srgbClr val="C3E88D"/>
                </a:solidFill>
                <a:latin typeface="Consolas" panose="020B0609020204030204" pitchFamily="49" charset="0"/>
              </a:rPr>
              <a:t>v1</a:t>
            </a:r>
            <a:endParaRPr lang="en-US" dirty="0">
              <a:solidFill>
                <a:srgbClr val="EEFFFF"/>
              </a:solidFill>
              <a:latin typeface="Consolas" panose="020B0609020204030204" pitchFamily="49" charset="0"/>
            </a:endParaRPr>
          </a:p>
          <a:p>
            <a:r>
              <a:rPr lang="en-US" dirty="0">
                <a:solidFill>
                  <a:srgbClr val="F07178"/>
                </a:solidFill>
                <a:latin typeface="Consolas" panose="020B0609020204030204" pitchFamily="49" charset="0"/>
              </a:rPr>
              <a:t>kind</a:t>
            </a:r>
            <a:r>
              <a:rPr lang="en-US" dirty="0">
                <a:solidFill>
                  <a:srgbClr val="89DDFF"/>
                </a:solidFill>
                <a:latin typeface="Consolas" panose="020B0609020204030204" pitchFamily="49" charset="0"/>
              </a:rPr>
              <a:t>:</a:t>
            </a:r>
            <a:r>
              <a:rPr lang="en-US" dirty="0">
                <a:solidFill>
                  <a:srgbClr val="EEFFFF"/>
                </a:solidFill>
                <a:latin typeface="Consolas" panose="020B0609020204030204" pitchFamily="49" charset="0"/>
              </a:rPr>
              <a:t> </a:t>
            </a:r>
            <a:r>
              <a:rPr lang="en-US" dirty="0">
                <a:solidFill>
                  <a:srgbClr val="C3E88D"/>
                </a:solidFill>
                <a:latin typeface="Consolas" panose="020B0609020204030204" pitchFamily="49" charset="0"/>
              </a:rPr>
              <a:t>Pod</a:t>
            </a:r>
            <a:endParaRPr lang="en-US" dirty="0">
              <a:solidFill>
                <a:srgbClr val="EEFFFF"/>
              </a:solidFill>
              <a:latin typeface="Consolas" panose="020B0609020204030204" pitchFamily="49" charset="0"/>
            </a:endParaRPr>
          </a:p>
          <a:p>
            <a:r>
              <a:rPr lang="en-US" dirty="0">
                <a:solidFill>
                  <a:srgbClr val="F07178"/>
                </a:solidFill>
                <a:latin typeface="Consolas" panose="020B0609020204030204" pitchFamily="49" charset="0"/>
              </a:rPr>
              <a:t>metadata</a:t>
            </a:r>
            <a:r>
              <a:rPr lang="en-US" dirty="0">
                <a:solidFill>
                  <a:srgbClr val="89DDFF"/>
                </a:solidFill>
                <a:latin typeface="Consolas" panose="020B0609020204030204" pitchFamily="49" charset="0"/>
              </a:rPr>
              <a:t>:</a:t>
            </a:r>
            <a:endParaRPr lang="en-US" dirty="0">
              <a:solidFill>
                <a:srgbClr val="EEFFFF"/>
              </a:solidFill>
              <a:latin typeface="Consolas" panose="020B0609020204030204" pitchFamily="49" charset="0"/>
            </a:endParaRPr>
          </a:p>
          <a:p>
            <a:r>
              <a:rPr lang="en-US" dirty="0">
                <a:solidFill>
                  <a:srgbClr val="EEFFFF"/>
                </a:solidFill>
                <a:latin typeface="Consolas" panose="020B0609020204030204" pitchFamily="49" charset="0"/>
              </a:rPr>
              <a:t>    </a:t>
            </a:r>
            <a:r>
              <a:rPr lang="en-US" dirty="0">
                <a:solidFill>
                  <a:srgbClr val="F07178"/>
                </a:solidFill>
                <a:latin typeface="Consolas" panose="020B0609020204030204" pitchFamily="49" charset="0"/>
              </a:rPr>
              <a:t>name</a:t>
            </a:r>
            <a:r>
              <a:rPr lang="en-US" dirty="0">
                <a:solidFill>
                  <a:srgbClr val="89DDFF"/>
                </a:solidFill>
                <a:latin typeface="Consolas" panose="020B0609020204030204" pitchFamily="49" charset="0"/>
              </a:rPr>
              <a:t>:</a:t>
            </a:r>
            <a:r>
              <a:rPr lang="en-US" dirty="0">
                <a:solidFill>
                  <a:srgbClr val="EEFFFF"/>
                </a:solidFill>
                <a:latin typeface="Consolas" panose="020B0609020204030204" pitchFamily="49" charset="0"/>
              </a:rPr>
              <a:t> </a:t>
            </a:r>
            <a:r>
              <a:rPr lang="en-US" dirty="0">
                <a:solidFill>
                  <a:srgbClr val="C3E88D"/>
                </a:solidFill>
                <a:latin typeface="Consolas" panose="020B0609020204030204" pitchFamily="49" charset="0"/>
              </a:rPr>
              <a:t>my-pod</a:t>
            </a:r>
            <a:endParaRPr lang="en-US" dirty="0">
              <a:solidFill>
                <a:srgbClr val="EEFFFF"/>
              </a:solidFill>
              <a:latin typeface="Consolas" panose="020B0609020204030204" pitchFamily="49" charset="0"/>
            </a:endParaRPr>
          </a:p>
          <a:p>
            <a:r>
              <a:rPr lang="en-US" dirty="0">
                <a:solidFill>
                  <a:srgbClr val="EEFFFF"/>
                </a:solidFill>
                <a:latin typeface="Consolas" panose="020B0609020204030204" pitchFamily="49" charset="0"/>
              </a:rPr>
              <a:t>    </a:t>
            </a:r>
            <a:r>
              <a:rPr lang="en-US" dirty="0">
                <a:solidFill>
                  <a:srgbClr val="F07178"/>
                </a:solidFill>
                <a:latin typeface="Consolas" panose="020B0609020204030204" pitchFamily="49" charset="0"/>
              </a:rPr>
              <a:t>labels</a:t>
            </a:r>
            <a:r>
              <a:rPr lang="en-US" dirty="0">
                <a:solidFill>
                  <a:srgbClr val="89DDFF"/>
                </a:solidFill>
                <a:latin typeface="Consolas" panose="020B0609020204030204" pitchFamily="49" charset="0"/>
              </a:rPr>
              <a:t>:</a:t>
            </a:r>
            <a:endParaRPr lang="en-US" dirty="0">
              <a:solidFill>
                <a:srgbClr val="EEFFFF"/>
              </a:solidFill>
              <a:latin typeface="Consolas" panose="020B0609020204030204" pitchFamily="49" charset="0"/>
            </a:endParaRPr>
          </a:p>
          <a:p>
            <a:r>
              <a:rPr lang="en-US" dirty="0">
                <a:solidFill>
                  <a:srgbClr val="EEFFFF"/>
                </a:solidFill>
                <a:latin typeface="Consolas" panose="020B0609020204030204" pitchFamily="49" charset="0"/>
              </a:rPr>
              <a:t>       </a:t>
            </a:r>
            <a:r>
              <a:rPr lang="en-US" dirty="0">
                <a:solidFill>
                  <a:srgbClr val="F07178"/>
                </a:solidFill>
                <a:latin typeface="Consolas" panose="020B0609020204030204" pitchFamily="49" charset="0"/>
              </a:rPr>
              <a:t>app</a:t>
            </a:r>
            <a:r>
              <a:rPr lang="en-US" dirty="0">
                <a:solidFill>
                  <a:srgbClr val="89DDFF"/>
                </a:solidFill>
                <a:latin typeface="Consolas" panose="020B0609020204030204" pitchFamily="49" charset="0"/>
              </a:rPr>
              <a:t>:</a:t>
            </a:r>
            <a:r>
              <a:rPr lang="en-US" dirty="0">
                <a:solidFill>
                  <a:srgbClr val="EEFFFF"/>
                </a:solidFill>
                <a:latin typeface="Consolas" panose="020B0609020204030204" pitchFamily="49" charset="0"/>
              </a:rPr>
              <a:t> </a:t>
            </a:r>
            <a:r>
              <a:rPr lang="en-US" dirty="0">
                <a:solidFill>
                  <a:srgbClr val="C3E88D"/>
                </a:solidFill>
                <a:latin typeface="Consolas" panose="020B0609020204030204" pitchFamily="49" charset="0"/>
              </a:rPr>
              <a:t>web</a:t>
            </a:r>
            <a:endParaRPr lang="en-US" dirty="0">
              <a:solidFill>
                <a:srgbClr val="EEFFFF"/>
              </a:solidFill>
              <a:latin typeface="Consolas" panose="020B0609020204030204" pitchFamily="49" charset="0"/>
            </a:endParaRPr>
          </a:p>
          <a:p>
            <a:r>
              <a:rPr lang="en-US" dirty="0">
                <a:solidFill>
                  <a:srgbClr val="F07178"/>
                </a:solidFill>
                <a:latin typeface="Consolas" panose="020B0609020204030204" pitchFamily="49" charset="0"/>
              </a:rPr>
              <a:t>spec</a:t>
            </a:r>
            <a:r>
              <a:rPr lang="en-US" dirty="0">
                <a:solidFill>
                  <a:srgbClr val="89DDFF"/>
                </a:solidFill>
                <a:latin typeface="Consolas" panose="020B0609020204030204" pitchFamily="49" charset="0"/>
              </a:rPr>
              <a:t>:</a:t>
            </a:r>
            <a:endParaRPr lang="en-US" dirty="0">
              <a:solidFill>
                <a:srgbClr val="EEFFFF"/>
              </a:solidFill>
              <a:latin typeface="Consolas" panose="020B0609020204030204" pitchFamily="49" charset="0"/>
            </a:endParaRPr>
          </a:p>
          <a:p>
            <a:r>
              <a:rPr lang="en-US" dirty="0">
                <a:solidFill>
                  <a:srgbClr val="EEFFFF"/>
                </a:solidFill>
                <a:latin typeface="Consolas" panose="020B0609020204030204" pitchFamily="49" charset="0"/>
              </a:rPr>
              <a:t>    </a:t>
            </a:r>
            <a:r>
              <a:rPr lang="en-US" dirty="0">
                <a:solidFill>
                  <a:srgbClr val="F07178"/>
                </a:solidFill>
                <a:latin typeface="Consolas" panose="020B0609020204030204" pitchFamily="49" charset="0"/>
              </a:rPr>
              <a:t>containers</a:t>
            </a:r>
            <a:r>
              <a:rPr lang="en-US" dirty="0">
                <a:solidFill>
                  <a:srgbClr val="89DDFF"/>
                </a:solidFill>
                <a:latin typeface="Consolas" panose="020B0609020204030204" pitchFamily="49" charset="0"/>
              </a:rPr>
              <a:t>:</a:t>
            </a:r>
            <a:endParaRPr lang="en-US" dirty="0">
              <a:solidFill>
                <a:srgbClr val="EEFFFF"/>
              </a:solidFill>
              <a:latin typeface="Consolas" panose="020B0609020204030204" pitchFamily="49" charset="0"/>
            </a:endParaRPr>
          </a:p>
          <a:p>
            <a:r>
              <a:rPr lang="en-US" dirty="0">
                <a:solidFill>
                  <a:srgbClr val="EEFFFF"/>
                </a:solidFill>
                <a:latin typeface="Consolas" panose="020B0609020204030204" pitchFamily="49" charset="0"/>
              </a:rPr>
              <a:t>      </a:t>
            </a:r>
            <a:r>
              <a:rPr lang="en-US" dirty="0">
                <a:solidFill>
                  <a:srgbClr val="89DDFF"/>
                </a:solidFill>
                <a:latin typeface="Consolas" panose="020B0609020204030204" pitchFamily="49" charset="0"/>
              </a:rPr>
              <a:t>-</a:t>
            </a:r>
            <a:r>
              <a:rPr lang="en-US" dirty="0">
                <a:solidFill>
                  <a:srgbClr val="EEFFFF"/>
                </a:solidFill>
                <a:latin typeface="Consolas" panose="020B0609020204030204" pitchFamily="49" charset="0"/>
              </a:rPr>
              <a:t> </a:t>
            </a:r>
            <a:r>
              <a:rPr lang="en-US" dirty="0">
                <a:solidFill>
                  <a:srgbClr val="F07178"/>
                </a:solidFill>
                <a:latin typeface="Consolas" panose="020B0609020204030204" pitchFamily="49" charset="0"/>
              </a:rPr>
              <a:t>name</a:t>
            </a:r>
            <a:r>
              <a:rPr lang="en-US" dirty="0">
                <a:solidFill>
                  <a:srgbClr val="89DDFF"/>
                </a:solidFill>
                <a:latin typeface="Consolas" panose="020B0609020204030204" pitchFamily="49" charset="0"/>
              </a:rPr>
              <a:t>:</a:t>
            </a:r>
            <a:r>
              <a:rPr lang="en-US" dirty="0">
                <a:solidFill>
                  <a:srgbClr val="EEFFFF"/>
                </a:solidFill>
                <a:latin typeface="Consolas" panose="020B0609020204030204" pitchFamily="49" charset="0"/>
              </a:rPr>
              <a:t> </a:t>
            </a:r>
            <a:r>
              <a:rPr lang="en-US" dirty="0">
                <a:solidFill>
                  <a:srgbClr val="C3E88D"/>
                </a:solidFill>
                <a:latin typeface="Consolas" panose="020B0609020204030204" pitchFamily="49" charset="0"/>
              </a:rPr>
              <a:t>my-</a:t>
            </a:r>
            <a:r>
              <a:rPr lang="en-US" dirty="0" err="1">
                <a:solidFill>
                  <a:srgbClr val="C3E88D"/>
                </a:solidFill>
                <a:latin typeface="Consolas" panose="020B0609020204030204" pitchFamily="49" charset="0"/>
              </a:rPr>
              <a:t>cont</a:t>
            </a:r>
            <a:endParaRPr lang="en-US" dirty="0">
              <a:solidFill>
                <a:srgbClr val="EEFFFF"/>
              </a:solidFill>
              <a:latin typeface="Consolas" panose="020B0609020204030204" pitchFamily="49" charset="0"/>
            </a:endParaRPr>
          </a:p>
          <a:p>
            <a:r>
              <a:rPr lang="en-US" dirty="0">
                <a:solidFill>
                  <a:srgbClr val="EEFFFF"/>
                </a:solidFill>
                <a:latin typeface="Consolas" panose="020B0609020204030204" pitchFamily="49" charset="0"/>
              </a:rPr>
              <a:t>        </a:t>
            </a:r>
            <a:r>
              <a:rPr lang="en-US" dirty="0">
                <a:solidFill>
                  <a:srgbClr val="F07178"/>
                </a:solidFill>
                <a:latin typeface="Consolas" panose="020B0609020204030204" pitchFamily="49" charset="0"/>
              </a:rPr>
              <a:t>image</a:t>
            </a:r>
            <a:r>
              <a:rPr lang="en-US" dirty="0">
                <a:solidFill>
                  <a:srgbClr val="89DDFF"/>
                </a:solidFill>
                <a:latin typeface="Consolas" panose="020B0609020204030204" pitchFamily="49" charset="0"/>
              </a:rPr>
              <a:t>:</a:t>
            </a:r>
            <a:r>
              <a:rPr lang="en-US" dirty="0">
                <a:solidFill>
                  <a:srgbClr val="EEFFFF"/>
                </a:solidFill>
                <a:latin typeface="Consolas" panose="020B0609020204030204" pitchFamily="49" charset="0"/>
              </a:rPr>
              <a:t> </a:t>
            </a:r>
            <a:r>
              <a:rPr lang="en-US" dirty="0" err="1">
                <a:solidFill>
                  <a:srgbClr val="C3E88D"/>
                </a:solidFill>
                <a:latin typeface="Consolas" panose="020B0609020204030204" pitchFamily="49" charset="0"/>
              </a:rPr>
              <a:t>nginx</a:t>
            </a:r>
            <a:endParaRPr lang="en-US" b="0" dirty="0">
              <a:solidFill>
                <a:srgbClr val="EEFFFF"/>
              </a:solidFill>
              <a:effectLst/>
              <a:latin typeface="Consolas" panose="020B0609020204030204" pitchFamily="49" charset="0"/>
            </a:endParaRPr>
          </a:p>
        </p:txBody>
      </p:sp>
    </p:spTree>
    <p:extLst>
      <p:ext uri="{BB962C8B-B14F-4D97-AF65-F5344CB8AC3E}">
        <p14:creationId xmlns:p14="http://schemas.microsoft.com/office/powerpoint/2010/main" val="4235083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95E4EB-A4B6-4336-B062-AEDAA9C6C86B}"/>
              </a:ext>
            </a:extLst>
          </p:cNvPr>
          <p:cNvSpPr>
            <a:spLocks noGrp="1"/>
          </p:cNvSpPr>
          <p:nvPr>
            <p:ph sz="half" idx="1"/>
          </p:nvPr>
        </p:nvSpPr>
        <p:spPr/>
        <p:txBody>
          <a:bodyPr>
            <a:noAutofit/>
          </a:bodyPr>
          <a:lstStyle/>
          <a:p>
            <a:pPr algn="just">
              <a:lnSpc>
                <a:spcPct val="100000"/>
              </a:lnSpc>
            </a:pPr>
            <a:r>
              <a:rPr lang="en-US" sz="2400" b="1" dirty="0"/>
              <a:t>Pending:</a:t>
            </a:r>
            <a:r>
              <a:rPr lang="en-US" sz="2400" dirty="0"/>
              <a:t> Pod has been created and accepted by the cluster, but one or more of its containers are not yet running. </a:t>
            </a:r>
          </a:p>
          <a:p>
            <a:pPr algn="just">
              <a:lnSpc>
                <a:spcPct val="100000"/>
              </a:lnSpc>
            </a:pPr>
            <a:r>
              <a:rPr lang="en-US" sz="2400" b="1" dirty="0"/>
              <a:t>Running:</a:t>
            </a:r>
            <a:r>
              <a:rPr lang="en-US" sz="2400" dirty="0"/>
              <a:t> Pod has been bound to a node, and all of the containers have been created. At least one container is running, is in the process of starting, or is restarting.</a:t>
            </a:r>
          </a:p>
          <a:p>
            <a:pPr algn="just">
              <a:lnSpc>
                <a:spcPct val="100000"/>
              </a:lnSpc>
            </a:pPr>
            <a:r>
              <a:rPr lang="en-US" sz="2400" b="1" dirty="0"/>
              <a:t>Succeeded:</a:t>
            </a:r>
            <a:r>
              <a:rPr lang="en-US" sz="2400" dirty="0"/>
              <a:t> All containers in the Pod have terminated successfully. Terminated Pods do not restart.</a:t>
            </a:r>
          </a:p>
          <a:p>
            <a:pPr algn="just">
              <a:lnSpc>
                <a:spcPct val="100000"/>
              </a:lnSpc>
            </a:pPr>
            <a:r>
              <a:rPr lang="en-US" sz="2400" b="1" dirty="0"/>
              <a:t>Failed:</a:t>
            </a:r>
            <a:r>
              <a:rPr lang="en-US" sz="2400" dirty="0"/>
              <a:t> All containers in the Pod have terminated, and at least one container has terminated in failure. </a:t>
            </a:r>
          </a:p>
          <a:p>
            <a:pPr algn="just">
              <a:lnSpc>
                <a:spcPct val="100000"/>
              </a:lnSpc>
            </a:pPr>
            <a:r>
              <a:rPr lang="en-US" sz="2400" b="1" dirty="0"/>
              <a:t>Unknown:</a:t>
            </a:r>
            <a:r>
              <a:rPr lang="en-US" sz="2400" dirty="0"/>
              <a:t> The state of the Pod cannot be determined.</a:t>
            </a:r>
          </a:p>
        </p:txBody>
      </p:sp>
      <p:sp>
        <p:nvSpPr>
          <p:cNvPr id="3" name="Content Placeholder 2">
            <a:extLst>
              <a:ext uri="{FF2B5EF4-FFF2-40B4-BE49-F238E27FC236}">
                <a16:creationId xmlns:a16="http://schemas.microsoft.com/office/drawing/2014/main" id="{C72F3753-E301-49A1-9769-BB9462458346}"/>
              </a:ext>
            </a:extLst>
          </p:cNvPr>
          <p:cNvSpPr>
            <a:spLocks noGrp="1"/>
          </p:cNvSpPr>
          <p:nvPr>
            <p:ph sz="half" idx="10"/>
          </p:nvPr>
        </p:nvSpPr>
        <p:spPr/>
        <p:txBody>
          <a:bodyPr/>
          <a:lstStyle/>
          <a:p>
            <a:r>
              <a:rPr lang="en-IN" dirty="0"/>
              <a:t>Pod States</a:t>
            </a:r>
          </a:p>
        </p:txBody>
      </p:sp>
    </p:spTree>
    <p:extLst>
      <p:ext uri="{BB962C8B-B14F-4D97-AF65-F5344CB8AC3E}">
        <p14:creationId xmlns:p14="http://schemas.microsoft.com/office/powerpoint/2010/main" val="2661416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95E4EB-A4B6-4336-B062-AEDAA9C6C86B}"/>
              </a:ext>
            </a:extLst>
          </p:cNvPr>
          <p:cNvSpPr>
            <a:spLocks noGrp="1"/>
          </p:cNvSpPr>
          <p:nvPr>
            <p:ph sz="half" idx="1"/>
          </p:nvPr>
        </p:nvSpPr>
        <p:spPr/>
        <p:txBody>
          <a:bodyPr>
            <a:normAutofit/>
          </a:bodyPr>
          <a:lstStyle/>
          <a:p>
            <a:pPr algn="just">
              <a:lnSpc>
                <a:spcPct val="100000"/>
              </a:lnSpc>
            </a:pPr>
            <a:r>
              <a:rPr lang="en-US" dirty="0"/>
              <a:t>A Service enables network access to a set of Pods in Kubernetes.</a:t>
            </a:r>
          </a:p>
          <a:p>
            <a:pPr algn="just">
              <a:lnSpc>
                <a:spcPct val="100000"/>
              </a:lnSpc>
            </a:pPr>
            <a:r>
              <a:rPr lang="en-US" dirty="0"/>
              <a:t>Services select Pods based on their labels. </a:t>
            </a:r>
          </a:p>
          <a:p>
            <a:pPr algn="just">
              <a:lnSpc>
                <a:spcPct val="100000"/>
              </a:lnSpc>
            </a:pPr>
            <a:r>
              <a:rPr lang="en-US" dirty="0"/>
              <a:t>When a network request is made to the service, it selects all Pods in the cluster matching the service's selector, and forwards the network request to them.</a:t>
            </a:r>
          </a:p>
        </p:txBody>
      </p:sp>
      <p:sp>
        <p:nvSpPr>
          <p:cNvPr id="3" name="Content Placeholder 2">
            <a:extLst>
              <a:ext uri="{FF2B5EF4-FFF2-40B4-BE49-F238E27FC236}">
                <a16:creationId xmlns:a16="http://schemas.microsoft.com/office/drawing/2014/main" id="{C72F3753-E301-49A1-9769-BB9462458346}"/>
              </a:ext>
            </a:extLst>
          </p:cNvPr>
          <p:cNvSpPr>
            <a:spLocks noGrp="1"/>
          </p:cNvSpPr>
          <p:nvPr>
            <p:ph sz="half" idx="10"/>
          </p:nvPr>
        </p:nvSpPr>
        <p:spPr/>
        <p:txBody>
          <a:bodyPr/>
          <a:lstStyle/>
          <a:p>
            <a:r>
              <a:rPr lang="en-IN" dirty="0"/>
              <a:t>Service</a:t>
            </a:r>
          </a:p>
        </p:txBody>
      </p:sp>
    </p:spTree>
    <p:extLst>
      <p:ext uri="{BB962C8B-B14F-4D97-AF65-F5344CB8AC3E}">
        <p14:creationId xmlns:p14="http://schemas.microsoft.com/office/powerpoint/2010/main" val="2835161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86E6E42-CDB7-4B38-809D-B83DAA8B327A}"/>
              </a:ext>
            </a:extLst>
          </p:cNvPr>
          <p:cNvSpPr>
            <a:spLocks noGrp="1"/>
          </p:cNvSpPr>
          <p:nvPr>
            <p:ph sz="half" idx="10"/>
          </p:nvPr>
        </p:nvSpPr>
        <p:spPr/>
        <p:txBody>
          <a:bodyPr/>
          <a:lstStyle/>
          <a:p>
            <a:r>
              <a:rPr lang="en-IN" dirty="0"/>
              <a:t>Service</a:t>
            </a:r>
          </a:p>
        </p:txBody>
      </p:sp>
      <p:grpSp>
        <p:nvGrpSpPr>
          <p:cNvPr id="58" name="Group 57">
            <a:extLst>
              <a:ext uri="{FF2B5EF4-FFF2-40B4-BE49-F238E27FC236}">
                <a16:creationId xmlns:a16="http://schemas.microsoft.com/office/drawing/2014/main" id="{C3116A61-C00D-49AB-A5EE-4FD31642523B}"/>
              </a:ext>
            </a:extLst>
          </p:cNvPr>
          <p:cNvGrpSpPr/>
          <p:nvPr/>
        </p:nvGrpSpPr>
        <p:grpSpPr>
          <a:xfrm>
            <a:off x="1786762" y="1953912"/>
            <a:ext cx="8162053" cy="3487333"/>
            <a:chOff x="1786762" y="1502356"/>
            <a:chExt cx="8162053" cy="3487333"/>
          </a:xfrm>
        </p:grpSpPr>
        <p:sp>
          <p:nvSpPr>
            <p:cNvPr id="26" name="Rectangle 25">
              <a:extLst>
                <a:ext uri="{FF2B5EF4-FFF2-40B4-BE49-F238E27FC236}">
                  <a16:creationId xmlns:a16="http://schemas.microsoft.com/office/drawing/2014/main" id="{D4632CCC-B371-42CE-B014-BA6343F2C23E}"/>
                </a:ext>
              </a:extLst>
            </p:cNvPr>
            <p:cNvSpPr/>
            <p:nvPr/>
          </p:nvSpPr>
          <p:spPr>
            <a:xfrm>
              <a:off x="5159023" y="1502356"/>
              <a:ext cx="4789792" cy="3487333"/>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p>
          </p:txBody>
        </p:sp>
        <p:grpSp>
          <p:nvGrpSpPr>
            <p:cNvPr id="7" name="Group 6">
              <a:extLst>
                <a:ext uri="{FF2B5EF4-FFF2-40B4-BE49-F238E27FC236}">
                  <a16:creationId xmlns:a16="http://schemas.microsoft.com/office/drawing/2014/main" id="{E3C66D1F-3C0E-4F27-9472-2829A32342C8}"/>
                </a:ext>
              </a:extLst>
            </p:cNvPr>
            <p:cNvGrpSpPr/>
            <p:nvPr/>
          </p:nvGrpSpPr>
          <p:grpSpPr>
            <a:xfrm>
              <a:off x="7944453" y="3417711"/>
              <a:ext cx="1408897" cy="1296719"/>
              <a:chOff x="5438319" y="3172178"/>
              <a:chExt cx="1408897" cy="1296719"/>
            </a:xfrm>
          </p:grpSpPr>
          <p:grpSp>
            <p:nvGrpSpPr>
              <p:cNvPr id="2" name="Group 1">
                <a:extLst>
                  <a:ext uri="{FF2B5EF4-FFF2-40B4-BE49-F238E27FC236}">
                    <a16:creationId xmlns:a16="http://schemas.microsoft.com/office/drawing/2014/main" id="{504344D9-6179-480D-8C36-F5055BE6100A}"/>
                  </a:ext>
                </a:extLst>
              </p:cNvPr>
              <p:cNvGrpSpPr/>
              <p:nvPr/>
            </p:nvGrpSpPr>
            <p:grpSpPr>
              <a:xfrm>
                <a:off x="5438319" y="3172178"/>
                <a:ext cx="1408897" cy="1296719"/>
                <a:chOff x="6158668" y="2395226"/>
                <a:chExt cx="1408897" cy="1050153"/>
              </a:xfrm>
            </p:grpSpPr>
            <p:sp>
              <p:nvSpPr>
                <p:cNvPr id="28" name="Rectangle 27">
                  <a:extLst>
                    <a:ext uri="{FF2B5EF4-FFF2-40B4-BE49-F238E27FC236}">
                      <a16:creationId xmlns:a16="http://schemas.microsoft.com/office/drawing/2014/main" id="{0DE26196-8F19-4D95-B215-72558ED23DCB}"/>
                    </a:ext>
                  </a:extLst>
                </p:cNvPr>
                <p:cNvSpPr/>
                <p:nvPr/>
              </p:nvSpPr>
              <p:spPr>
                <a:xfrm>
                  <a:off x="6158668" y="2395226"/>
                  <a:ext cx="1408897" cy="1050153"/>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sp>
              <p:nvSpPr>
                <p:cNvPr id="29" name="Rectangle 28">
                  <a:extLst>
                    <a:ext uri="{FF2B5EF4-FFF2-40B4-BE49-F238E27FC236}">
                      <a16:creationId xmlns:a16="http://schemas.microsoft.com/office/drawing/2014/main" id="{F44C3C4C-DC52-4E57-9F97-8A7D6A495A9C}"/>
                    </a:ext>
                  </a:extLst>
                </p:cNvPr>
                <p:cNvSpPr/>
                <p:nvPr/>
              </p:nvSpPr>
              <p:spPr>
                <a:xfrm>
                  <a:off x="6250407" y="3006408"/>
                  <a:ext cx="1225419" cy="361885"/>
                </a:xfrm>
                <a:prstGeom prst="rect">
                  <a:avLst/>
                </a:prstGeom>
                <a:solidFill>
                  <a:srgbClr val="146BD8"/>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800" kern="1200" dirty="0">
                      <a:solidFill>
                        <a:srgbClr val="FFFFFF"/>
                      </a:solidFill>
                      <a:effectLst/>
                      <a:ea typeface="Calibri" panose="020F0502020204030204" pitchFamily="34" charset="0"/>
                      <a:cs typeface="Times New Roman" panose="02020603050405020304" pitchFamily="18" charset="0"/>
                    </a:rPr>
                    <a:t>container</a:t>
                  </a:r>
                  <a:endParaRPr lang="en-IN" sz="1100" dirty="0">
                    <a:effectLst/>
                    <a:ea typeface="Calibri" panose="020F0502020204030204" pitchFamily="34" charset="0"/>
                    <a:cs typeface="Times New Roman" panose="02020603050405020304" pitchFamily="18" charset="0"/>
                  </a:endParaRPr>
                </a:p>
              </p:txBody>
            </p:sp>
          </p:grpSp>
          <p:sp>
            <p:nvSpPr>
              <p:cNvPr id="31" name="TextBox 70">
                <a:extLst>
                  <a:ext uri="{FF2B5EF4-FFF2-40B4-BE49-F238E27FC236}">
                    <a16:creationId xmlns:a16="http://schemas.microsoft.com/office/drawing/2014/main" id="{3B7D3F1A-8DF3-430E-81AF-1A7794B06998}"/>
                  </a:ext>
                </a:extLst>
              </p:cNvPr>
              <p:cNvSpPr txBox="1"/>
              <p:nvPr/>
            </p:nvSpPr>
            <p:spPr>
              <a:xfrm>
                <a:off x="5898327" y="3576890"/>
                <a:ext cx="466040" cy="427278"/>
              </a:xfrm>
              <a:prstGeom prst="rect">
                <a:avLst/>
              </a:prstGeom>
              <a:noFill/>
            </p:spPr>
            <p:txBody>
              <a:bodyPr wrap="none" rtlCol="0">
                <a:spAutoFit/>
              </a:bodyPr>
              <a:lstStyle/>
              <a:p>
                <a:pPr>
                  <a:lnSpc>
                    <a:spcPct val="107000"/>
                  </a:lnSpc>
                  <a:spcAft>
                    <a:spcPts val="800"/>
                  </a:spcAft>
                </a:pPr>
                <a:r>
                  <a:rPr lang="en-US" sz="1400" b="1" kern="12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Pod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70">
                <a:extLst>
                  <a:ext uri="{FF2B5EF4-FFF2-40B4-BE49-F238E27FC236}">
                    <a16:creationId xmlns:a16="http://schemas.microsoft.com/office/drawing/2014/main" id="{33A16E83-3957-4444-B0D3-231AF3F9C096}"/>
                  </a:ext>
                </a:extLst>
              </p:cNvPr>
              <p:cNvSpPr txBox="1"/>
              <p:nvPr/>
            </p:nvSpPr>
            <p:spPr>
              <a:xfrm>
                <a:off x="5658499" y="3177653"/>
                <a:ext cx="968535" cy="312650"/>
              </a:xfrm>
              <a:prstGeom prst="rect">
                <a:avLst/>
              </a:prstGeom>
              <a:solidFill>
                <a:schemeClr val="bg1">
                  <a:lumMod val="95000"/>
                </a:schemeClr>
              </a:solidFill>
            </p:spPr>
            <p:txBody>
              <a:bodyPr wrap="none" rtlCol="0">
                <a:spAutoFit/>
              </a:bodyPr>
              <a:lstStyle/>
              <a:p>
                <a:pPr>
                  <a:lnSpc>
                    <a:spcPct val="107000"/>
                  </a:lnSpc>
                  <a:spcAft>
                    <a:spcPts val="800"/>
                  </a:spcAft>
                </a:pPr>
                <a:r>
                  <a:rPr lang="en-US" sz="1400" b="1" kern="12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10.244.0.2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5" name="Cloud 4">
              <a:extLst>
                <a:ext uri="{FF2B5EF4-FFF2-40B4-BE49-F238E27FC236}">
                  <a16:creationId xmlns:a16="http://schemas.microsoft.com/office/drawing/2014/main" id="{7A2E2A53-A810-4F7B-A609-2A30FE65C9CD}"/>
                </a:ext>
              </a:extLst>
            </p:cNvPr>
            <p:cNvSpPr/>
            <p:nvPr/>
          </p:nvSpPr>
          <p:spPr>
            <a:xfrm>
              <a:off x="7758231" y="1807794"/>
              <a:ext cx="1758499" cy="661171"/>
            </a:xfrm>
            <a:prstGeom prst="cloud">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rgbClr val="0070C0"/>
                  </a:solidFill>
                </a:rPr>
                <a:t>10.2444.0.0</a:t>
              </a:r>
            </a:p>
          </p:txBody>
        </p:sp>
        <p:sp>
          <p:nvSpPr>
            <p:cNvPr id="35" name="Rectangle 34">
              <a:extLst>
                <a:ext uri="{FF2B5EF4-FFF2-40B4-BE49-F238E27FC236}">
                  <a16:creationId xmlns:a16="http://schemas.microsoft.com/office/drawing/2014/main" id="{B7579DFA-08CF-439A-A8D6-48DCA2D16F85}"/>
                </a:ext>
              </a:extLst>
            </p:cNvPr>
            <p:cNvSpPr/>
            <p:nvPr/>
          </p:nvSpPr>
          <p:spPr>
            <a:xfrm>
              <a:off x="6224326" y="2699193"/>
              <a:ext cx="1225419" cy="446852"/>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7000"/>
                </a:lnSpc>
                <a:spcAft>
                  <a:spcPts val="800"/>
                </a:spcAft>
              </a:pPr>
              <a:r>
                <a:rPr lang="en-US" sz="1800" kern="1200" dirty="0">
                  <a:solidFill>
                    <a:srgbClr val="FFFFFF"/>
                  </a:solidFill>
                  <a:effectLst/>
                  <a:ea typeface="Calibri" panose="020F0502020204030204" pitchFamily="34" charset="0"/>
                  <a:cs typeface="Times New Roman" panose="02020603050405020304" pitchFamily="18" charset="0"/>
                </a:rPr>
                <a:t>Service</a:t>
              </a:r>
              <a:endParaRPr lang="en-IN" sz="1100" dirty="0">
                <a:effectLst/>
                <a:ea typeface="Calibri" panose="020F0502020204030204" pitchFamily="34" charset="0"/>
                <a:cs typeface="Times New Roman" panose="02020603050405020304" pitchFamily="18" charset="0"/>
              </a:endParaRPr>
            </a:p>
          </p:txBody>
        </p:sp>
        <p:sp>
          <p:nvSpPr>
            <p:cNvPr id="37" name="TextBox 70">
              <a:extLst>
                <a:ext uri="{FF2B5EF4-FFF2-40B4-BE49-F238E27FC236}">
                  <a16:creationId xmlns:a16="http://schemas.microsoft.com/office/drawing/2014/main" id="{BAAE4B39-F82C-4613-8A87-1ECE2D4E659D}"/>
                </a:ext>
              </a:extLst>
            </p:cNvPr>
            <p:cNvSpPr txBox="1"/>
            <p:nvPr/>
          </p:nvSpPr>
          <p:spPr>
            <a:xfrm rot="16200000">
              <a:off x="4995195" y="2776623"/>
              <a:ext cx="705642" cy="344069"/>
            </a:xfrm>
            <a:prstGeom prst="rect">
              <a:avLst/>
            </a:prstGeom>
            <a:solidFill>
              <a:schemeClr val="accent5">
                <a:lumMod val="20000"/>
                <a:lumOff val="80000"/>
              </a:schemeClr>
            </a:solidFill>
          </p:spPr>
          <p:txBody>
            <a:bodyPr wrap="none" rtlCol="0">
              <a:spAutoFit/>
            </a:bodyPr>
            <a:lstStyle/>
            <a:p>
              <a:pPr>
                <a:lnSpc>
                  <a:spcPct val="107000"/>
                </a:lnSpc>
                <a:spcAft>
                  <a:spcPts val="800"/>
                </a:spcAft>
              </a:pPr>
              <a:r>
                <a:rPr lang="en-US" sz="1600" b="1" kern="1200" dirty="0">
                  <a:solidFill>
                    <a:srgbClr val="2F5597"/>
                  </a:solidFill>
                  <a:effectLst/>
                  <a:latin typeface="Calib"/>
                  <a:ea typeface="Calibri" panose="020F0502020204030204" pitchFamily="34" charset="0"/>
                  <a:cs typeface="Times New Roman" panose="02020603050405020304" pitchFamily="18" charset="0"/>
                </a:rPr>
                <a:t>30008</a:t>
              </a:r>
              <a:endParaRPr lang="en-IN" sz="1400" b="1" dirty="0">
                <a:effectLst/>
                <a:latin typeface="Calib"/>
                <a:ea typeface="Calibri" panose="020F0502020204030204" pitchFamily="34" charset="0"/>
                <a:cs typeface="Times New Roman" panose="02020603050405020304" pitchFamily="18" charset="0"/>
              </a:endParaRPr>
            </a:p>
          </p:txBody>
        </p:sp>
        <p:cxnSp>
          <p:nvCxnSpPr>
            <p:cNvPr id="39" name="Straight Connector 38">
              <a:extLst>
                <a:ext uri="{FF2B5EF4-FFF2-40B4-BE49-F238E27FC236}">
                  <a16:creationId xmlns:a16="http://schemas.microsoft.com/office/drawing/2014/main" id="{A10E20CD-7F7A-427A-B114-A756D1887087}"/>
                </a:ext>
              </a:extLst>
            </p:cNvPr>
            <p:cNvCxnSpPr>
              <a:stCxn id="5" idx="1"/>
              <a:endCxn id="3" idx="0"/>
            </p:cNvCxnSpPr>
            <p:nvPr/>
          </p:nvCxnSpPr>
          <p:spPr>
            <a:xfrm>
              <a:off x="8637481" y="2468261"/>
              <a:ext cx="11420" cy="954925"/>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1FD8DE9-89FF-4855-AB3C-275103F79DB9}"/>
                </a:ext>
              </a:extLst>
            </p:cNvPr>
            <p:cNvCxnSpPr>
              <a:stCxn id="35" idx="3"/>
            </p:cNvCxnSpPr>
            <p:nvPr/>
          </p:nvCxnSpPr>
          <p:spPr>
            <a:xfrm>
              <a:off x="7449745" y="2922619"/>
              <a:ext cx="1201886" cy="346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1E5E681-79E4-4A98-9545-DD18CC5FE6A8}"/>
                </a:ext>
              </a:extLst>
            </p:cNvPr>
            <p:cNvCxnSpPr/>
            <p:nvPr/>
          </p:nvCxnSpPr>
          <p:spPr>
            <a:xfrm>
              <a:off x="5529540" y="2921188"/>
              <a:ext cx="678434" cy="286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6666BD63-CCF4-4DC7-9624-287D9AFE97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6762" y="2138379"/>
              <a:ext cx="1425053" cy="1425053"/>
            </a:xfrm>
            <a:prstGeom prst="rect">
              <a:avLst/>
            </a:prstGeom>
          </p:spPr>
        </p:pic>
        <p:cxnSp>
          <p:nvCxnSpPr>
            <p:cNvPr id="45" name="Straight Connector 44">
              <a:extLst>
                <a:ext uri="{FF2B5EF4-FFF2-40B4-BE49-F238E27FC236}">
                  <a16:creationId xmlns:a16="http://schemas.microsoft.com/office/drawing/2014/main" id="{3FEB6F37-D783-49A1-90AA-F21386615F24}"/>
                </a:ext>
              </a:extLst>
            </p:cNvPr>
            <p:cNvCxnSpPr>
              <a:cxnSpLocks/>
            </p:cNvCxnSpPr>
            <p:nvPr/>
          </p:nvCxnSpPr>
          <p:spPr>
            <a:xfrm>
              <a:off x="3093156" y="2887471"/>
              <a:ext cx="2047879"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49" name="TextBox 70">
              <a:extLst>
                <a:ext uri="{FF2B5EF4-FFF2-40B4-BE49-F238E27FC236}">
                  <a16:creationId xmlns:a16="http://schemas.microsoft.com/office/drawing/2014/main" id="{8A631524-DED1-43A7-8A54-4B58C1A0E426}"/>
                </a:ext>
              </a:extLst>
            </p:cNvPr>
            <p:cNvSpPr txBox="1"/>
            <p:nvPr/>
          </p:nvSpPr>
          <p:spPr>
            <a:xfrm>
              <a:off x="5392304" y="4663092"/>
              <a:ext cx="1059906" cy="312650"/>
            </a:xfrm>
            <a:prstGeom prst="rect">
              <a:avLst/>
            </a:prstGeom>
            <a:solidFill>
              <a:schemeClr val="bg1">
                <a:lumMod val="85000"/>
              </a:schemeClr>
            </a:solidFill>
          </p:spPr>
          <p:txBody>
            <a:bodyPr wrap="none" rtlCol="0">
              <a:spAutoFit/>
            </a:bodyPr>
            <a:lstStyle/>
            <a:p>
              <a:pPr>
                <a:lnSpc>
                  <a:spcPct val="107000"/>
                </a:lnSpc>
                <a:spcAft>
                  <a:spcPts val="800"/>
                </a:spcAft>
              </a:pPr>
              <a:r>
                <a:rPr lang="en-US" sz="1400" b="1" kern="1200" dirty="0">
                  <a:solidFill>
                    <a:srgbClr val="2F5597"/>
                  </a:solidFill>
                  <a:effectLst/>
                  <a:latin typeface="Calibri" panose="020F0502020204030204" pitchFamily="34" charset="0"/>
                  <a:ea typeface="Calibri" panose="020F0502020204030204" pitchFamily="34" charset="0"/>
                  <a:cs typeface="Times New Roman" panose="02020603050405020304" pitchFamily="18" charset="0"/>
                </a:rPr>
                <a:t>192.168.1.2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1" name="Picture 50">
              <a:extLst>
                <a:ext uri="{FF2B5EF4-FFF2-40B4-BE49-F238E27FC236}">
                  <a16:creationId xmlns:a16="http://schemas.microsoft.com/office/drawing/2014/main" id="{92259AA2-2A46-49AB-B876-8008A26CCC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2066" y="3933953"/>
              <a:ext cx="688963" cy="688963"/>
            </a:xfrm>
            <a:prstGeom prst="rect">
              <a:avLst/>
            </a:prstGeom>
          </p:spPr>
        </p:pic>
        <p:sp>
          <p:nvSpPr>
            <p:cNvPr id="56" name="TextBox 55">
              <a:extLst>
                <a:ext uri="{FF2B5EF4-FFF2-40B4-BE49-F238E27FC236}">
                  <a16:creationId xmlns:a16="http://schemas.microsoft.com/office/drawing/2014/main" id="{72BD1996-8AB6-4717-B7FC-93B364878C82}"/>
                </a:ext>
              </a:extLst>
            </p:cNvPr>
            <p:cNvSpPr txBox="1"/>
            <p:nvPr/>
          </p:nvSpPr>
          <p:spPr>
            <a:xfrm>
              <a:off x="3057615" y="2574233"/>
              <a:ext cx="2098455" cy="307777"/>
            </a:xfrm>
            <a:prstGeom prst="rect">
              <a:avLst/>
            </a:prstGeom>
            <a:noFill/>
          </p:spPr>
          <p:txBody>
            <a:bodyPr wrap="square">
              <a:spAutoFit/>
            </a:bodyPr>
            <a:lstStyle/>
            <a:p>
              <a:r>
                <a:rPr lang="en-US" sz="1400" b="1" kern="1200" dirty="0">
                  <a:solidFill>
                    <a:schemeClr val="accent1">
                      <a:lumMod val="20000"/>
                      <a:lumOff val="80000"/>
                    </a:schemeClr>
                  </a:solidFill>
                  <a:effectLst/>
                  <a:latin typeface="Calibri" panose="020F0502020204030204" pitchFamily="34" charset="0"/>
                  <a:ea typeface="Calibri" panose="020F0502020204030204" pitchFamily="34" charset="0"/>
                  <a:cs typeface="Times New Roman" panose="02020603050405020304" pitchFamily="18" charset="0"/>
                </a:rPr>
                <a:t>http://192.168.1.2:30008</a:t>
              </a:r>
              <a:endParaRPr lang="en-IN" sz="1400" dirty="0">
                <a:solidFill>
                  <a:schemeClr val="accent1">
                    <a:lumMod val="20000"/>
                    <a:lumOff val="80000"/>
                  </a:schemeClr>
                </a:solidFill>
              </a:endParaRPr>
            </a:p>
          </p:txBody>
        </p:sp>
      </p:grpSp>
    </p:spTree>
    <p:extLst>
      <p:ext uri="{BB962C8B-B14F-4D97-AF65-F5344CB8AC3E}">
        <p14:creationId xmlns:p14="http://schemas.microsoft.com/office/powerpoint/2010/main" val="256449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01E6A8-9330-494B-BFE4-9BCF8FA745B2}"/>
              </a:ext>
            </a:extLst>
          </p:cNvPr>
          <p:cNvSpPr>
            <a:spLocks noGrp="1"/>
          </p:cNvSpPr>
          <p:nvPr>
            <p:ph sz="half" idx="10"/>
          </p:nvPr>
        </p:nvSpPr>
        <p:spPr/>
        <p:txBody>
          <a:bodyPr/>
          <a:lstStyle/>
          <a:p>
            <a:r>
              <a:rPr lang="en-US" dirty="0"/>
              <a:t>Deploy ASP.NET Core App to Kubernetes</a:t>
            </a:r>
            <a:endParaRPr lang="en-IN" dirty="0"/>
          </a:p>
        </p:txBody>
      </p:sp>
      <p:sp>
        <p:nvSpPr>
          <p:cNvPr id="6" name="Content Placeholder 5">
            <a:extLst>
              <a:ext uri="{FF2B5EF4-FFF2-40B4-BE49-F238E27FC236}">
                <a16:creationId xmlns:a16="http://schemas.microsoft.com/office/drawing/2014/main" id="{E8D63CD6-7BDE-8370-574B-64F718EE6C73}"/>
              </a:ext>
            </a:extLst>
          </p:cNvPr>
          <p:cNvSpPr>
            <a:spLocks noGrp="1"/>
          </p:cNvSpPr>
          <p:nvPr>
            <p:ph sz="half" idx="11"/>
          </p:nvPr>
        </p:nvSpPr>
        <p:spPr/>
        <p:txBody>
          <a:bodyPr>
            <a:normAutofit/>
          </a:bodyPr>
          <a:lstStyle/>
          <a:p>
            <a:r>
              <a:rPr lang="en-US" sz="2000" dirty="0">
                <a:solidFill>
                  <a:schemeClr val="bg1"/>
                </a:solidFill>
              </a:rPr>
              <a:t># Step 1: Log in to Docker Hub</a:t>
            </a:r>
          </a:p>
          <a:p>
            <a:r>
              <a:rPr lang="en-US" sz="2000" dirty="0">
                <a:solidFill>
                  <a:schemeClr val="bg1"/>
                </a:solidFill>
              </a:rPr>
              <a:t>docker login</a:t>
            </a:r>
          </a:p>
          <a:p>
            <a:pPr marL="0" indent="0">
              <a:buNone/>
            </a:pPr>
            <a:endParaRPr lang="en-US" sz="2000" dirty="0">
              <a:solidFill>
                <a:schemeClr val="bg1"/>
              </a:solidFill>
            </a:endParaRPr>
          </a:p>
          <a:p>
            <a:r>
              <a:rPr lang="en-US" sz="2000" dirty="0">
                <a:solidFill>
                  <a:schemeClr val="bg1"/>
                </a:solidFill>
              </a:rPr>
              <a:t># Step 2: Tag your local image</a:t>
            </a:r>
          </a:p>
          <a:p>
            <a:r>
              <a:rPr lang="en-US" sz="2000" dirty="0">
                <a:solidFill>
                  <a:schemeClr val="bg1"/>
                </a:solidFill>
              </a:rPr>
              <a:t>docker tag webappdocker28sep:latest </a:t>
            </a:r>
            <a:r>
              <a:rPr lang="en-US" sz="2000" dirty="0" err="1">
                <a:solidFill>
                  <a:schemeClr val="bg1"/>
                </a:solidFill>
              </a:rPr>
              <a:t>proshailendra</a:t>
            </a:r>
            <a:r>
              <a:rPr lang="en-US" sz="2000" dirty="0">
                <a:solidFill>
                  <a:schemeClr val="bg1"/>
                </a:solidFill>
              </a:rPr>
              <a:t>/webappdocker28sep:latest</a:t>
            </a:r>
          </a:p>
          <a:p>
            <a:endParaRPr lang="en-US" sz="2000" dirty="0">
              <a:solidFill>
                <a:schemeClr val="bg1"/>
              </a:solidFill>
            </a:endParaRPr>
          </a:p>
          <a:p>
            <a:r>
              <a:rPr lang="en-US" sz="2000" dirty="0">
                <a:solidFill>
                  <a:schemeClr val="bg1"/>
                </a:solidFill>
              </a:rPr>
              <a:t># Step 3: Push the image to Docker Hub</a:t>
            </a:r>
          </a:p>
          <a:p>
            <a:r>
              <a:rPr lang="en-US" sz="2000" dirty="0">
                <a:solidFill>
                  <a:schemeClr val="bg1"/>
                </a:solidFill>
              </a:rPr>
              <a:t>docker push </a:t>
            </a:r>
            <a:r>
              <a:rPr lang="en-US" sz="2000" dirty="0" err="1">
                <a:solidFill>
                  <a:schemeClr val="bg1"/>
                </a:solidFill>
              </a:rPr>
              <a:t>proshailendra</a:t>
            </a:r>
            <a:r>
              <a:rPr lang="en-US" sz="2000" dirty="0">
                <a:solidFill>
                  <a:schemeClr val="bg1"/>
                </a:solidFill>
              </a:rPr>
              <a:t>/webappdocker28sep:latest</a:t>
            </a:r>
          </a:p>
        </p:txBody>
      </p:sp>
      <p:sp>
        <p:nvSpPr>
          <p:cNvPr id="3" name="Content Placeholder 2">
            <a:extLst>
              <a:ext uri="{FF2B5EF4-FFF2-40B4-BE49-F238E27FC236}">
                <a16:creationId xmlns:a16="http://schemas.microsoft.com/office/drawing/2014/main" id="{8F4F83C2-1C33-421D-970A-4291900E958E}"/>
              </a:ext>
            </a:extLst>
          </p:cNvPr>
          <p:cNvSpPr>
            <a:spLocks noGrp="1"/>
          </p:cNvSpPr>
          <p:nvPr>
            <p:ph sz="half" idx="1"/>
          </p:nvPr>
        </p:nvSpPr>
        <p:spPr/>
        <p:txBody>
          <a:bodyPr>
            <a:normAutofit lnSpcReduction="10000"/>
          </a:bodyPr>
          <a:lstStyle/>
          <a:p>
            <a:pPr marL="0" indent="0">
              <a:buNone/>
            </a:pPr>
            <a:r>
              <a:rPr lang="en-US" dirty="0"/>
              <a:t>&gt; docker build -t mvcapp:v1 .</a:t>
            </a:r>
          </a:p>
          <a:p>
            <a:pPr marL="0" indent="0">
              <a:buNone/>
            </a:pPr>
            <a:r>
              <a:rPr lang="en-US" dirty="0"/>
              <a:t>&gt; docker image ls</a:t>
            </a:r>
          </a:p>
          <a:p>
            <a:pPr marL="0" indent="0">
              <a:buNone/>
            </a:pPr>
            <a:endParaRPr lang="en-US" sz="1200" dirty="0"/>
          </a:p>
          <a:p>
            <a:pPr marL="0" indent="0">
              <a:buNone/>
            </a:pPr>
            <a:r>
              <a:rPr lang="en-US" dirty="0"/>
              <a:t>&gt; kubectl apply -f </a:t>
            </a:r>
            <a:r>
              <a:rPr lang="en-US" dirty="0" err="1"/>
              <a:t>pod.yml</a:t>
            </a:r>
            <a:endParaRPr lang="en-US" dirty="0"/>
          </a:p>
          <a:p>
            <a:pPr marL="0" indent="0">
              <a:buNone/>
            </a:pPr>
            <a:r>
              <a:rPr lang="en-US" dirty="0"/>
              <a:t>&gt; </a:t>
            </a:r>
            <a:r>
              <a:rPr lang="en-US" dirty="0" err="1"/>
              <a:t>kubectl</a:t>
            </a:r>
            <a:r>
              <a:rPr lang="en-US" dirty="0"/>
              <a:t> get pods</a:t>
            </a:r>
          </a:p>
          <a:p>
            <a:pPr marL="0" indent="0">
              <a:buNone/>
            </a:pPr>
            <a:r>
              <a:rPr lang="en-US" dirty="0"/>
              <a:t>&gt; </a:t>
            </a:r>
            <a:r>
              <a:rPr lang="en-US" dirty="0" err="1"/>
              <a:t>kubectl</a:t>
            </a:r>
            <a:r>
              <a:rPr lang="en-US" dirty="0"/>
              <a:t> delete -f </a:t>
            </a:r>
            <a:r>
              <a:rPr lang="en-US" dirty="0" err="1"/>
              <a:t>pod.yml</a:t>
            </a:r>
            <a:endParaRPr lang="en-US" dirty="0"/>
          </a:p>
          <a:p>
            <a:pPr marL="0" indent="0">
              <a:buNone/>
            </a:pPr>
            <a:endParaRPr lang="en-US" sz="1100" dirty="0"/>
          </a:p>
          <a:p>
            <a:pPr marL="0" indent="0">
              <a:buNone/>
            </a:pPr>
            <a:r>
              <a:rPr lang="en-US" dirty="0"/>
              <a:t>&gt; kubectl apply -f </a:t>
            </a:r>
            <a:r>
              <a:rPr lang="en-US" dirty="0" err="1"/>
              <a:t>service.yml</a:t>
            </a:r>
            <a:endParaRPr lang="en-US" dirty="0"/>
          </a:p>
          <a:p>
            <a:pPr marL="0" indent="0">
              <a:buNone/>
            </a:pPr>
            <a:r>
              <a:rPr lang="en-US" dirty="0"/>
              <a:t>&gt; </a:t>
            </a:r>
            <a:r>
              <a:rPr lang="en-US" dirty="0" err="1"/>
              <a:t>kubectl</a:t>
            </a:r>
            <a:r>
              <a:rPr lang="en-US" dirty="0"/>
              <a:t> get services</a:t>
            </a:r>
          </a:p>
          <a:p>
            <a:pPr marL="0" indent="0">
              <a:buNone/>
            </a:pPr>
            <a:r>
              <a:rPr lang="en-US" dirty="0"/>
              <a:t>&gt; </a:t>
            </a:r>
            <a:r>
              <a:rPr lang="en-US" dirty="0" err="1"/>
              <a:t>kubectl</a:t>
            </a:r>
            <a:r>
              <a:rPr lang="en-US" dirty="0"/>
              <a:t> delete -f </a:t>
            </a:r>
            <a:r>
              <a:rPr lang="en-US" dirty="0" err="1"/>
              <a:t>service.yml</a:t>
            </a:r>
            <a:endParaRPr lang="en-US" dirty="0"/>
          </a:p>
        </p:txBody>
      </p:sp>
    </p:spTree>
    <p:extLst>
      <p:ext uri="{BB962C8B-B14F-4D97-AF65-F5344CB8AC3E}">
        <p14:creationId xmlns:p14="http://schemas.microsoft.com/office/powerpoint/2010/main" val="4061613354"/>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1979</TotalTime>
  <Words>2066</Words>
  <Application>Microsoft Office PowerPoint</Application>
  <PresentationFormat>Widescreen</PresentationFormat>
  <Paragraphs>335</Paragraphs>
  <Slides>25</Slides>
  <Notes>8</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Calib</vt:lpstr>
      <vt:lpstr>Calibri</vt:lpstr>
      <vt:lpstr>Calibri Light</vt:lpstr>
      <vt:lpstr>Consolas</vt:lpstr>
      <vt:lpstr>Proxima Nova</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Shailendra Chauhan</cp:lastModifiedBy>
  <cp:revision>1227</cp:revision>
  <dcterms:created xsi:type="dcterms:W3CDTF">2015-04-26T09:42:00Z</dcterms:created>
  <dcterms:modified xsi:type="dcterms:W3CDTF">2025-05-06T08:58:47Z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1033-11.2.0.9052</vt:lpwstr>
  </property>
</Properties>
</file>