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15"/>
  </p:notesMasterIdLst>
  <p:sldIdLst>
    <p:sldId id="653" r:id="rId2"/>
    <p:sldId id="2147469609" r:id="rId3"/>
    <p:sldId id="2147469610" r:id="rId4"/>
    <p:sldId id="2147469565" r:id="rId5"/>
    <p:sldId id="2147469589" r:id="rId6"/>
    <p:sldId id="2147469614" r:id="rId7"/>
    <p:sldId id="2147469615" r:id="rId8"/>
    <p:sldId id="2147469616" r:id="rId9"/>
    <p:sldId id="2147469613" r:id="rId10"/>
    <p:sldId id="654" r:id="rId11"/>
    <p:sldId id="2147469611" r:id="rId12"/>
    <p:sldId id="2147469612" r:id="rId13"/>
    <p:sldId id="652" r:id="rId14"/>
  </p:sldIdLst>
  <p:sldSz cx="12192000" cy="6858000"/>
  <p:notesSz cx="6858000" cy="9144000"/>
  <p:embeddedFontLst>
    <p:embeddedFont>
      <p:font typeface="Roboto" panose="02000000000000000000" pitchFamily="2" charset="0"/>
      <p:regular r:id="rId16"/>
      <p:bold r:id="rId17"/>
      <p:italic r:id="rId18"/>
      <p:boldItalic r:id="rId19"/>
    </p:embeddedFont>
    <p:embeddedFont>
      <p:font typeface="Roboto Light" panose="02000000000000000000" pitchFamily="2" charset="0"/>
      <p:regular r:id="rId20"/>
      <p:italic r:id="rId21"/>
    </p:embeddedFont>
    <p:embeddedFont>
      <p:font typeface="Segoe UI" panose="020B0502040204020203" pitchFamily="3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xmlns="" r:id="rId54" roundtripDataSignature="AMtx7mh4JH5ueQL7jJyfo3nn6sRP9btb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2FD"/>
    <a:srgbClr val="00D2D0"/>
    <a:srgbClr val="104862"/>
    <a:srgbClr val="156082"/>
    <a:srgbClr val="0022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F135600F-F13D-4679-8B6B-FA6B3F42D87D}">
  <a:tblStyle styleId="{F135600F-F13D-4679-8B6B-FA6B3F42D87D}"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5">
              <a:alpha val="20000"/>
            </a:schemeClr>
          </a:solidFill>
        </a:fill>
      </a:tcStyle>
    </a:band1H>
    <a:band2H>
      <a:tcTxStyle b="off" i="off"/>
      <a:tcStyle>
        <a:tcBdr/>
      </a:tcStyle>
    </a:band2H>
    <a:band1V>
      <a:tcTxStyle b="off" i="off"/>
      <a:tcStyle>
        <a:tcBdr/>
        <a:fill>
          <a:solidFill>
            <a:schemeClr val="accent5">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3.fntdata"/><Relationship Id="rId3" Type="http://schemas.openxmlformats.org/officeDocument/2006/relationships/slide" Target="slides/slide2.xml"/><Relationship Id="rId21" Type="http://schemas.openxmlformats.org/officeDocument/2006/relationships/font" Target="fonts/font6.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2.fntdata"/><Relationship Id="rId25" Type="http://schemas.openxmlformats.org/officeDocument/2006/relationships/font" Target="fonts/font10.fntdata"/><Relationship Id="rId2" Type="http://schemas.openxmlformats.org/officeDocument/2006/relationships/slide" Target="slides/slide1.xml"/><Relationship Id="rId16" Type="http://schemas.openxmlformats.org/officeDocument/2006/relationships/font" Target="fonts/font1.fntdata"/><Relationship Id="rId20" Type="http://schemas.openxmlformats.org/officeDocument/2006/relationships/font" Target="fonts/font5.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9.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notesMaster" Target="notesMasters/notesMaster1.xml"/><Relationship Id="rId23"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7.fntdata"/><Relationship Id="rId56"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100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5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12070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12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a:t>Two Lines</a:t>
            </a:r>
          </a:p>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14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221029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394801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261835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19054545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44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32857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a:t>Two Lines</a:t>
            </a:r>
          </a:p>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4490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80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18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1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a:t>First Level</a:t>
            </a:r>
          </a:p>
          <a:p>
            <a:pPr lvl="1"/>
            <a:r>
              <a:rPr lang="en-US"/>
              <a:t>Second Level</a:t>
            </a:r>
          </a:p>
          <a:p>
            <a:pPr lvl="2"/>
            <a:r>
              <a:rPr lang="en-US"/>
              <a:t>Third Level</a:t>
            </a:r>
          </a:p>
          <a:p>
            <a:pPr lvl="0"/>
            <a:endParaRPr lang="en-US"/>
          </a:p>
          <a:p>
            <a:pPr lvl="0"/>
            <a:endParaRPr lang="en-US"/>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5513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a:t>Heading</a:t>
            </a:r>
            <a:endParaRPr lang="en-US">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4813199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a:t>Heading Text</a:t>
            </a:r>
            <a:endParaRPr lang="en-US">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6309206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Title text</a:t>
            </a:r>
          </a:p>
        </p:txBody>
      </p:sp>
    </p:spTree>
    <p:extLst>
      <p:ext uri="{BB962C8B-B14F-4D97-AF65-F5344CB8AC3E}">
        <p14:creationId xmlns:p14="http://schemas.microsoft.com/office/powerpoint/2010/main" val="25677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Title text</a:t>
            </a:r>
          </a:p>
        </p:txBody>
      </p:sp>
    </p:spTree>
    <p:extLst>
      <p:ext uri="{BB962C8B-B14F-4D97-AF65-F5344CB8AC3E}">
        <p14:creationId xmlns:p14="http://schemas.microsoft.com/office/powerpoint/2010/main" val="283275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Section Heading Text</a:t>
            </a:r>
          </a:p>
        </p:txBody>
      </p:sp>
    </p:spTree>
    <p:extLst>
      <p:ext uri="{BB962C8B-B14F-4D97-AF65-F5344CB8AC3E}">
        <p14:creationId xmlns:p14="http://schemas.microsoft.com/office/powerpoint/2010/main" val="239933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Section Heading Text</a:t>
            </a:r>
          </a:p>
        </p:txBody>
      </p:sp>
    </p:spTree>
    <p:extLst>
      <p:ext uri="{BB962C8B-B14F-4D97-AF65-F5344CB8AC3E}">
        <p14:creationId xmlns:p14="http://schemas.microsoft.com/office/powerpoint/2010/main" val="318250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6106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7853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a:t>Heading Text</a:t>
            </a:r>
            <a:endParaRPr lang="en-US">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8149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26095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45728029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A10996-925C-4155-881D-D3C8FEE61440}"/>
              </a:ext>
            </a:extLst>
          </p:cNvPr>
          <p:cNvSpPr>
            <a:spLocks noGrp="1"/>
          </p:cNvSpPr>
          <p:nvPr>
            <p:ph sz="half" idx="1"/>
          </p:nvPr>
        </p:nvSpPr>
        <p:spPr>
          <a:xfrm>
            <a:off x="5748190" y="1357904"/>
            <a:ext cx="5696246" cy="4409850"/>
          </a:xfrm>
        </p:spPr>
        <p:txBody>
          <a:bodyPr>
            <a:noAutofit/>
          </a:bodyPr>
          <a:lstStyle/>
          <a:p>
            <a:pPr algn="just">
              <a:buClrTx/>
            </a:pPr>
            <a:r>
              <a:rPr lang="en-IN" dirty="0"/>
              <a:t>Connecting Kafka to databases and other services</a:t>
            </a:r>
          </a:p>
          <a:p>
            <a:pPr algn="just">
              <a:buClrTx/>
            </a:pPr>
            <a:r>
              <a:rPr lang="en-IN" dirty="0"/>
              <a:t>Using Kafka Connect for integration</a:t>
            </a:r>
          </a:p>
          <a:p>
            <a:pPr algn="just">
              <a:buClrTx/>
            </a:pPr>
            <a:r>
              <a:rPr lang="en-IN" dirty="0"/>
              <a:t>Case studies </a:t>
            </a:r>
          </a:p>
          <a:p>
            <a:pPr algn="just">
              <a:buClrTx/>
            </a:pPr>
            <a:r>
              <a:rPr lang="en-IN" dirty="0"/>
              <a:t>Kafka Best Practices</a:t>
            </a:r>
          </a:p>
        </p:txBody>
      </p:sp>
      <p:sp>
        <p:nvSpPr>
          <p:cNvPr id="4" name="Content Placeholder 3">
            <a:extLst>
              <a:ext uri="{FF2B5EF4-FFF2-40B4-BE49-F238E27FC236}">
                <a16:creationId xmlns:a16="http://schemas.microsoft.com/office/drawing/2014/main" id="{230785AF-6D2C-48C9-892C-CC3354923A32}"/>
              </a:ext>
            </a:extLst>
          </p:cNvPr>
          <p:cNvSpPr>
            <a:spLocks noGrp="1"/>
          </p:cNvSpPr>
          <p:nvPr>
            <p:ph sz="half" idx="10"/>
          </p:nvPr>
        </p:nvSpPr>
        <p:spPr>
          <a:xfrm>
            <a:off x="5748190" y="549709"/>
            <a:ext cx="6033501" cy="960595"/>
          </a:xfrm>
        </p:spPr>
        <p:txBody>
          <a:bodyPr>
            <a:normAutofit fontScale="92500"/>
          </a:bodyPr>
          <a:lstStyle/>
          <a:p>
            <a:pPr>
              <a:lnSpc>
                <a:spcPct val="120000"/>
              </a:lnSpc>
            </a:pPr>
            <a:r>
              <a:rPr lang="en-US" b="1" dirty="0">
                <a:ea typeface="Roboto" panose="02000000000000000000" pitchFamily="2" charset="0"/>
              </a:rPr>
              <a:t>Case Studies and Best Practices</a:t>
            </a:r>
          </a:p>
          <a:p>
            <a:pPr algn="ctr"/>
            <a:endParaRPr lang="en-IN" sz="2200" dirty="0">
              <a:solidFill>
                <a:schemeClr val="tx2">
                  <a:lumMod val="10000"/>
                  <a:lumOff val="90000"/>
                </a:schemeClr>
              </a:solidFill>
              <a:latin typeface="Roboto Light" panose="02000000000000000000" pitchFamily="2" charset="0"/>
            </a:endParaRPr>
          </a:p>
        </p:txBody>
      </p:sp>
      <p:sp>
        <p:nvSpPr>
          <p:cNvPr id="2" name="Title 1">
            <a:extLst>
              <a:ext uri="{FF2B5EF4-FFF2-40B4-BE49-F238E27FC236}">
                <a16:creationId xmlns:a16="http://schemas.microsoft.com/office/drawing/2014/main" id="{A538CFD5-8B2F-4A84-B5F8-34CB657153F0}"/>
              </a:ext>
            </a:extLst>
          </p:cNvPr>
          <p:cNvSpPr>
            <a:spLocks noGrp="1"/>
          </p:cNvSpPr>
          <p:nvPr>
            <p:ph type="title"/>
          </p:nvPr>
        </p:nvSpPr>
        <p:spPr/>
        <p:txBody>
          <a:bodyPr/>
          <a:lstStyle/>
          <a:p>
            <a:r>
              <a:rPr lang="en-US"/>
              <a:t>Agenda</a:t>
            </a:r>
            <a:endParaRPr lang="en-IN"/>
          </a:p>
        </p:txBody>
      </p:sp>
    </p:spTree>
    <p:extLst>
      <p:ext uri="{BB962C8B-B14F-4D97-AF65-F5344CB8AC3E}">
        <p14:creationId xmlns:p14="http://schemas.microsoft.com/office/powerpoint/2010/main" val="1960985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0327-06B0-9F84-B4EC-8524CCCB7FA6}"/>
              </a:ext>
            </a:extLst>
          </p:cNvPr>
          <p:cNvSpPr>
            <a:spLocks noGrp="1"/>
          </p:cNvSpPr>
          <p:nvPr>
            <p:ph type="title"/>
          </p:nvPr>
        </p:nvSpPr>
        <p:spPr>
          <a:xfrm>
            <a:off x="493295" y="1989612"/>
            <a:ext cx="11113251" cy="849463"/>
          </a:xfrm>
        </p:spPr>
        <p:txBody>
          <a:bodyPr/>
          <a:lstStyle/>
          <a:p>
            <a:r>
              <a:rPr lang="en-US" sz="4800" dirty="0"/>
              <a:t>DEMO</a:t>
            </a:r>
            <a:endParaRPr lang="en-IN" dirty="0"/>
          </a:p>
        </p:txBody>
      </p:sp>
      <p:sp>
        <p:nvSpPr>
          <p:cNvPr id="3" name="Content Placeholder 2">
            <a:extLst>
              <a:ext uri="{FF2B5EF4-FFF2-40B4-BE49-F238E27FC236}">
                <a16:creationId xmlns:a16="http://schemas.microsoft.com/office/drawing/2014/main" id="{786B37CD-4240-90DB-9DFD-8C73F027EA6C}"/>
              </a:ext>
            </a:extLst>
          </p:cNvPr>
          <p:cNvSpPr>
            <a:spLocks noGrp="1"/>
          </p:cNvSpPr>
          <p:nvPr>
            <p:ph sz="half" idx="1"/>
          </p:nvPr>
        </p:nvSpPr>
        <p:spPr>
          <a:xfrm>
            <a:off x="493295" y="2995153"/>
            <a:ext cx="11122056" cy="2467802"/>
          </a:xfrm>
        </p:spPr>
        <p:txBody>
          <a:bodyPr>
            <a:normAutofit/>
          </a:bodyPr>
          <a:lstStyle/>
          <a:p>
            <a:r>
              <a:rPr lang="en-US" sz="3600" dirty="0"/>
              <a:t>Connecting Kafka to Databases and Other Systems</a:t>
            </a:r>
            <a:endParaRPr lang="en-IN" sz="3600" dirty="0"/>
          </a:p>
        </p:txBody>
      </p:sp>
    </p:spTree>
    <p:extLst>
      <p:ext uri="{BB962C8B-B14F-4D97-AF65-F5344CB8AC3E}">
        <p14:creationId xmlns:p14="http://schemas.microsoft.com/office/powerpoint/2010/main" val="2013874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0327-06B0-9F84-B4EC-8524CCCB7FA6}"/>
              </a:ext>
            </a:extLst>
          </p:cNvPr>
          <p:cNvSpPr>
            <a:spLocks noGrp="1"/>
          </p:cNvSpPr>
          <p:nvPr>
            <p:ph type="title"/>
          </p:nvPr>
        </p:nvSpPr>
        <p:spPr>
          <a:xfrm>
            <a:off x="493295" y="1989612"/>
            <a:ext cx="11113251" cy="849463"/>
          </a:xfrm>
        </p:spPr>
        <p:txBody>
          <a:bodyPr/>
          <a:lstStyle/>
          <a:p>
            <a:r>
              <a:rPr lang="en-US" sz="4800" dirty="0"/>
              <a:t>DEMO</a:t>
            </a:r>
            <a:endParaRPr lang="en-IN" dirty="0"/>
          </a:p>
        </p:txBody>
      </p:sp>
      <p:sp>
        <p:nvSpPr>
          <p:cNvPr id="3" name="Content Placeholder 2">
            <a:extLst>
              <a:ext uri="{FF2B5EF4-FFF2-40B4-BE49-F238E27FC236}">
                <a16:creationId xmlns:a16="http://schemas.microsoft.com/office/drawing/2014/main" id="{786B37CD-4240-90DB-9DFD-8C73F027EA6C}"/>
              </a:ext>
            </a:extLst>
          </p:cNvPr>
          <p:cNvSpPr>
            <a:spLocks noGrp="1"/>
          </p:cNvSpPr>
          <p:nvPr>
            <p:ph sz="half" idx="1"/>
          </p:nvPr>
        </p:nvSpPr>
        <p:spPr>
          <a:xfrm>
            <a:off x="493295" y="2995153"/>
            <a:ext cx="11122056" cy="2467802"/>
          </a:xfrm>
        </p:spPr>
        <p:txBody>
          <a:bodyPr>
            <a:normAutofit/>
          </a:bodyPr>
          <a:lstStyle/>
          <a:p>
            <a:r>
              <a:rPr lang="en-US" sz="3600" dirty="0"/>
              <a:t>Using Kafka Connect for Integration</a:t>
            </a:r>
            <a:endParaRPr lang="en-IN" sz="3600" dirty="0"/>
          </a:p>
        </p:txBody>
      </p:sp>
    </p:spTree>
    <p:extLst>
      <p:ext uri="{BB962C8B-B14F-4D97-AF65-F5344CB8AC3E}">
        <p14:creationId xmlns:p14="http://schemas.microsoft.com/office/powerpoint/2010/main" val="424312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B009-2BB2-3874-5D64-76829825F1A8}"/>
              </a:ext>
            </a:extLst>
          </p:cNvPr>
          <p:cNvSpPr>
            <a:spLocks noGrp="1"/>
          </p:cNvSpPr>
          <p:nvPr>
            <p:ph type="title"/>
          </p:nvPr>
        </p:nvSpPr>
        <p:spPr>
          <a:xfrm>
            <a:off x="539374" y="2660840"/>
            <a:ext cx="11113251" cy="932563"/>
          </a:xfrm>
        </p:spPr>
        <p:txBody>
          <a:bodyPr/>
          <a:lstStyle/>
          <a:p>
            <a:r>
              <a:rPr lang="en-US" sz="5400" dirty="0"/>
              <a:t>Kafka Case Studies</a:t>
            </a:r>
            <a:endParaRPr lang="en-IN" sz="5400" dirty="0"/>
          </a:p>
        </p:txBody>
      </p:sp>
    </p:spTree>
    <p:extLst>
      <p:ext uri="{BB962C8B-B14F-4D97-AF65-F5344CB8AC3E}">
        <p14:creationId xmlns:p14="http://schemas.microsoft.com/office/powerpoint/2010/main" val="140261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lvl="0" algn="just"/>
            <a:r>
              <a:rPr lang="en-US" sz="2400" dirty="0"/>
              <a:t>LinkedIn needed a system that could handle the vast amount of activity data generated by its users, such as likes, shares, comments, and updates in real-time. The existing infrastructure was struggling with the scale, latency, and reliability requirements.</a:t>
            </a:r>
          </a:p>
          <a:p>
            <a:pPr lvl="0" algn="just"/>
            <a:endParaRPr lang="en-US" sz="2400" dirty="0"/>
          </a:p>
          <a:p>
            <a:pPr marL="0" lvl="0" indent="0" algn="just">
              <a:buNone/>
            </a:pPr>
            <a:r>
              <a:rPr lang="en-US" sz="2400" b="1" dirty="0"/>
              <a:t>Solution:</a:t>
            </a:r>
            <a:r>
              <a:rPr lang="en-US" sz="2400" dirty="0"/>
              <a:t> </a:t>
            </a:r>
          </a:p>
          <a:p>
            <a:pPr lvl="0" algn="just"/>
            <a:r>
              <a:rPr lang="en-US" sz="2400" dirty="0"/>
              <a:t>LinkedIn developed Kafka to handle the real-time data streams. Kafka was designed to be a high-throughput, low-latency, distributed messaging system capable of processing millions of messages per second.</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LinkedIn</a:t>
            </a:r>
          </a:p>
          <a:p>
            <a:endParaRPr lang="en-IN" dirty="0"/>
          </a:p>
        </p:txBody>
      </p:sp>
    </p:spTree>
    <p:extLst>
      <p:ext uri="{BB962C8B-B14F-4D97-AF65-F5344CB8AC3E}">
        <p14:creationId xmlns:p14="http://schemas.microsoft.com/office/powerpoint/2010/main" val="141469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Uber required a real-time analytics platform to monitor and manage its vast network of drivers and riders. The challenge was to process and analyze data streams in real-time to provide features like dynamic pricing, ETA calculation, and real-time tracking.</a:t>
            </a:r>
            <a:br>
              <a:rPr lang="en-US" sz="2400" dirty="0"/>
            </a:br>
            <a:endParaRPr lang="en-US" sz="2400" dirty="0"/>
          </a:p>
          <a:p>
            <a:pPr marL="0" lvl="0" indent="0" algn="just">
              <a:buNone/>
            </a:pPr>
            <a:r>
              <a:rPr lang="en-US" sz="2400" b="1" dirty="0"/>
              <a:t>Solution:</a:t>
            </a:r>
            <a:r>
              <a:rPr lang="en-US" sz="2400" dirty="0"/>
              <a:t> </a:t>
            </a:r>
          </a:p>
          <a:p>
            <a:pPr lvl="0" algn="just"/>
            <a:r>
              <a:rPr lang="en-US" sz="2400" dirty="0"/>
              <a:t>Uber adopted Kafka to build its real-time analytics platform. Kafka helped Uber achieve high throughput and low latency in data processing, enabling real-time analytics and decision-making. It also improved the scalability and fault tolerance of their data pipeline.</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Uber</a:t>
            </a:r>
          </a:p>
          <a:p>
            <a:endParaRPr lang="en-IN" dirty="0"/>
          </a:p>
        </p:txBody>
      </p:sp>
    </p:spTree>
    <p:extLst>
      <p:ext uri="{BB962C8B-B14F-4D97-AF65-F5344CB8AC3E}">
        <p14:creationId xmlns:p14="http://schemas.microsoft.com/office/powerpoint/2010/main" val="122787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charRg st="279" end="546"/>
                                            </p:txEl>
                                          </p:spTgt>
                                        </p:tgtEl>
                                        <p:attrNameLst>
                                          <p:attrName>style.visibility</p:attrName>
                                        </p:attrNameLst>
                                      </p:cBhvr>
                                      <p:to>
                                        <p:strVal val="visible"/>
                                      </p:to>
                                    </p:set>
                                    <p:animEffect transition="in" filter="fade">
                                      <p:cBhvr>
                                        <p:cTn id="22" dur="500"/>
                                        <p:tgtEl>
                                          <p:spTgt spid="2">
                                            <p:txEl>
                                              <p:charRg st="279" end="54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Netflix needed a solution to manage the massive amount of event data generated by user interactions, microservices logs, and operational metrics. The existing solution was not scalable and efficient enough to handle the growing data volume.</a:t>
            </a:r>
          </a:p>
          <a:p>
            <a:pPr marL="0" lvl="0" indent="0">
              <a:buNone/>
              <a:tabLst>
                <a:tab pos="5649913" algn="l"/>
                <a:tab pos="7350125" algn="l"/>
                <a:tab pos="9061450" algn="l"/>
                <a:tab pos="9413875" algn="l"/>
              </a:tabLst>
            </a:pPr>
            <a:endParaRPr lang="en-US" sz="2400" b="1" dirty="0"/>
          </a:p>
          <a:p>
            <a:pPr marL="0" lvl="0" indent="0">
              <a:buNone/>
              <a:tabLst>
                <a:tab pos="5649913" algn="l"/>
                <a:tab pos="7350125" algn="l"/>
                <a:tab pos="9061450" algn="l"/>
                <a:tab pos="9413875" algn="l"/>
              </a:tabLst>
            </a:pPr>
            <a:r>
              <a:rPr lang="en-US" sz="2400" b="1" dirty="0"/>
              <a:t>Solution:</a:t>
            </a:r>
            <a:r>
              <a:rPr lang="en-US" sz="2400" dirty="0"/>
              <a:t> </a:t>
            </a:r>
          </a:p>
          <a:p>
            <a:pPr lvl="0" algn="just"/>
            <a:r>
              <a:rPr lang="en-US" sz="2400" dirty="0"/>
              <a:t>Netflix adopted Kafka for its event streaming needs. Kafka enabled Netflix to handle billions of messages per day with high availability and low latency. It improved the efficiency and scalability of their event processing pipeline, providing real-time insights into user behavior and system performance.</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Netflix</a:t>
            </a:r>
          </a:p>
          <a:p>
            <a:endParaRPr lang="en-IN" dirty="0"/>
          </a:p>
        </p:txBody>
      </p:sp>
    </p:spTree>
    <p:extLst>
      <p:ext uri="{BB962C8B-B14F-4D97-AF65-F5344CB8AC3E}">
        <p14:creationId xmlns:p14="http://schemas.microsoft.com/office/powerpoint/2010/main" val="298862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charRg st="263" end="568"/>
                                            </p:txEl>
                                          </p:spTgt>
                                        </p:tgtEl>
                                        <p:attrNameLst>
                                          <p:attrName>style.visibility</p:attrName>
                                        </p:attrNameLst>
                                      </p:cBhvr>
                                      <p:to>
                                        <p:strVal val="visible"/>
                                      </p:to>
                                    </p:set>
                                    <p:animEffect transition="in" filter="fade">
                                      <p:cBhvr>
                                        <p:cTn id="22" dur="500"/>
                                        <p:tgtEl>
                                          <p:spTgt spid="2">
                                            <p:txEl>
                                              <p:charRg st="263" end="56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Pinterest needed a real-time data processing system to handle the vast amount of data generated by user interactions and content curation activities. The existing batch processing system was not sufficient to meet the real-time requirements..</a:t>
            </a:r>
          </a:p>
          <a:p>
            <a:pPr marL="0" lvl="0" indent="0">
              <a:buNone/>
              <a:tabLst>
                <a:tab pos="5649913" algn="l"/>
                <a:tab pos="7350125" algn="l"/>
                <a:tab pos="9061450" algn="l"/>
                <a:tab pos="9413875" algn="l"/>
              </a:tabLst>
            </a:pPr>
            <a:endParaRPr lang="en-US" sz="2400" b="1" dirty="0"/>
          </a:p>
          <a:p>
            <a:pPr marL="0" lvl="0" indent="0">
              <a:buNone/>
              <a:tabLst>
                <a:tab pos="5649913" algn="l"/>
                <a:tab pos="7350125" algn="l"/>
                <a:tab pos="9061450" algn="l"/>
                <a:tab pos="9413875" algn="l"/>
              </a:tabLst>
            </a:pPr>
            <a:r>
              <a:rPr lang="en-US" sz="2400" b="1" dirty="0"/>
              <a:t>Solution:</a:t>
            </a:r>
            <a:r>
              <a:rPr lang="en-US" sz="2400" dirty="0"/>
              <a:t> </a:t>
            </a:r>
          </a:p>
          <a:p>
            <a:pPr lvl="0" algn="just"/>
            <a:r>
              <a:rPr lang="en-US" sz="2400" dirty="0"/>
              <a:t>Kafka enabled Pinterest to process data in real-time, providing faster insights and improving the personalization of user experiences. It also improved the scalability and efficiency of their data processing pipeline. Kafka ingests real-time data from user interactions, content curation activities, and backend services.</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Pinterest</a:t>
            </a:r>
          </a:p>
          <a:p>
            <a:endParaRPr lang="en-IN" dirty="0"/>
          </a:p>
        </p:txBody>
      </p:sp>
    </p:spTree>
    <p:extLst>
      <p:ext uri="{BB962C8B-B14F-4D97-AF65-F5344CB8AC3E}">
        <p14:creationId xmlns:p14="http://schemas.microsoft.com/office/powerpoint/2010/main" val="215905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charRg st="265" end="587"/>
                                            </p:txEl>
                                          </p:spTgt>
                                        </p:tgtEl>
                                        <p:attrNameLst>
                                          <p:attrName>style.visibility</p:attrName>
                                        </p:attrNameLst>
                                      </p:cBhvr>
                                      <p:to>
                                        <p:strVal val="visible"/>
                                      </p:to>
                                    </p:set>
                                    <p:animEffect transition="in" filter="fade">
                                      <p:cBhvr>
                                        <p:cTn id="22" dur="500"/>
                                        <p:tgtEl>
                                          <p:spTgt spid="2">
                                            <p:txEl>
                                              <p:charRg st="265" end="58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B009-2BB2-3874-5D64-76829825F1A8}"/>
              </a:ext>
            </a:extLst>
          </p:cNvPr>
          <p:cNvSpPr>
            <a:spLocks noGrp="1"/>
          </p:cNvSpPr>
          <p:nvPr>
            <p:ph type="title"/>
          </p:nvPr>
        </p:nvSpPr>
        <p:spPr>
          <a:xfrm>
            <a:off x="539374" y="2660840"/>
            <a:ext cx="11113251" cy="932563"/>
          </a:xfrm>
        </p:spPr>
        <p:txBody>
          <a:bodyPr/>
          <a:lstStyle/>
          <a:p>
            <a:r>
              <a:rPr lang="en-US" sz="5400" dirty="0"/>
              <a:t>Kafka Best Practices</a:t>
            </a:r>
            <a:endParaRPr lang="en-IN" sz="5400" dirty="0"/>
          </a:p>
        </p:txBody>
      </p:sp>
    </p:spTree>
    <p:extLst>
      <p:ext uri="{BB962C8B-B14F-4D97-AF65-F5344CB8AC3E}">
        <p14:creationId xmlns:p14="http://schemas.microsoft.com/office/powerpoint/2010/main" val="1136543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a:buFont typeface="+mj-lt"/>
              <a:buAutoNum type="arabicPeriod"/>
            </a:pPr>
            <a:r>
              <a:rPr lang="en-US" sz="2400" b="1" dirty="0"/>
              <a:t>Topic Design:</a:t>
            </a:r>
            <a:endParaRPr lang="en-US" altLang="en-US" sz="2400" b="1" dirty="0"/>
          </a:p>
          <a:p>
            <a:pPr algn="just" fontAlgn="base">
              <a:spcAft>
                <a:spcPct val="0"/>
              </a:spcAft>
            </a:pPr>
            <a:r>
              <a:rPr lang="en-US" altLang="en-US" sz="2400" dirty="0"/>
              <a:t>Choose meaningful and consistent topic names.</a:t>
            </a:r>
          </a:p>
          <a:p>
            <a:pPr algn="just" fontAlgn="base">
              <a:spcAft>
                <a:spcPct val="0"/>
              </a:spcAft>
            </a:pPr>
            <a:r>
              <a:rPr lang="en-US" altLang="en-US" sz="2400" dirty="0"/>
              <a:t>Keep the number of partitions manageable to ensure efficient handling.</a:t>
            </a:r>
          </a:p>
          <a:p>
            <a:pPr algn="just" fontAlgn="base">
              <a:spcAft>
                <a:spcPct val="0"/>
              </a:spcAft>
            </a:pPr>
            <a:r>
              <a:rPr lang="en-US" altLang="en-US" sz="2400" dirty="0"/>
              <a:t>Use separate topics for different data types or streams. </a:t>
            </a:r>
          </a:p>
          <a:p>
            <a:pPr marL="457200" lvl="0" indent="-457200" algn="just" fontAlgn="base">
              <a:spcAft>
                <a:spcPct val="0"/>
              </a:spcAft>
              <a:buFont typeface="+mj-lt"/>
              <a:buAutoNum type="arabicPeriod" startAt="2"/>
            </a:pPr>
            <a:r>
              <a:rPr lang="en-US" sz="2400" b="1" dirty="0"/>
              <a:t>Partitioning:</a:t>
            </a:r>
            <a:endParaRPr lang="en-US" altLang="en-US" sz="2400" b="1" dirty="0"/>
          </a:p>
          <a:p>
            <a:pPr lvl="0" algn="just" fontAlgn="base">
              <a:spcAft>
                <a:spcPct val="0"/>
              </a:spcAft>
            </a:pPr>
            <a:r>
              <a:rPr lang="en-US" altLang="en-US" sz="2400" dirty="0"/>
              <a:t>Use an appropriate number of partitions to balance throughput and parallelism.</a:t>
            </a:r>
          </a:p>
          <a:p>
            <a:pPr lvl="0" algn="just" fontAlgn="base">
              <a:spcAft>
                <a:spcPct val="0"/>
              </a:spcAft>
            </a:pPr>
            <a:r>
              <a:rPr lang="en-US" altLang="en-US" sz="2400" dirty="0"/>
              <a:t>Ensure partition keys distribute data evenly across partitions.</a:t>
            </a:r>
          </a:p>
          <a:p>
            <a:pPr lvl="0" algn="just" fontAlgn="base">
              <a:spcAft>
                <a:spcPct val="0"/>
              </a:spcAft>
            </a:pPr>
            <a:r>
              <a:rPr lang="en-US" altLang="en-US" sz="2400" dirty="0"/>
              <a:t>Avoid excessive partitioning to prevent high overhead. </a:t>
            </a:r>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300073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fontAlgn="base">
              <a:spcAft>
                <a:spcPct val="0"/>
              </a:spcAft>
              <a:buFont typeface="+mj-lt"/>
              <a:buAutoNum type="arabicPeriod" startAt="3"/>
            </a:pPr>
            <a:r>
              <a:rPr lang="en-US" sz="2400" b="1" dirty="0"/>
              <a:t>Replication:</a:t>
            </a:r>
            <a:endParaRPr lang="en-US" altLang="en-US" sz="2400" b="1" dirty="0"/>
          </a:p>
          <a:p>
            <a:pPr lvl="0" algn="just" fontAlgn="base">
              <a:spcAft>
                <a:spcPct val="0"/>
              </a:spcAft>
            </a:pPr>
            <a:r>
              <a:rPr lang="en-US" altLang="en-US" sz="2400" dirty="0"/>
              <a:t>Set a replication factor greater than 1 to ensure data durability.</a:t>
            </a:r>
          </a:p>
          <a:p>
            <a:pPr lvl="0" algn="just" fontAlgn="base">
              <a:spcAft>
                <a:spcPct val="0"/>
              </a:spcAft>
            </a:pPr>
            <a:r>
              <a:rPr lang="en-US" altLang="en-US" sz="2400" dirty="0"/>
              <a:t>Place replicas on different brokers to improve fault tolerance. </a:t>
            </a:r>
          </a:p>
          <a:p>
            <a:pPr marL="457200" lvl="0" indent="-457200" algn="just" fontAlgn="base">
              <a:spcAft>
                <a:spcPct val="0"/>
              </a:spcAft>
              <a:buFont typeface="+mj-lt"/>
              <a:buAutoNum type="arabicPeriod" startAt="4"/>
            </a:pPr>
            <a:r>
              <a:rPr lang="en-US" sz="2400" b="1" dirty="0"/>
              <a:t>Monitoring and Metrics:</a:t>
            </a:r>
            <a:endParaRPr lang="en-US" altLang="en-US" sz="2400" b="1" dirty="0"/>
          </a:p>
          <a:p>
            <a:pPr lvl="0" algn="just" fontAlgn="base">
              <a:spcAft>
                <a:spcPct val="0"/>
              </a:spcAft>
            </a:pPr>
            <a:r>
              <a:rPr lang="en-US" altLang="en-US" sz="2400" dirty="0"/>
              <a:t>Use monitoring tools like Kafka Manager, Burrow, or Prometheus to track Kafka metrics.</a:t>
            </a:r>
          </a:p>
          <a:p>
            <a:pPr lvl="0" algn="just" fontAlgn="base">
              <a:spcAft>
                <a:spcPct val="0"/>
              </a:spcAft>
            </a:pPr>
            <a:r>
              <a:rPr lang="en-US" altLang="en-US" sz="2400" dirty="0"/>
              <a:t>Monitor broker health, topic performance, and consumer lag. </a:t>
            </a:r>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401418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charRg st="169" end="256"/>
                                            </p:txEl>
                                          </p:spTgt>
                                        </p:tgtEl>
                                        <p:attrNameLst>
                                          <p:attrName>style.visibility</p:attrName>
                                        </p:attrNameLst>
                                      </p:cBhvr>
                                      <p:to>
                                        <p:strVal val="visible"/>
                                      </p:to>
                                    </p:set>
                                    <p:animEffect transition="in" filter="fade">
                                      <p:cBhvr>
                                        <p:cTn id="27" dur="500"/>
                                        <p:tgtEl>
                                          <p:spTgt spid="2">
                                            <p:txEl>
                                              <p:charRg st="169" end="25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charRg st="256" end="317"/>
                                            </p:txEl>
                                          </p:spTgt>
                                        </p:tgtEl>
                                        <p:attrNameLst>
                                          <p:attrName>style.visibility</p:attrName>
                                        </p:attrNameLst>
                                      </p:cBhvr>
                                      <p:to>
                                        <p:strVal val="visible"/>
                                      </p:to>
                                    </p:set>
                                    <p:animEffect transition="in" filter="fade">
                                      <p:cBhvr>
                                        <p:cTn id="32" dur="500"/>
                                        <p:tgtEl>
                                          <p:spTgt spid="2">
                                            <p:txEl>
                                              <p:charRg st="256" end="31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fontAlgn="base">
              <a:spcAft>
                <a:spcPct val="0"/>
              </a:spcAft>
              <a:buFont typeface="+mj-lt"/>
              <a:buAutoNum type="arabicPeriod" startAt="5"/>
            </a:pPr>
            <a:r>
              <a:rPr lang="en-US" sz="2400" b="1" dirty="0"/>
              <a:t>Consumer Configuration:</a:t>
            </a:r>
            <a:endParaRPr lang="en-US" altLang="en-US" sz="2400" dirty="0">
              <a:solidFill>
                <a:schemeClr val="tx1"/>
              </a:solidFill>
              <a:latin typeface="Arial" panose="020B0604020202020204" pitchFamily="34" charset="0"/>
            </a:endParaRPr>
          </a:p>
          <a:p>
            <a:pPr lvl="0" algn="just" fontAlgn="base">
              <a:spcAft>
                <a:spcPct val="0"/>
              </a:spcAft>
            </a:pPr>
            <a:r>
              <a:rPr lang="en-US" altLang="en-US" sz="2400" dirty="0"/>
              <a:t>Use consumer groups to balance the load across multiple consumers.</a:t>
            </a:r>
          </a:p>
          <a:p>
            <a:pPr lvl="0" algn="just" fontAlgn="base">
              <a:spcAft>
                <a:spcPct val="0"/>
              </a:spcAft>
            </a:pPr>
            <a:r>
              <a:rPr lang="en-US" altLang="en-US" sz="2400" dirty="0"/>
              <a:t>Ensure consumers commit offsets periodically to track processing progress.</a:t>
            </a:r>
          </a:p>
          <a:p>
            <a:pPr lvl="0" algn="just" fontAlgn="base">
              <a:spcAft>
                <a:spcPct val="0"/>
              </a:spcAft>
            </a:pPr>
            <a:r>
              <a:rPr lang="en-US" altLang="en-US" sz="2400" dirty="0"/>
              <a:t>Handle rebalances by managing state and avoiding long-running processes. </a:t>
            </a:r>
          </a:p>
          <a:p>
            <a:pPr marL="457200" lvl="0" indent="-457200" algn="just" fontAlgn="base">
              <a:spcAft>
                <a:spcPct val="0"/>
              </a:spcAft>
              <a:buFont typeface="+mj-lt"/>
              <a:buAutoNum type="arabicPeriod" startAt="6"/>
            </a:pPr>
            <a:r>
              <a:rPr lang="en-US" sz="2400" b="1" dirty="0"/>
              <a:t>Producer Configuration:</a:t>
            </a:r>
            <a:endParaRPr lang="en-US" altLang="en-US" sz="2400" b="1" dirty="0"/>
          </a:p>
          <a:p>
            <a:pPr lvl="0" algn="just" fontAlgn="base">
              <a:spcAft>
                <a:spcPct val="0"/>
              </a:spcAft>
            </a:pPr>
            <a:r>
              <a:rPr lang="en-US" altLang="en-US" sz="2400" dirty="0"/>
              <a:t>Use batching and compression to improve throughput and reduce latency.</a:t>
            </a:r>
          </a:p>
          <a:p>
            <a:pPr lvl="0" algn="just" fontAlgn="base">
              <a:spcAft>
                <a:spcPct val="0"/>
              </a:spcAft>
            </a:pPr>
            <a:r>
              <a:rPr lang="en-US" altLang="en-US" sz="2400" dirty="0"/>
              <a:t>Handle retries and configure acknowledgment settings to ensure message delivery.</a:t>
            </a:r>
          </a:p>
          <a:p>
            <a:pPr lvl="0" algn="just" fontAlgn="base">
              <a:spcAft>
                <a:spcPct val="0"/>
              </a:spcAft>
            </a:pPr>
            <a:r>
              <a:rPr lang="en-US" altLang="en-US" sz="2400" dirty="0"/>
              <a:t>Monitor producer performance and adjust configurations based on workload.</a:t>
            </a:r>
          </a:p>
          <a:p>
            <a:pPr lvl="0" algn="just" fontAlgn="base">
              <a:spcAft>
                <a:spcPct val="0"/>
              </a:spcAft>
            </a:pPr>
            <a:endParaRPr lang="en-US" altLang="en-US" sz="2400" dirty="0"/>
          </a:p>
          <a:p>
            <a:pPr lvl="0" algn="just" fontAlgn="base">
              <a:spcAft>
                <a:spcPct val="0"/>
              </a:spcAft>
            </a:pPr>
            <a:endParaRPr lang="en-US" alt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109244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Tree>
    <p:extLst>
      <p:ext uri="{BB962C8B-B14F-4D97-AF65-F5344CB8AC3E}">
        <p14:creationId xmlns:p14="http://schemas.microsoft.com/office/powerpoint/2010/main" val="164921376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1004</TotalTime>
  <Words>612</Words>
  <Application>Microsoft Office PowerPoint</Application>
  <PresentationFormat>Widescreen</PresentationFormat>
  <Paragraphs>60</Paragraphs>
  <Slides>13</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Roboto</vt:lpstr>
      <vt:lpstr>Roboto Light</vt:lpstr>
      <vt:lpstr>Arial</vt:lpstr>
      <vt:lpstr>Calibri</vt:lpstr>
      <vt:lpstr>Segoe UI</vt:lpstr>
      <vt:lpstr>Calibri Light</vt:lpstr>
      <vt:lpstr>ScholarHat Layout</vt:lpstr>
      <vt:lpstr>Agenda</vt:lpstr>
      <vt:lpstr>DEMO</vt:lpstr>
      <vt:lpstr>DEMO</vt:lpstr>
      <vt:lpstr>Kafka Case Studies</vt:lpstr>
      <vt:lpstr>PowerPoint Presentation</vt:lpstr>
      <vt:lpstr>PowerPoint Presentation</vt:lpstr>
      <vt:lpstr>PowerPoint Presentation</vt:lpstr>
      <vt:lpstr>PowerPoint Presentation</vt:lpstr>
      <vt:lpstr>Kafka Best Practices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Shailendra Chauhan</dc:creator>
  <cp:lastModifiedBy>Bhawna Gunwani</cp:lastModifiedBy>
  <cp:revision>72</cp:revision>
  <dcterms:created xsi:type="dcterms:W3CDTF">2015-04-26T09:42:00Z</dcterms:created>
  <dcterms:modified xsi:type="dcterms:W3CDTF">2024-07-30T07:53:21Z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1033-11.2.0.8934</vt:lpwstr>
  </property>
</Properties>
</file>