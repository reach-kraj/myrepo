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21"/>
  </p:notesMasterIdLst>
  <p:sldIdLst>
    <p:sldId id="653" r:id="rId2"/>
    <p:sldId id="2147469565" r:id="rId3"/>
    <p:sldId id="654" r:id="rId4"/>
    <p:sldId id="2147469609" r:id="rId5"/>
    <p:sldId id="2147469594" r:id="rId6"/>
    <p:sldId id="2147469610" r:id="rId7"/>
    <p:sldId id="2147469582" r:id="rId8"/>
    <p:sldId id="2147469601" r:id="rId9"/>
    <p:sldId id="2147469611" r:id="rId10"/>
    <p:sldId id="2147469571" r:id="rId11"/>
    <p:sldId id="2147469589" r:id="rId12"/>
    <p:sldId id="2147469612" r:id="rId13"/>
    <p:sldId id="2147469613" r:id="rId14"/>
    <p:sldId id="2147469614" r:id="rId15"/>
    <p:sldId id="2147469615" r:id="rId16"/>
    <p:sldId id="2147469591" r:id="rId17"/>
    <p:sldId id="2147469588" r:id="rId18"/>
    <p:sldId id="2147469616" r:id="rId19"/>
    <p:sldId id="652" r:id="rId20"/>
  </p:sldIdLst>
  <p:sldSz cx="12192000" cy="6858000"/>
  <p:notesSz cx="6858000" cy="9144000"/>
  <p:embeddedFontLs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Roboto Light" panose="02000000000000000000" pitchFamily="2" charset="0"/>
      <p:regular r:id="rId30"/>
      <p:italic r:id="rId31"/>
    </p:embeddedFont>
    <p:embeddedFont>
      <p:font typeface="Segoe UI" panose="020B0502040204020203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4" roundtripDataSignature="AMtx7mh4JH5ueQL7jJyfo3nn6sRP9btb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00B2FD"/>
    <a:srgbClr val="00D2D0"/>
    <a:srgbClr val="104862"/>
    <a:srgbClr val="0022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01B03F-49C1-4DC1-89E4-30A207219E00}" v="34" dt="2025-01-15T06:37:43.495"/>
  </p1510:revLst>
</p1510:revInfo>
</file>

<file path=ppt/tableStyles.xml><?xml version="1.0" encoding="utf-8"?>
<a:tblStyleLst xmlns:a="http://schemas.openxmlformats.org/drawingml/2006/main" def="{F135600F-F13D-4679-8B6B-FA6B3F42D87D}">
  <a:tblStyle styleId="{F135600F-F13D-4679-8B6B-FA6B3F42D8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5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C8038AFE-CCF1-4FDC-A269-7D11ED35420A}"/>
    <pc:docChg chg="modSld">
      <pc:chgData name="Shailendra Chauhan" userId="a7d3133f-e197-4b90-bf63-99a63a264234" providerId="ADAL" clId="{C8038AFE-CCF1-4FDC-A269-7D11ED35420A}" dt="2024-08-18T01:25:19.747" v="12" actId="20577"/>
      <pc:docMkLst>
        <pc:docMk/>
      </pc:docMkLst>
      <pc:sldChg chg="modSp">
        <pc:chgData name="Shailendra Chauhan" userId="a7d3133f-e197-4b90-bf63-99a63a264234" providerId="ADAL" clId="{C8038AFE-CCF1-4FDC-A269-7D11ED35420A}" dt="2024-08-18T01:25:19.747" v="12" actId="20577"/>
        <pc:sldMkLst>
          <pc:docMk/>
          <pc:sldMk cId="1960985687" sldId="653"/>
        </pc:sldMkLst>
      </pc:sldChg>
    </pc:docChg>
  </pc:docChgLst>
  <pc:docChgLst>
    <pc:chgData name="Shailendra Chauhan" userId="S::shailendra@scholarhat.com::a7d3133f-e197-4b90-bf63-99a63a264234" providerId="AD" clId="Web-{61E641AA-546A-0F3A-7F67-1B62930EC0E2}"/>
    <pc:docChg chg="addSld delSld modSld">
      <pc:chgData name="Shailendra Chauhan" userId="S::shailendra@scholarhat.com::a7d3133f-e197-4b90-bf63-99a63a264234" providerId="AD" clId="Web-{61E641AA-546A-0F3A-7F67-1B62930EC0E2}" dt="2024-08-18T01:14:47.316" v="148" actId="14100"/>
      <pc:docMkLst>
        <pc:docMk/>
      </pc:docMkLst>
      <pc:sldChg chg="modSp">
        <pc:chgData name="Shailendra Chauhan" userId="S::shailendra@scholarhat.com::a7d3133f-e197-4b90-bf63-99a63a264234" providerId="AD" clId="Web-{61E641AA-546A-0F3A-7F67-1B62930EC0E2}" dt="2024-08-18T01:06:19.671" v="61" actId="20577"/>
        <pc:sldMkLst>
          <pc:docMk/>
          <pc:sldMk cId="3216706885" sldId="2147469617"/>
        </pc:sldMkLst>
      </pc:sldChg>
      <pc:sldChg chg="modSp">
        <pc:chgData name="Shailendra Chauhan" userId="S::shailendra@scholarhat.com::a7d3133f-e197-4b90-bf63-99a63a264234" providerId="AD" clId="Web-{61E641AA-546A-0F3A-7F67-1B62930EC0E2}" dt="2024-08-18T01:04:36.139" v="38" actId="20577"/>
        <pc:sldMkLst>
          <pc:docMk/>
          <pc:sldMk cId="4059751593" sldId="2147469619"/>
        </pc:sldMkLst>
      </pc:sldChg>
      <pc:sldChg chg="modSp">
        <pc:chgData name="Shailendra Chauhan" userId="S::shailendra@scholarhat.com::a7d3133f-e197-4b90-bf63-99a63a264234" providerId="AD" clId="Web-{61E641AA-546A-0F3A-7F67-1B62930EC0E2}" dt="2024-08-18T00:58:15.466" v="6" actId="20577"/>
        <pc:sldMkLst>
          <pc:docMk/>
          <pc:sldMk cId="3080791874" sldId="2147469620"/>
        </pc:sldMkLst>
      </pc:sldChg>
      <pc:sldChg chg="addSp delSp modSp mod modClrScheme chgLayout">
        <pc:chgData name="Shailendra Chauhan" userId="S::shailendra@scholarhat.com::a7d3133f-e197-4b90-bf63-99a63a264234" providerId="AD" clId="Web-{61E641AA-546A-0F3A-7F67-1B62930EC0E2}" dt="2024-08-18T01:10:56.366" v="96"/>
        <pc:sldMkLst>
          <pc:docMk/>
          <pc:sldMk cId="2717963480" sldId="2147469621"/>
        </pc:sldMkLst>
      </pc:sldChg>
      <pc:sldChg chg="modSp addAnim delAnim">
        <pc:chgData name="Shailendra Chauhan" userId="S::shailendra@scholarhat.com::a7d3133f-e197-4b90-bf63-99a63a264234" providerId="AD" clId="Web-{61E641AA-546A-0F3A-7F67-1B62930EC0E2}" dt="2024-08-18T01:09:28.489" v="92" actId="20577"/>
        <pc:sldMkLst>
          <pc:docMk/>
          <pc:sldMk cId="2659144288" sldId="2147469622"/>
        </pc:sldMkLst>
      </pc:sldChg>
      <pc:sldChg chg="modSp">
        <pc:chgData name="Shailendra Chauhan" userId="S::shailendra@scholarhat.com::a7d3133f-e197-4b90-bf63-99a63a264234" providerId="AD" clId="Web-{61E641AA-546A-0F3A-7F67-1B62930EC0E2}" dt="2024-08-18T00:58:41.169" v="7" actId="20577"/>
        <pc:sldMkLst>
          <pc:docMk/>
          <pc:sldMk cId="1394212482" sldId="2147469628"/>
        </pc:sldMkLst>
      </pc:sldChg>
      <pc:sldChg chg="modSp">
        <pc:chgData name="Shailendra Chauhan" userId="S::shailendra@scholarhat.com::a7d3133f-e197-4b90-bf63-99a63a264234" providerId="AD" clId="Web-{61E641AA-546A-0F3A-7F67-1B62930EC0E2}" dt="2024-08-18T00:58:51.826" v="8" actId="20577"/>
        <pc:sldMkLst>
          <pc:docMk/>
          <pc:sldMk cId="547153779" sldId="2147469629"/>
        </pc:sldMkLst>
      </pc:sldChg>
      <pc:sldChg chg="addSp delSp modSp new del mod modClrScheme chgLayout">
        <pc:chgData name="Shailendra Chauhan" userId="S::shailendra@scholarhat.com::a7d3133f-e197-4b90-bf63-99a63a264234" providerId="AD" clId="Web-{61E641AA-546A-0F3A-7F67-1B62930EC0E2}" dt="2024-08-18T01:12:35.726" v="124"/>
        <pc:sldMkLst>
          <pc:docMk/>
          <pc:sldMk cId="1104469836" sldId="2147469630"/>
        </pc:sldMkLst>
      </pc:sldChg>
      <pc:sldChg chg="addSp modSp new">
        <pc:chgData name="Shailendra Chauhan" userId="S::shailendra@scholarhat.com::a7d3133f-e197-4b90-bf63-99a63a264234" providerId="AD" clId="Web-{61E641AA-546A-0F3A-7F67-1B62930EC0E2}" dt="2024-08-18T01:14:47.316" v="148" actId="14100"/>
        <pc:sldMkLst>
          <pc:docMk/>
          <pc:sldMk cId="3055252153" sldId="2147469631"/>
        </pc:sldMkLst>
      </pc:sldChg>
      <pc:sldChg chg="add del replId">
        <pc:chgData name="Shailendra Chauhan" userId="S::shailendra@scholarhat.com::a7d3133f-e197-4b90-bf63-99a63a264234" providerId="AD" clId="Web-{61E641AA-546A-0F3A-7F67-1B62930EC0E2}" dt="2024-08-18T01:12:31.695" v="123"/>
        <pc:sldMkLst>
          <pc:docMk/>
          <pc:sldMk cId="1621021332" sldId="2147469632"/>
        </pc:sldMkLst>
      </pc:sldChg>
    </pc:docChg>
  </pc:docChgLst>
  <pc:docChgLst>
    <pc:chgData name="Shailendra Chauhan" userId="a7d3133f-e197-4b90-bf63-99a63a264234" providerId="ADAL" clId="{C301B03F-49C1-4DC1-89E4-30A207219E00}"/>
    <pc:docChg chg="undo custSel delSld modSld">
      <pc:chgData name="Shailendra Chauhan" userId="a7d3133f-e197-4b90-bf63-99a63a264234" providerId="ADAL" clId="{C301B03F-49C1-4DC1-89E4-30A207219E00}" dt="2025-01-15T06:37:50.618" v="43" actId="2696"/>
      <pc:docMkLst>
        <pc:docMk/>
      </pc:docMkLst>
      <pc:sldChg chg="modSp mod">
        <pc:chgData name="Shailendra Chauhan" userId="a7d3133f-e197-4b90-bf63-99a63a264234" providerId="ADAL" clId="{C301B03F-49C1-4DC1-89E4-30A207219E00}" dt="2025-01-15T06:37:43.492" v="42" actId="20577"/>
        <pc:sldMkLst>
          <pc:docMk/>
          <pc:sldMk cId="1960985687" sldId="653"/>
        </pc:sldMkLst>
        <pc:spChg chg="mod">
          <ac:chgData name="Shailendra Chauhan" userId="a7d3133f-e197-4b90-bf63-99a63a264234" providerId="ADAL" clId="{C301B03F-49C1-4DC1-89E4-30A207219E00}" dt="2025-01-15T06:37:37.419" v="41" actId="21"/>
          <ac:spMkLst>
            <pc:docMk/>
            <pc:sldMk cId="1960985687" sldId="653"/>
            <ac:spMk id="3" creationId="{E4A10996-925C-4155-881D-D3C8FEE61440}"/>
          </ac:spMkLst>
        </pc:spChg>
        <pc:spChg chg="mod">
          <ac:chgData name="Shailendra Chauhan" userId="a7d3133f-e197-4b90-bf63-99a63a264234" providerId="ADAL" clId="{C301B03F-49C1-4DC1-89E4-30A207219E00}" dt="2025-01-15T06:37:43.492" v="42" actId="20577"/>
          <ac:spMkLst>
            <pc:docMk/>
            <pc:sldMk cId="1960985687" sldId="653"/>
            <ac:spMk id="4" creationId="{230785AF-6D2C-48C9-892C-CC3354923A32}"/>
          </ac:spMkLst>
        </pc:spChg>
      </pc:sldChg>
      <pc:sldChg chg="del">
        <pc:chgData name="Shailendra Chauhan" userId="a7d3133f-e197-4b90-bf63-99a63a264234" providerId="ADAL" clId="{C301B03F-49C1-4DC1-89E4-30A207219E00}" dt="2025-01-15T06:37:09.528" v="40" actId="2696"/>
        <pc:sldMkLst>
          <pc:docMk/>
          <pc:sldMk cId="1520636343" sldId="2147469558"/>
        </pc:sldMkLst>
      </pc:sldChg>
      <pc:sldChg chg="modSp del mod">
        <pc:chgData name="Shailendra Chauhan" userId="a7d3133f-e197-4b90-bf63-99a63a264234" providerId="ADAL" clId="{C301B03F-49C1-4DC1-89E4-30A207219E00}" dt="2025-01-15T06:37:50.618" v="43" actId="2696"/>
        <pc:sldMkLst>
          <pc:docMk/>
          <pc:sldMk cId="2312252386" sldId="2147469573"/>
        </pc:sldMkLst>
        <pc:spChg chg="mod">
          <ac:chgData name="Shailendra Chauhan" userId="a7d3133f-e197-4b90-bf63-99a63a264234" providerId="ADAL" clId="{C301B03F-49C1-4DC1-89E4-30A207219E00}" dt="2025-01-15T06:37:02.628" v="39" actId="20577"/>
          <ac:spMkLst>
            <pc:docMk/>
            <pc:sldMk cId="2312252386" sldId="2147469573"/>
            <ac:spMk id="2" creationId="{615DB009-2BB2-3874-5D64-76829825F1A8}"/>
          </ac:spMkLst>
        </pc:spChg>
      </pc:sldChg>
      <pc:sldChg chg="del">
        <pc:chgData name="Shailendra Chauhan" userId="a7d3133f-e197-4b90-bf63-99a63a264234" providerId="ADAL" clId="{C301B03F-49C1-4DC1-89E4-30A207219E00}" dt="2025-01-15T06:37:09.528" v="40" actId="2696"/>
        <pc:sldMkLst>
          <pc:docMk/>
          <pc:sldMk cId="3216706885" sldId="2147469617"/>
        </pc:sldMkLst>
      </pc:sldChg>
      <pc:sldChg chg="del">
        <pc:chgData name="Shailendra Chauhan" userId="a7d3133f-e197-4b90-bf63-99a63a264234" providerId="ADAL" clId="{C301B03F-49C1-4DC1-89E4-30A207219E00}" dt="2025-01-15T06:37:09.528" v="40" actId="2696"/>
        <pc:sldMkLst>
          <pc:docMk/>
          <pc:sldMk cId="744861953" sldId="2147469618"/>
        </pc:sldMkLst>
      </pc:sldChg>
      <pc:sldChg chg="del">
        <pc:chgData name="Shailendra Chauhan" userId="a7d3133f-e197-4b90-bf63-99a63a264234" providerId="ADAL" clId="{C301B03F-49C1-4DC1-89E4-30A207219E00}" dt="2025-01-15T06:37:09.528" v="40" actId="2696"/>
        <pc:sldMkLst>
          <pc:docMk/>
          <pc:sldMk cId="4059751593" sldId="2147469619"/>
        </pc:sldMkLst>
      </pc:sldChg>
      <pc:sldChg chg="del">
        <pc:chgData name="Shailendra Chauhan" userId="a7d3133f-e197-4b90-bf63-99a63a264234" providerId="ADAL" clId="{C301B03F-49C1-4DC1-89E4-30A207219E00}" dt="2025-01-15T06:37:09.528" v="40" actId="2696"/>
        <pc:sldMkLst>
          <pc:docMk/>
          <pc:sldMk cId="3080791874" sldId="2147469620"/>
        </pc:sldMkLst>
      </pc:sldChg>
      <pc:sldChg chg="del">
        <pc:chgData name="Shailendra Chauhan" userId="a7d3133f-e197-4b90-bf63-99a63a264234" providerId="ADAL" clId="{C301B03F-49C1-4DC1-89E4-30A207219E00}" dt="2025-01-15T06:37:09.528" v="40" actId="2696"/>
        <pc:sldMkLst>
          <pc:docMk/>
          <pc:sldMk cId="2717963480" sldId="2147469621"/>
        </pc:sldMkLst>
      </pc:sldChg>
      <pc:sldChg chg="del">
        <pc:chgData name="Shailendra Chauhan" userId="a7d3133f-e197-4b90-bf63-99a63a264234" providerId="ADAL" clId="{C301B03F-49C1-4DC1-89E4-30A207219E00}" dt="2025-01-15T06:37:09.528" v="40" actId="2696"/>
        <pc:sldMkLst>
          <pc:docMk/>
          <pc:sldMk cId="2659144288" sldId="2147469622"/>
        </pc:sldMkLst>
      </pc:sldChg>
      <pc:sldChg chg="del">
        <pc:chgData name="Shailendra Chauhan" userId="a7d3133f-e197-4b90-bf63-99a63a264234" providerId="ADAL" clId="{C301B03F-49C1-4DC1-89E4-30A207219E00}" dt="2025-01-15T06:37:09.528" v="40" actId="2696"/>
        <pc:sldMkLst>
          <pc:docMk/>
          <pc:sldMk cId="2862149193" sldId="2147469623"/>
        </pc:sldMkLst>
      </pc:sldChg>
      <pc:sldChg chg="del">
        <pc:chgData name="Shailendra Chauhan" userId="a7d3133f-e197-4b90-bf63-99a63a264234" providerId="ADAL" clId="{C301B03F-49C1-4DC1-89E4-30A207219E00}" dt="2025-01-15T06:37:09.528" v="40" actId="2696"/>
        <pc:sldMkLst>
          <pc:docMk/>
          <pc:sldMk cId="397647937" sldId="2147469624"/>
        </pc:sldMkLst>
      </pc:sldChg>
      <pc:sldChg chg="del">
        <pc:chgData name="Shailendra Chauhan" userId="a7d3133f-e197-4b90-bf63-99a63a264234" providerId="ADAL" clId="{C301B03F-49C1-4DC1-89E4-30A207219E00}" dt="2025-01-15T06:37:09.528" v="40" actId="2696"/>
        <pc:sldMkLst>
          <pc:docMk/>
          <pc:sldMk cId="3073490298" sldId="2147469625"/>
        </pc:sldMkLst>
      </pc:sldChg>
      <pc:sldChg chg="del">
        <pc:chgData name="Shailendra Chauhan" userId="a7d3133f-e197-4b90-bf63-99a63a264234" providerId="ADAL" clId="{C301B03F-49C1-4DC1-89E4-30A207219E00}" dt="2025-01-15T06:37:09.528" v="40" actId="2696"/>
        <pc:sldMkLst>
          <pc:docMk/>
          <pc:sldMk cId="687402695" sldId="2147469626"/>
        </pc:sldMkLst>
      </pc:sldChg>
      <pc:sldChg chg="del">
        <pc:chgData name="Shailendra Chauhan" userId="a7d3133f-e197-4b90-bf63-99a63a264234" providerId="ADAL" clId="{C301B03F-49C1-4DC1-89E4-30A207219E00}" dt="2025-01-15T06:37:09.528" v="40" actId="2696"/>
        <pc:sldMkLst>
          <pc:docMk/>
          <pc:sldMk cId="1255358529" sldId="2147469627"/>
        </pc:sldMkLst>
      </pc:sldChg>
      <pc:sldChg chg="del">
        <pc:chgData name="Shailendra Chauhan" userId="a7d3133f-e197-4b90-bf63-99a63a264234" providerId="ADAL" clId="{C301B03F-49C1-4DC1-89E4-30A207219E00}" dt="2025-01-15T06:37:09.528" v="40" actId="2696"/>
        <pc:sldMkLst>
          <pc:docMk/>
          <pc:sldMk cId="1394212482" sldId="2147469628"/>
        </pc:sldMkLst>
      </pc:sldChg>
      <pc:sldChg chg="del">
        <pc:chgData name="Shailendra Chauhan" userId="a7d3133f-e197-4b90-bf63-99a63a264234" providerId="ADAL" clId="{C301B03F-49C1-4DC1-89E4-30A207219E00}" dt="2025-01-15T06:37:09.528" v="40" actId="2696"/>
        <pc:sldMkLst>
          <pc:docMk/>
          <pc:sldMk cId="547153779" sldId="2147469629"/>
        </pc:sldMkLst>
      </pc:sldChg>
      <pc:sldChg chg="del">
        <pc:chgData name="Shailendra Chauhan" userId="a7d3133f-e197-4b90-bf63-99a63a264234" providerId="ADAL" clId="{C301B03F-49C1-4DC1-89E4-30A207219E00}" dt="2025-01-15T06:37:09.528" v="40" actId="2696"/>
        <pc:sldMkLst>
          <pc:docMk/>
          <pc:sldMk cId="3055252153" sldId="214746963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100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5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0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12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Two Lines</a:t>
            </a:r>
          </a:p>
          <a:p>
            <a:pPr lvl="0"/>
            <a:r>
              <a:rPr lang="en-US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14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1029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94801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61835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90545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44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2857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Two Lines</a:t>
            </a:r>
          </a:p>
          <a:p>
            <a:pPr lvl="0"/>
            <a:r>
              <a:rPr lang="en-US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90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80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18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1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13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Heading</a:t>
            </a:r>
            <a:endParaRPr lang="en-US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1319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Heading Text</a:t>
            </a:r>
            <a:endParaRPr lang="en-US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09206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5677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83275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239933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318250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06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53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/>
              <a:t>Heading Text</a:t>
            </a:r>
            <a:endParaRPr lang="en-US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49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5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80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10996-925C-4155-881D-D3C8FEE61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9317" y="1264119"/>
            <a:ext cx="5696246" cy="4831881"/>
          </a:xfrm>
        </p:spPr>
        <p:txBody>
          <a:bodyPr>
            <a:noAutofit/>
          </a:bodyPr>
          <a:lstStyle/>
          <a:p>
            <a:r>
              <a:rPr lang="en-IN" dirty="0"/>
              <a:t>What is Jenkins?</a:t>
            </a:r>
          </a:p>
          <a:p>
            <a:r>
              <a:rPr lang="en-IN" dirty="0"/>
              <a:t>Jenkins Features </a:t>
            </a:r>
          </a:p>
          <a:p>
            <a:r>
              <a:rPr lang="en-IN" dirty="0"/>
              <a:t>Jenkins Architecture</a:t>
            </a:r>
          </a:p>
          <a:p>
            <a:r>
              <a:rPr lang="en-IN" dirty="0"/>
              <a:t>Jenkins Pipeline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785AF-6D2C-48C9-892C-CC3354923A3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748191" y="549710"/>
            <a:ext cx="5696246" cy="679118"/>
          </a:xfrm>
        </p:spPr>
        <p:txBody>
          <a:bodyPr>
            <a:normAutofit/>
          </a:bodyPr>
          <a:lstStyle/>
          <a:p>
            <a:r>
              <a:rPr lang="en-US" dirty="0">
                <a:ea typeface="Roboto" panose="02000000000000000000" pitchFamily="2" charset="0"/>
              </a:rPr>
              <a:t>Jenkins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8CFD5-8B2F-4A84-B5F8-34CB6571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9856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 dirty="0"/>
              <a:t>Jenkins Overview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402616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Jenkins is one of the most famous Java-based open-source tool.</a:t>
            </a:r>
            <a:endParaRPr lang="en-US" sz="2400" dirty="0"/>
          </a:p>
          <a:p>
            <a:pPr algn="just"/>
            <a:r>
              <a:rPr lang="en-US" sz="2400" dirty="0"/>
              <a:t>A software that allows continuous integration.  </a:t>
            </a:r>
          </a:p>
          <a:p>
            <a:pPr algn="just"/>
            <a:r>
              <a:rPr lang="en-US" sz="2400" dirty="0"/>
              <a:t>Allows code to be developed and tested almost immediately.</a:t>
            </a:r>
          </a:p>
          <a:p>
            <a:pPr algn="just"/>
            <a:r>
              <a:rPr lang="en-US" sz="2400" dirty="0"/>
              <a:t>Removes a lot of burden for the testers and provides quicker integration</a:t>
            </a:r>
          </a:p>
          <a:p>
            <a:pPr algn="just"/>
            <a:r>
              <a:rPr lang="en-GB" sz="2400" dirty="0"/>
              <a:t>Also known as the </a:t>
            </a:r>
            <a:r>
              <a:rPr lang="en-GB" sz="2400" b="1" i="1" dirty="0"/>
              <a:t>Heart of the DevOps pipeline</a:t>
            </a:r>
            <a:r>
              <a:rPr lang="en-GB" sz="2400" dirty="0"/>
              <a:t>.</a:t>
            </a:r>
            <a:endParaRPr lang="en-US" sz="2400" dirty="0"/>
          </a:p>
          <a:p>
            <a:pPr algn="just"/>
            <a:endParaRPr lang="en-US" sz="2400" dirty="0"/>
          </a:p>
          <a:p>
            <a:pPr lvl="0" algn="just"/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Introduction to Jenkins</a:t>
            </a:r>
          </a:p>
          <a:p>
            <a:endParaRPr lang="en-IN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4849D83-2F34-6DC1-50A8-814840B164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0"/>
          <a:stretch/>
        </p:blipFill>
        <p:spPr bwMode="auto">
          <a:xfrm>
            <a:off x="9229344" y="3429000"/>
            <a:ext cx="2218944" cy="2856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73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 dirty="0"/>
              <a:t>Jenkins Setup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8947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9C1EEC-BE96-7606-2E2A-9C5CAA007C6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Jenkins Setup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E2F200-B80E-E9D1-9ADE-E3D116E45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162" y="1501846"/>
            <a:ext cx="10233850" cy="3861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0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 dirty="0"/>
              <a:t>Jenkins Workflow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887915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Jenkins Workflow</a:t>
            </a:r>
          </a:p>
          <a:p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7D5A9C-289D-AC10-66C4-B562C5A77F9F}"/>
              </a:ext>
            </a:extLst>
          </p:cNvPr>
          <p:cNvGrpSpPr/>
          <p:nvPr/>
        </p:nvGrpSpPr>
        <p:grpSpPr>
          <a:xfrm>
            <a:off x="2968752" y="1280160"/>
            <a:ext cx="6254496" cy="5023104"/>
            <a:chOff x="3468413" y="1195324"/>
            <a:chExt cx="4524828" cy="5121392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E2865DD-E914-4BF6-2BA5-1DCF1914313F}"/>
                </a:ext>
              </a:extLst>
            </p:cNvPr>
            <p:cNvSpPr/>
            <p:nvPr/>
          </p:nvSpPr>
          <p:spPr>
            <a:xfrm>
              <a:off x="3468413" y="1195324"/>
              <a:ext cx="4524828" cy="124120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ea typeface="Cambria" panose="02040503050406030204" pitchFamily="18" charset="0"/>
                </a:rPr>
                <a:t>Developers check their source code.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4E5A89-59E5-0F94-9D15-AF38E8199AFD}"/>
                </a:ext>
              </a:extLst>
            </p:cNvPr>
            <p:cNvSpPr/>
            <p:nvPr/>
          </p:nvSpPr>
          <p:spPr>
            <a:xfrm>
              <a:off x="3468413" y="3060448"/>
              <a:ext cx="4524828" cy="124120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ea typeface="Cambria" panose="02040503050406030204" pitchFamily="18" charset="0"/>
                </a:rPr>
                <a:t>Jenkins will pick up the changed source code and trigger a build and run any tests if required.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A376030-D317-A1DB-2E2F-1A4C6CCE4B3A}"/>
                </a:ext>
              </a:extLst>
            </p:cNvPr>
            <p:cNvSpPr/>
            <p:nvPr/>
          </p:nvSpPr>
          <p:spPr>
            <a:xfrm>
              <a:off x="3468413" y="4925572"/>
              <a:ext cx="4524828" cy="1391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ea typeface="Cambria" panose="02040503050406030204" pitchFamily="18" charset="0"/>
                </a:rPr>
                <a:t>The build output will be available in the Jenkins dashboards. Automatic notifications can also be sent back to the developer.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A32BA26-6AAD-137A-C565-1C82AF5E37EA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5730827" y="2436530"/>
              <a:ext cx="0" cy="623918"/>
            </a:xfrm>
            <a:prstGeom prst="straightConnector1">
              <a:avLst/>
            </a:prstGeom>
            <a:grpFill/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15A6296-4D72-D137-199E-26451963225E}"/>
                </a:ext>
              </a:extLst>
            </p:cNvPr>
            <p:cNvCxnSpPr>
              <a:cxnSpLocks/>
            </p:cNvCxnSpPr>
            <p:nvPr/>
          </p:nvCxnSpPr>
          <p:spPr>
            <a:xfrm>
              <a:off x="5730827" y="4301655"/>
              <a:ext cx="0" cy="623918"/>
            </a:xfrm>
            <a:prstGeom prst="straightConnector1">
              <a:avLst/>
            </a:prstGeom>
            <a:grpFill/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4106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>
                <a:latin typeface="+mn-lt"/>
              </a:rPr>
              <a:t>Platform Independent</a:t>
            </a:r>
          </a:p>
          <a:p>
            <a:pPr lvl="0" algn="just"/>
            <a:r>
              <a:rPr lang="en-US" sz="2400" dirty="0">
                <a:latin typeface="+mn-lt"/>
              </a:rPr>
              <a:t>Open-Source</a:t>
            </a:r>
          </a:p>
          <a:p>
            <a:pPr lvl="0" algn="just"/>
            <a:r>
              <a:rPr lang="en-US" sz="2400" dirty="0"/>
              <a:t>Free of cost</a:t>
            </a:r>
          </a:p>
          <a:p>
            <a:pPr lvl="0" algn="just"/>
            <a:r>
              <a:rPr lang="en-US" sz="2400" dirty="0"/>
              <a:t>In-built Plugin</a:t>
            </a:r>
          </a:p>
          <a:p>
            <a:pPr lvl="0" algn="just"/>
            <a:r>
              <a:rPr lang="en-US" sz="2400" dirty="0"/>
              <a:t>Community Support</a:t>
            </a:r>
          </a:p>
          <a:p>
            <a:pPr lvl="0" algn="just"/>
            <a:r>
              <a:rPr lang="en-US" sz="2400" dirty="0"/>
              <a:t>Hosting</a:t>
            </a:r>
          </a:p>
          <a:p>
            <a:pPr lvl="0" algn="just"/>
            <a:r>
              <a:rPr lang="en-US" sz="2400" dirty="0"/>
              <a:t>Continuous Integration</a:t>
            </a:r>
          </a:p>
          <a:p>
            <a:pPr lvl="0" algn="just"/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Advantages of Jenkins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082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Before and After Jenkins</a:t>
            </a:r>
            <a:endParaRPr lang="en-IN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40F06FA0-BAB0-92D1-EFDB-93AE2BF13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726750"/>
              </p:ext>
            </p:extLst>
          </p:nvPr>
        </p:nvGraphicFramePr>
        <p:xfrm>
          <a:off x="678093" y="1371308"/>
          <a:ext cx="10937256" cy="4444666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468628">
                  <a:extLst>
                    <a:ext uri="{9D8B030D-6E8A-4147-A177-3AD203B41FA5}">
                      <a16:colId xmlns:a16="http://schemas.microsoft.com/office/drawing/2014/main" val="2296523642"/>
                    </a:ext>
                  </a:extLst>
                </a:gridCol>
                <a:gridCol w="5468628">
                  <a:extLst>
                    <a:ext uri="{9D8B030D-6E8A-4147-A177-3AD203B41FA5}">
                      <a16:colId xmlns:a16="http://schemas.microsoft.com/office/drawing/2014/main" val="123885094"/>
                    </a:ext>
                  </a:extLst>
                </a:gridCol>
              </a:tblGrid>
              <a:tr h="64667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400" dirty="0"/>
                        <a:t>Before Jenkins 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400" dirty="0"/>
                        <a:t>After Jenkins 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134814"/>
                  </a:ext>
                </a:extLst>
              </a:tr>
              <a:tr h="1846728">
                <a:tc>
                  <a:txBody>
                    <a:bodyPr/>
                    <a:lstStyle/>
                    <a:p>
                      <a:r>
                        <a:rPr lang="en-GB" sz="2000" b="0" kern="1200" dirty="0">
                          <a:solidFill>
                            <a:schemeClr val="dk1"/>
                          </a:solidFill>
                          <a:effectLst/>
                        </a:rPr>
                        <a:t>The entire source code was built and then tested. Locating and fixing bugs in the event of build and test failure was difficult and time-consuming, which in turn slows the software delivery process.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0" kern="1200" dirty="0">
                          <a:solidFill>
                            <a:schemeClr val="dk1"/>
                          </a:solidFill>
                          <a:effectLst/>
                        </a:rPr>
                        <a:t>Every commit made in the source code is built and tested. So, instead of checking the entire source code developers only need to focus on a particular commit. This leads to frequent new software releases.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411535"/>
                  </a:ext>
                </a:extLst>
              </a:tr>
              <a:tr h="801410">
                <a:tc>
                  <a:txBody>
                    <a:bodyPr/>
                    <a:lstStyle/>
                    <a:p>
                      <a:r>
                        <a:rPr lang="en-GB" sz="2000" b="0" kern="1200" dirty="0">
                          <a:solidFill>
                            <a:schemeClr val="dk1"/>
                          </a:solidFill>
                          <a:effectLst/>
                        </a:rPr>
                        <a:t>Developers have to wait for test results.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0" kern="1200" dirty="0">
                          <a:solidFill>
                            <a:schemeClr val="dk1"/>
                          </a:solidFill>
                          <a:effectLst/>
                        </a:rPr>
                        <a:t>Developers know the test result of every commit made in the source code on the run.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139085"/>
                  </a:ext>
                </a:extLst>
              </a:tr>
              <a:tr h="1149849">
                <a:tc>
                  <a:txBody>
                    <a:bodyPr/>
                    <a:lstStyle/>
                    <a:p>
                      <a:r>
                        <a:rPr lang="en-GB" sz="2000" b="0" kern="1200" dirty="0">
                          <a:solidFill>
                            <a:schemeClr val="dk1"/>
                          </a:solidFill>
                          <a:effectLst/>
                        </a:rPr>
                        <a:t>The whole process is manual.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0" kern="1200" dirty="0">
                          <a:solidFill>
                            <a:schemeClr val="dk1"/>
                          </a:solidFill>
                          <a:effectLst/>
                        </a:rPr>
                        <a:t>You only need to commit changes to the source code and Jenkins will automate the rest of the process for you.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974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074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 dirty="0"/>
              <a:t>Jenkins Architecture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873892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latin typeface="+mn-lt"/>
              </a:rPr>
              <a:t>Jenkins follows Master-Slave architecture to manage distributed builds.</a:t>
            </a:r>
          </a:p>
          <a:p>
            <a:pPr algn="just"/>
            <a:r>
              <a:rPr lang="en-GB" sz="2400" dirty="0">
                <a:latin typeface="+mn-lt"/>
              </a:rPr>
              <a:t>In this architecture, slave and master communicate through TCP/IP protocol.</a:t>
            </a:r>
          </a:p>
          <a:p>
            <a:pPr algn="just"/>
            <a:r>
              <a:rPr lang="en-GB" sz="2400" b="1" dirty="0">
                <a:latin typeface="+mn-lt"/>
              </a:rPr>
              <a:t>Jenkins architecture has two components: 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Jenkins Master/Server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Jenkins Slave/ Node/ build Server</a:t>
            </a:r>
          </a:p>
          <a:p>
            <a:pPr lvl="1" algn="just">
              <a:lnSpc>
                <a:spcPct val="100000"/>
              </a:lnSpc>
            </a:pP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Jenkins Architecture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69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GB" sz="2400" dirty="0">
                <a:latin typeface="+mn-lt"/>
              </a:rPr>
              <a:t>Main server of Jenkins is the Jenkins Master.</a:t>
            </a:r>
          </a:p>
          <a:p>
            <a:pPr algn="just">
              <a:lnSpc>
                <a:spcPct val="110000"/>
              </a:lnSpc>
            </a:pPr>
            <a:r>
              <a:rPr lang="en-GB" sz="2400" dirty="0">
                <a:latin typeface="+mn-lt"/>
              </a:rPr>
              <a:t>A web dashboard which is nothing but powered from a war file. </a:t>
            </a:r>
          </a:p>
          <a:p>
            <a:pPr algn="just">
              <a:lnSpc>
                <a:spcPct val="110000"/>
              </a:lnSpc>
            </a:pPr>
            <a:r>
              <a:rPr lang="en-GB" sz="2400" dirty="0">
                <a:latin typeface="+mn-lt"/>
              </a:rPr>
              <a:t>By default it runs on 8080 port.</a:t>
            </a:r>
          </a:p>
          <a:p>
            <a:pPr algn="just">
              <a:lnSpc>
                <a:spcPct val="110000"/>
              </a:lnSpc>
            </a:pPr>
            <a:r>
              <a:rPr lang="en-GB" sz="2400" dirty="0">
                <a:latin typeface="+mn-lt"/>
              </a:rPr>
              <a:t>With the help of Dashboard, we can configure the projects but the build takes place in Nodes. </a:t>
            </a:r>
          </a:p>
          <a:p>
            <a:pPr algn="just">
              <a:lnSpc>
                <a:spcPct val="110000"/>
              </a:lnSpc>
            </a:pPr>
            <a:r>
              <a:rPr lang="en-GB" sz="2400" dirty="0">
                <a:latin typeface="+mn-lt"/>
              </a:rPr>
              <a:t>By default one node (slave) is configured and running in Jenkins server. </a:t>
            </a:r>
          </a:p>
          <a:p>
            <a:pPr algn="just">
              <a:lnSpc>
                <a:spcPct val="110000"/>
              </a:lnSpc>
            </a:pPr>
            <a:r>
              <a:rPr lang="en-GB" sz="2400" dirty="0">
                <a:latin typeface="+mn-lt"/>
              </a:rPr>
              <a:t>We can add more nodes using IP address, user name and password using the ssh, </a:t>
            </a:r>
            <a:r>
              <a:rPr lang="en-GB" sz="2400" dirty="0" err="1">
                <a:latin typeface="+mn-lt"/>
              </a:rPr>
              <a:t>jnlp</a:t>
            </a:r>
            <a:r>
              <a:rPr lang="en-GB" sz="2400" dirty="0">
                <a:latin typeface="+mn-lt"/>
              </a:rPr>
              <a:t> or </a:t>
            </a:r>
            <a:r>
              <a:rPr lang="en-GB" sz="2400" dirty="0" err="1">
                <a:latin typeface="+mn-lt"/>
              </a:rPr>
              <a:t>webstart</a:t>
            </a:r>
            <a:r>
              <a:rPr lang="en-GB" sz="2400" dirty="0">
                <a:latin typeface="+mn-lt"/>
              </a:rPr>
              <a:t> methods.</a:t>
            </a:r>
          </a:p>
          <a:p>
            <a:pPr lvl="1" algn="just">
              <a:lnSpc>
                <a:spcPct val="100000"/>
              </a:lnSpc>
            </a:pP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Jenkins Master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74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GB" sz="2400" b="1" dirty="0">
                <a:latin typeface="+mn-lt"/>
              </a:rPr>
              <a:t>The server's job or master's job is to handle:</a:t>
            </a:r>
          </a:p>
          <a:p>
            <a:pPr marL="228600" lvl="1" algn="just">
              <a:lnSpc>
                <a:spcPct val="110000"/>
              </a:lnSpc>
              <a:spcBef>
                <a:spcPts val="1000"/>
              </a:spcBef>
            </a:pPr>
            <a:r>
              <a:rPr lang="en-GB" dirty="0">
                <a:ea typeface="Roboto Light" panose="02000000000000000000" pitchFamily="2" charset="0"/>
              </a:rPr>
              <a:t>Scheduling build jobs.</a:t>
            </a:r>
          </a:p>
          <a:p>
            <a:pPr marL="228600" lvl="1" algn="just">
              <a:lnSpc>
                <a:spcPct val="110000"/>
              </a:lnSpc>
              <a:spcBef>
                <a:spcPts val="1000"/>
              </a:spcBef>
            </a:pPr>
            <a:r>
              <a:rPr lang="en-GB" dirty="0">
                <a:ea typeface="Roboto Light" panose="02000000000000000000" pitchFamily="2" charset="0"/>
              </a:rPr>
              <a:t>Dispatching build to the nodes/ slaves for the actual execution.</a:t>
            </a:r>
          </a:p>
          <a:p>
            <a:pPr marL="228600" lvl="1" algn="just">
              <a:lnSpc>
                <a:spcPct val="110000"/>
              </a:lnSpc>
              <a:spcBef>
                <a:spcPts val="1000"/>
              </a:spcBef>
            </a:pPr>
            <a:r>
              <a:rPr lang="en-GB" dirty="0">
                <a:ea typeface="Roboto Light" panose="02000000000000000000" pitchFamily="2" charset="0"/>
              </a:rPr>
              <a:t>Monitor the nodes/slaves (possibly taking them online and offline s required).</a:t>
            </a:r>
          </a:p>
          <a:p>
            <a:pPr marL="228600" lvl="1" algn="just">
              <a:lnSpc>
                <a:spcPct val="110000"/>
              </a:lnSpc>
              <a:spcBef>
                <a:spcPts val="1000"/>
              </a:spcBef>
            </a:pPr>
            <a:r>
              <a:rPr lang="en-GB" dirty="0">
                <a:ea typeface="Roboto Light" panose="02000000000000000000" pitchFamily="2" charset="0"/>
              </a:rPr>
              <a:t>Recording and presenting the build results.</a:t>
            </a:r>
          </a:p>
          <a:p>
            <a:pPr marL="228600" lvl="1" algn="just">
              <a:lnSpc>
                <a:spcPct val="110000"/>
              </a:lnSpc>
              <a:spcBef>
                <a:spcPts val="1000"/>
              </a:spcBef>
            </a:pPr>
            <a:r>
              <a:rPr lang="en-GB" dirty="0">
                <a:ea typeface="Roboto Light" panose="02000000000000000000" pitchFamily="2" charset="0"/>
              </a:rPr>
              <a:t>A Master/ Server instance of Jenkins can also execute build jobs directly.</a:t>
            </a:r>
            <a:endParaRPr lang="en-IN" dirty="0">
              <a:ea typeface="Roboto Light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Jenkins Master</a:t>
            </a:r>
          </a:p>
          <a:p>
            <a:endParaRPr lang="en-IN" sz="2400" dirty="0">
              <a:solidFill>
                <a:schemeClr val="tx2">
                  <a:lumMod val="10000"/>
                  <a:lumOff val="9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973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latin typeface="+mn-lt"/>
              </a:rPr>
              <a:t>Used to execute the build jobs dispatched by the master.</a:t>
            </a:r>
          </a:p>
          <a:p>
            <a:pPr algn="just"/>
            <a:r>
              <a:rPr lang="en-GB" sz="2400" dirty="0">
                <a:latin typeface="+mn-lt"/>
              </a:rPr>
              <a:t>We can configure a project to always run on a particular slave machine, or simple let the Jenkins to pick the next available slave/node.</a:t>
            </a:r>
          </a:p>
          <a:p>
            <a:pPr algn="just"/>
            <a:r>
              <a:rPr lang="en-GB" sz="2400" dirty="0">
                <a:latin typeface="+mn-lt"/>
              </a:rPr>
              <a:t>Jenkins Master/Servers and Slave/nodes can be configured in any servers including Linux, Windows, and Mac.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Jenkins Slave</a:t>
            </a:r>
          </a:p>
          <a:p>
            <a:endParaRPr lang="en-IN" sz="2400" dirty="0">
              <a:solidFill>
                <a:schemeClr val="tx2">
                  <a:lumMod val="10000"/>
                  <a:lumOff val="9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31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9C1EEC-BE96-7606-2E2A-9C5CAA007C6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Jenkins Slave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9BD12-C9A2-9D3F-0C5A-93D9E6CD8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152" y="1188752"/>
            <a:ext cx="8606342" cy="490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9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 dirty="0"/>
              <a:t>Jenkins Pipeline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039601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latin typeface="+mn-lt"/>
              </a:rPr>
              <a:t>Jenkins pipeline is a collection of codes written in a Jenkins file.</a:t>
            </a:r>
          </a:p>
          <a:p>
            <a:pPr algn="just"/>
            <a:r>
              <a:rPr lang="en-GB" sz="2400" dirty="0">
                <a:latin typeface="+mn-lt"/>
              </a:rPr>
              <a:t>Allows the Jenkins to operate in a sequence.</a:t>
            </a:r>
          </a:p>
          <a:p>
            <a:pPr algn="just"/>
            <a:r>
              <a:rPr lang="en-GB" sz="2400" dirty="0">
                <a:latin typeface="+mn-lt"/>
              </a:rPr>
              <a:t>Provides a platform to run each job simultaneously. </a:t>
            </a:r>
          </a:p>
          <a:p>
            <a:pPr algn="just"/>
            <a:r>
              <a:rPr lang="en-GB" sz="2400" dirty="0">
                <a:latin typeface="+mn-lt"/>
              </a:rPr>
              <a:t>Pipeline enables the workflow of the jobs by using the pipeline plug-in.</a:t>
            </a:r>
            <a:endParaRPr lang="en-IN" sz="24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Jenkins Pipeline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01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9C1EEC-BE96-7606-2E2A-9C5CAA007C6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Jenkins CI/CD Flow</a:t>
            </a:r>
            <a:endParaRPr lang="en-IN" dirty="0"/>
          </a:p>
        </p:txBody>
      </p:sp>
      <p:pic>
        <p:nvPicPr>
          <p:cNvPr id="3" name="Picture 2" descr="CI/CD Flow">
            <a:extLst>
              <a:ext uri="{FF2B5EF4-FFF2-40B4-BE49-F238E27FC236}">
                <a16:creationId xmlns:a16="http://schemas.microsoft.com/office/drawing/2014/main" id="{CEDF05B1-B82D-104F-665A-6D3598B16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95" y="2280862"/>
            <a:ext cx="10947234" cy="199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36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213765"/>
      </p:ext>
    </p:extLst>
  </p:cSld>
  <p:clrMapOvr>
    <a:masterClrMapping/>
  </p:clrMapOvr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496</TotalTime>
  <Words>588</Words>
  <Application>Microsoft Office PowerPoint</Application>
  <PresentationFormat>Widescreen</PresentationFormat>
  <Paragraphs>70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Roboto</vt:lpstr>
      <vt:lpstr>Calibri</vt:lpstr>
      <vt:lpstr>Segoe UI</vt:lpstr>
      <vt:lpstr>Roboto Light</vt:lpstr>
      <vt:lpstr>Cambria</vt:lpstr>
      <vt:lpstr>Wingdings</vt:lpstr>
      <vt:lpstr>Calibri Light</vt:lpstr>
      <vt:lpstr>Arial</vt:lpstr>
      <vt:lpstr>ScholarHat Layout</vt:lpstr>
      <vt:lpstr>Agenda</vt:lpstr>
      <vt:lpstr>Jenkins Overview</vt:lpstr>
      <vt:lpstr>PowerPoint Presentation</vt:lpstr>
      <vt:lpstr>Jenkins Setup</vt:lpstr>
      <vt:lpstr>PowerPoint Presentation</vt:lpstr>
      <vt:lpstr>Jenkins Workflow</vt:lpstr>
      <vt:lpstr>PowerPoint Presentation</vt:lpstr>
      <vt:lpstr>PowerPoint Presentation</vt:lpstr>
      <vt:lpstr>PowerPoint Presentation</vt:lpstr>
      <vt:lpstr>Jenkins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Jenkins Pipeline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Shailendra Chauhan</dc:creator>
  <cp:lastModifiedBy>Shailendra Chauhan</cp:lastModifiedBy>
  <cp:revision>214</cp:revision>
  <dcterms:created xsi:type="dcterms:W3CDTF">2015-04-26T09:42:00Z</dcterms:created>
  <dcterms:modified xsi:type="dcterms:W3CDTF">2025-01-15T06:37:50Z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1033-11.2.0.8934</vt:lpwstr>
  </property>
</Properties>
</file>