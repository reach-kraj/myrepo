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7" r:id="rId1"/>
  </p:sldMasterIdLst>
  <p:notesMasterIdLst>
    <p:notesMasterId r:id="rId14"/>
  </p:notesMasterIdLst>
  <p:handoutMasterIdLst>
    <p:handoutMasterId r:id="rId15"/>
  </p:handoutMasterIdLst>
  <p:sldIdLst>
    <p:sldId id="492" r:id="rId2"/>
    <p:sldId id="480" r:id="rId3"/>
    <p:sldId id="481" r:id="rId4"/>
    <p:sldId id="482" r:id="rId5"/>
    <p:sldId id="484" r:id="rId6"/>
    <p:sldId id="485" r:id="rId7"/>
    <p:sldId id="493" r:id="rId8"/>
    <p:sldId id="489" r:id="rId9"/>
    <p:sldId id="486" r:id="rId10"/>
    <p:sldId id="488" r:id="rId11"/>
    <p:sldId id="491" r:id="rId12"/>
    <p:sldId id="48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FF9900"/>
    <a:srgbClr val="FF3300"/>
    <a:srgbClr val="009BD2"/>
    <a:srgbClr val="FF3399"/>
    <a:srgbClr val="146BD8"/>
    <a:srgbClr val="FFFFFF"/>
    <a:srgbClr val="DC5F3F"/>
    <a:srgbClr val="DD34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2E5EFD-36C6-474C-9D34-514CDDF85A9A}" v="2" dt="2025-05-13T12:58:15.6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09" autoAdjust="0"/>
    <p:restoredTop sz="65764" autoAdjust="0"/>
  </p:normalViewPr>
  <p:slideViewPr>
    <p:cSldViewPr snapToGrid="0">
      <p:cViewPr varScale="1">
        <p:scale>
          <a:sx n="122" d="100"/>
          <a:sy n="122" d="100"/>
        </p:scale>
        <p:origin x="186" y="96"/>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8090DA44-279E-429C-9F70-D4821F9A5BD7}"/>
    <pc:docChg chg="custSel addSld modSld sldOrd">
      <pc:chgData name="Shailendra Chauhan" userId="a7d3133f-e197-4b90-bf63-99a63a264234" providerId="ADAL" clId="{8090DA44-279E-429C-9F70-D4821F9A5BD7}" dt="2024-06-09T05:35:23.804" v="38"/>
      <pc:docMkLst>
        <pc:docMk/>
      </pc:docMkLst>
      <pc:sldChg chg="modSp ord">
        <pc:chgData name="Shailendra Chauhan" userId="a7d3133f-e197-4b90-bf63-99a63a264234" providerId="ADAL" clId="{8090DA44-279E-429C-9F70-D4821F9A5BD7}" dt="2024-06-09T05:35:23.804" v="38"/>
        <pc:sldMkLst>
          <pc:docMk/>
          <pc:sldMk cId="3445569300" sldId="491"/>
        </pc:sldMkLst>
      </pc:sldChg>
      <pc:sldChg chg="modSp new mod">
        <pc:chgData name="Shailendra Chauhan" userId="a7d3133f-e197-4b90-bf63-99a63a264234" providerId="ADAL" clId="{8090DA44-279E-429C-9F70-D4821F9A5BD7}" dt="2024-06-08T05:18:24.509" v="34"/>
        <pc:sldMkLst>
          <pc:docMk/>
          <pc:sldMk cId="87588270" sldId="493"/>
        </pc:sldMkLst>
      </pc:sldChg>
    </pc:docChg>
  </pc:docChgLst>
  <pc:docChgLst>
    <pc:chgData name="Shailendra Chauhan" userId="a7d3133f-e197-4b90-bf63-99a63a264234" providerId="ADAL" clId="{EE914F6D-7EB0-4C1D-8C4C-D78BED5A9B5E}"/>
    <pc:docChg chg="undo custSel modSld modMainMaster">
      <pc:chgData name="Shailendra Chauhan" userId="a7d3133f-e197-4b90-bf63-99a63a264234" providerId="ADAL" clId="{EE914F6D-7EB0-4C1D-8C4C-D78BED5A9B5E}" dt="2024-07-30T04:25:04.354" v="29" actId="2696"/>
      <pc:docMkLst>
        <pc:docMk/>
      </pc:docMkLst>
      <pc:sldChg chg="modSp mod modClrScheme chgLayout">
        <pc:chgData name="Shailendra Chauhan" userId="a7d3133f-e197-4b90-bf63-99a63a264234" providerId="ADAL" clId="{EE914F6D-7EB0-4C1D-8C4C-D78BED5A9B5E}" dt="2024-07-30T04:23:39.158" v="12"/>
        <pc:sldMkLst>
          <pc:docMk/>
          <pc:sldMk cId="0" sldId="480"/>
        </pc:sldMkLst>
      </pc:sldChg>
      <pc:sldChg chg="modSp mod modClrScheme chgLayout">
        <pc:chgData name="Shailendra Chauhan" userId="a7d3133f-e197-4b90-bf63-99a63a264234" providerId="ADAL" clId="{EE914F6D-7EB0-4C1D-8C4C-D78BED5A9B5E}" dt="2024-07-30T04:23:39.158" v="12"/>
        <pc:sldMkLst>
          <pc:docMk/>
          <pc:sldMk cId="0" sldId="481"/>
        </pc:sldMkLst>
      </pc:sldChg>
      <pc:sldChg chg="modSp mod modClrScheme chgLayout">
        <pc:chgData name="Shailendra Chauhan" userId="a7d3133f-e197-4b90-bf63-99a63a264234" providerId="ADAL" clId="{EE914F6D-7EB0-4C1D-8C4C-D78BED5A9B5E}" dt="2024-07-30T04:23:39.158" v="12"/>
        <pc:sldMkLst>
          <pc:docMk/>
          <pc:sldMk cId="0" sldId="482"/>
        </pc:sldMkLst>
      </pc:sldChg>
      <pc:sldChg chg="modSp mod modClrScheme chgLayout">
        <pc:chgData name="Shailendra Chauhan" userId="a7d3133f-e197-4b90-bf63-99a63a264234" providerId="ADAL" clId="{EE914F6D-7EB0-4C1D-8C4C-D78BED5A9B5E}" dt="2024-07-30T04:23:39.158" v="12"/>
        <pc:sldMkLst>
          <pc:docMk/>
          <pc:sldMk cId="0" sldId="484"/>
        </pc:sldMkLst>
      </pc:sldChg>
      <pc:sldChg chg="modSp mod">
        <pc:chgData name="Shailendra Chauhan" userId="a7d3133f-e197-4b90-bf63-99a63a264234" providerId="ADAL" clId="{EE914F6D-7EB0-4C1D-8C4C-D78BED5A9B5E}" dt="2024-07-30T04:23:39.158" v="12"/>
        <pc:sldMkLst>
          <pc:docMk/>
          <pc:sldMk cId="0" sldId="485"/>
        </pc:sldMkLst>
      </pc:sldChg>
      <pc:sldChg chg="modSp mod setBg">
        <pc:chgData name="Shailendra Chauhan" userId="a7d3133f-e197-4b90-bf63-99a63a264234" providerId="ADAL" clId="{EE914F6D-7EB0-4C1D-8C4C-D78BED5A9B5E}" dt="2024-07-30T04:23:57.362" v="18" actId="1076"/>
        <pc:sldMkLst>
          <pc:docMk/>
          <pc:sldMk cId="0" sldId="486"/>
        </pc:sldMkLst>
      </pc:sldChg>
      <pc:sldChg chg="modSp mod setBg modClrScheme chgLayout">
        <pc:chgData name="Shailendra Chauhan" userId="a7d3133f-e197-4b90-bf63-99a63a264234" providerId="ADAL" clId="{EE914F6D-7EB0-4C1D-8C4C-D78BED5A9B5E}" dt="2024-07-30T04:24:52.814" v="26" actId="700"/>
        <pc:sldMkLst>
          <pc:docMk/>
          <pc:sldMk cId="0" sldId="487"/>
        </pc:sldMkLst>
      </pc:sldChg>
      <pc:sldChg chg="modSp mod modClrScheme chgLayout">
        <pc:chgData name="Shailendra Chauhan" userId="a7d3133f-e197-4b90-bf63-99a63a264234" providerId="ADAL" clId="{EE914F6D-7EB0-4C1D-8C4C-D78BED5A9B5E}" dt="2024-07-30T04:24:09.040" v="20" actId="700"/>
        <pc:sldMkLst>
          <pc:docMk/>
          <pc:sldMk cId="0" sldId="488"/>
        </pc:sldMkLst>
      </pc:sldChg>
      <pc:sldChg chg="modSp setBg">
        <pc:chgData name="Shailendra Chauhan" userId="a7d3133f-e197-4b90-bf63-99a63a264234" providerId="ADAL" clId="{EE914F6D-7EB0-4C1D-8C4C-D78BED5A9B5E}" dt="2024-07-30T04:23:39.158" v="12"/>
        <pc:sldMkLst>
          <pc:docMk/>
          <pc:sldMk cId="0" sldId="489"/>
        </pc:sldMkLst>
      </pc:sldChg>
      <pc:sldChg chg="modSp mod modClrScheme chgLayout">
        <pc:chgData name="Shailendra Chauhan" userId="a7d3133f-e197-4b90-bf63-99a63a264234" providerId="ADAL" clId="{EE914F6D-7EB0-4C1D-8C4C-D78BED5A9B5E}" dt="2024-07-30T04:24:45.697" v="25" actId="14100"/>
        <pc:sldMkLst>
          <pc:docMk/>
          <pc:sldMk cId="3445569300" sldId="491"/>
        </pc:sldMkLst>
      </pc:sldChg>
      <pc:sldChg chg="modSp">
        <pc:chgData name="Shailendra Chauhan" userId="a7d3133f-e197-4b90-bf63-99a63a264234" providerId="ADAL" clId="{EE914F6D-7EB0-4C1D-8C4C-D78BED5A9B5E}" dt="2024-07-30T04:23:39.158" v="12"/>
        <pc:sldMkLst>
          <pc:docMk/>
          <pc:sldMk cId="1282536991" sldId="492"/>
        </pc:sldMkLst>
      </pc:sldChg>
      <pc:sldChg chg="modSp">
        <pc:chgData name="Shailendra Chauhan" userId="a7d3133f-e197-4b90-bf63-99a63a264234" providerId="ADAL" clId="{EE914F6D-7EB0-4C1D-8C4C-D78BED5A9B5E}" dt="2024-07-30T04:23:39.158" v="12"/>
        <pc:sldMkLst>
          <pc:docMk/>
          <pc:sldMk cId="87588270" sldId="493"/>
        </pc:sldMkLst>
      </pc:sldChg>
      <pc:sldMasterChg chg="delSldLayout modSldLayout">
        <pc:chgData name="Shailendra Chauhan" userId="a7d3133f-e197-4b90-bf63-99a63a264234" providerId="ADAL" clId="{EE914F6D-7EB0-4C1D-8C4C-D78BED5A9B5E}" dt="2024-07-30T04:25:04.354" v="29" actId="2696"/>
        <pc:sldMasterMkLst>
          <pc:docMk/>
          <pc:sldMasterMk cId="3194411121" sldId="2147483697"/>
        </pc:sldMasterMkLst>
        <pc:sldLayoutChg chg="del">
          <pc:chgData name="Shailendra Chauhan" userId="a7d3133f-e197-4b90-bf63-99a63a264234" providerId="ADAL" clId="{EE914F6D-7EB0-4C1D-8C4C-D78BED5A9B5E}" dt="2024-07-30T04:25:02.401" v="27" actId="2696"/>
          <pc:sldLayoutMkLst>
            <pc:docMk/>
            <pc:sldMasterMk cId="3194411121" sldId="2147483697"/>
            <pc:sldLayoutMk cId="0" sldId="2147483658"/>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2277448343" sldId="2147483707"/>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368426044" sldId="2147483708"/>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2901971963" sldId="2147483709"/>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2125661325" sldId="2147483710"/>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4164702673" sldId="2147483711"/>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2102511064" sldId="2147483712"/>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2071013510" sldId="2147483713"/>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110566888" sldId="2147483714"/>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3887453025" sldId="2147483715"/>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986438280" sldId="2147483716"/>
          </pc:sldLayoutMkLst>
        </pc:sldLayoutChg>
        <pc:sldLayoutChg chg="setBg">
          <pc:chgData name="Shailendra Chauhan" userId="a7d3133f-e197-4b90-bf63-99a63a264234" providerId="ADAL" clId="{EE914F6D-7EB0-4C1D-8C4C-D78BED5A9B5E}" dt="2024-07-30T04:23:45.153" v="16"/>
          <pc:sldLayoutMkLst>
            <pc:docMk/>
            <pc:sldMasterMk cId="3194411121" sldId="2147483697"/>
            <pc:sldLayoutMk cId="4083880184" sldId="2147483718"/>
          </pc:sldLayoutMkLst>
        </pc:sldLayoutChg>
        <pc:sldLayoutChg chg="delSp del">
          <pc:chgData name="Shailendra Chauhan" userId="a7d3133f-e197-4b90-bf63-99a63a264234" providerId="ADAL" clId="{EE914F6D-7EB0-4C1D-8C4C-D78BED5A9B5E}" dt="2024-07-30T04:25:04.354" v="29" actId="2696"/>
          <pc:sldLayoutMkLst>
            <pc:docMk/>
            <pc:sldMasterMk cId="3194411121" sldId="2147483697"/>
            <pc:sldLayoutMk cId="3178452543" sldId="2147483723"/>
          </pc:sldLayoutMkLst>
        </pc:sldLayoutChg>
        <pc:sldLayoutChg chg="delSp del">
          <pc:chgData name="Shailendra Chauhan" userId="a7d3133f-e197-4b90-bf63-99a63a264234" providerId="ADAL" clId="{EE914F6D-7EB0-4C1D-8C4C-D78BED5A9B5E}" dt="2024-07-30T04:25:03.381" v="28" actId="2696"/>
          <pc:sldLayoutMkLst>
            <pc:docMk/>
            <pc:sldMasterMk cId="3194411121" sldId="2147483697"/>
            <pc:sldLayoutMk cId="4134995437" sldId="2147483724"/>
          </pc:sldLayoutMkLst>
        </pc:sldLayoutChg>
      </pc:sldMasterChg>
    </pc:docChg>
  </pc:docChgLst>
  <pc:docChgLst>
    <pc:chgData name="Shailendra Chauhan" userId="a7d3133f-e197-4b90-bf63-99a63a264234" providerId="ADAL" clId="{E22E5EFD-36C6-474C-9D34-514CDDF85A9A}"/>
    <pc:docChg chg="modSld">
      <pc:chgData name="Shailendra Chauhan" userId="a7d3133f-e197-4b90-bf63-99a63a264234" providerId="ADAL" clId="{E22E5EFD-36C6-474C-9D34-514CDDF85A9A}" dt="2025-05-13T12:58:15.686" v="1" actId="20577"/>
      <pc:docMkLst>
        <pc:docMk/>
      </pc:docMkLst>
      <pc:sldChg chg="modSp">
        <pc:chgData name="Shailendra Chauhan" userId="a7d3133f-e197-4b90-bf63-99a63a264234" providerId="ADAL" clId="{E22E5EFD-36C6-474C-9D34-514CDDF85A9A}" dt="2025-05-13T12:58:15.686" v="1" actId="20577"/>
        <pc:sldMkLst>
          <pc:docMk/>
          <pc:sldMk cId="0" sldId="482"/>
        </pc:sldMkLst>
        <pc:spChg chg="mod">
          <ac:chgData name="Shailendra Chauhan" userId="a7d3133f-e197-4b90-bf63-99a63a264234" providerId="ADAL" clId="{E22E5EFD-36C6-474C-9D34-514CDDF85A9A}" dt="2025-05-13T12:58:15.686" v="1" actId="20577"/>
          <ac:spMkLst>
            <pc:docMk/>
            <pc:sldMk cId="0" sldId="482"/>
            <ac:spMk id="2" creationId="{00000000-0000-0000-0000-000000000000}"/>
          </ac:spMkLst>
        </pc:spChg>
      </pc:sldChg>
    </pc:docChg>
  </pc:docChgLst>
  <pc:docChgLst>
    <pc:chgData name="Shailendra Chauhan" userId="a7d3133f-e197-4b90-bf63-99a63a264234" providerId="ADAL" clId="{29892CD9-A866-4968-B15C-B921E94F5F65}"/>
    <pc:docChg chg="modSld">
      <pc:chgData name="Shailendra Chauhan" userId="a7d3133f-e197-4b90-bf63-99a63a264234" providerId="ADAL" clId="{29892CD9-A866-4968-B15C-B921E94F5F65}" dt="2024-09-25T14:08:52.667" v="0" actId="404"/>
      <pc:docMkLst>
        <pc:docMk/>
      </pc:docMkLst>
      <pc:sldChg chg="modSp">
        <pc:chgData name="Shailendra Chauhan" userId="a7d3133f-e197-4b90-bf63-99a63a264234" providerId="ADAL" clId="{29892CD9-A866-4968-B15C-B921E94F5F65}" dt="2024-09-25T14:08:52.667" v="0" actId="404"/>
        <pc:sldMkLst>
          <pc:docMk/>
          <pc:sldMk cId="0" sldId="48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447A8F-5014-4233-95BA-17148816DBD3}" type="datetimeFigureOut">
              <a:rPr lang="en-US" smtClean="0"/>
              <a:t>5/13/2025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E28086-0958-4024-ACE0-76D43B09DE9F}"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B693FF-4567-4C4E-8F85-4BDFC34DB19A}" type="datetimeFigureOut">
              <a:rPr lang="en-US" smtClean="0"/>
              <a:t>5/13/2025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51ECD-1E00-4FCF-BCA1-B11779BB67E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tackoverflow.com/questions/16562121/what-is-the-difference-between-git-diff-head-vs-git-diff-staged"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atlassian.com/git/tutorials/rewriting-history/git-rebas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Centralized version control system </a:t>
            </a:r>
            <a:r>
              <a:rPr lang="en-US" sz="1200" b="1" kern="1200" dirty="0">
                <a:solidFill>
                  <a:schemeClr val="tx1"/>
                </a:solidFill>
                <a:effectLst/>
                <a:latin typeface="+mn-lt"/>
                <a:ea typeface="+mn-ea"/>
                <a:cs typeface="+mn-cs"/>
              </a:rPr>
              <a:t>you always need connection </a:t>
            </a:r>
            <a:r>
              <a:rPr lang="en-US" sz="1200" kern="1200" dirty="0">
                <a:solidFill>
                  <a:schemeClr val="tx1"/>
                </a:solidFill>
                <a:effectLst/>
                <a:latin typeface="+mn-lt"/>
                <a:ea typeface="+mn-ea"/>
                <a:cs typeface="+mn-cs"/>
              </a:rPr>
              <a:t>with the server so remote commits are very slow, in Distributed version control we have local repos so </a:t>
            </a:r>
            <a:r>
              <a:rPr lang="en-US" sz="1200" b="1" kern="1200" dirty="0">
                <a:solidFill>
                  <a:schemeClr val="tx1"/>
                </a:solidFill>
                <a:effectLst/>
                <a:latin typeface="+mn-lt"/>
                <a:ea typeface="+mn-ea"/>
                <a:cs typeface="+mn-cs"/>
              </a:rPr>
              <a:t>commits are fast and no active connection needed</a:t>
            </a:r>
            <a:r>
              <a:rPr lang="en-US" sz="1200" kern="1200" dirty="0">
                <a:solidFill>
                  <a:schemeClr val="tx1"/>
                </a:solidFill>
                <a:effectLst/>
                <a:latin typeface="+mn-lt"/>
                <a:ea typeface="+mn-ea"/>
                <a:cs typeface="+mn-cs"/>
              </a:rPr>
              <a:t> with the server all the time.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compete to TFVC, Git is very advanced and with rich features.</a:t>
            </a:r>
            <a:endParaRPr lang="en-IN" dirty="0"/>
          </a:p>
        </p:txBody>
      </p:sp>
      <p:sp>
        <p:nvSpPr>
          <p:cNvPr id="4" name="Slide Number Placeholder 3"/>
          <p:cNvSpPr>
            <a:spLocks noGrp="1"/>
          </p:cNvSpPr>
          <p:nvPr>
            <p:ph type="sldNum" sz="quarter" idx="5"/>
          </p:nvPr>
        </p:nvSpPr>
        <p:spPr/>
        <p:txBody>
          <a:bodyPr/>
          <a:lstStyle/>
          <a:p>
            <a:fld id="{75D51ECD-1E00-4FCF-BCA1-B11779BB67E6}" type="slidenum">
              <a:rPr lang="en-US" smtClean="0"/>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https://confluence.atlassian.com/bitbucketserver/basic-git-commands-776639767.html</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"Push" is you forcing the changes being present in the target repository (git push).</a:t>
            </a:r>
          </a:p>
          <a:p>
            <a:pPr fontAlgn="base"/>
            <a:r>
              <a:rPr lang="en-US" sz="1200" b="0" i="0" kern="1200" dirty="0">
                <a:solidFill>
                  <a:schemeClr val="tx1"/>
                </a:solidFill>
                <a:effectLst/>
                <a:latin typeface="+mn-lt"/>
                <a:ea typeface="+mn-ea"/>
                <a:cs typeface="+mn-cs"/>
              </a:rPr>
              <a:t>"Pull" is the target repository grabbing your changes to be present there (git pull from the other repo).</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 "pull request" is you requesting the target repository to please grab your changes.</a:t>
            </a:r>
          </a:p>
          <a:p>
            <a:pPr fontAlgn="base"/>
            <a:r>
              <a:rPr lang="en-US" sz="1200" b="0" i="0" kern="1200" dirty="0">
                <a:solidFill>
                  <a:schemeClr val="tx1"/>
                </a:solidFill>
                <a:effectLst/>
                <a:latin typeface="+mn-lt"/>
                <a:ea typeface="+mn-ea"/>
                <a:cs typeface="+mn-cs"/>
              </a:rPr>
              <a:t>A "push request" would be the target repository requesting you to push your changes.</a:t>
            </a:r>
          </a:p>
          <a:p>
            <a:endParaRPr lang="en-IN" dirty="0"/>
          </a:p>
          <a:p>
            <a:r>
              <a:rPr lang="en-US" dirty="0">
                <a:hlinkClick r:id="rId3"/>
              </a:rPr>
              <a:t>What is the difference between git diff HEAD vs. git diff --staged? - Stack Overflow</a:t>
            </a:r>
            <a:endParaRPr lang="en-IN" dirty="0"/>
          </a:p>
          <a:p>
            <a:pPr algn="l" fontAlgn="base">
              <a:buFont typeface="Arial" panose="020B0604020202020204" pitchFamily="34" charset="0"/>
              <a:buChar char="•"/>
            </a:pPr>
            <a:r>
              <a:rPr lang="en-US" b="0" i="0" dirty="0">
                <a:solidFill>
                  <a:srgbClr val="232629"/>
                </a:solidFill>
                <a:effectLst/>
                <a:latin typeface="inherit"/>
              </a:rPr>
              <a:t> git diff View difference between Stage and Working Directory</a:t>
            </a:r>
          </a:p>
          <a:p>
            <a:pPr algn="l" fontAlgn="base">
              <a:buFont typeface="Arial" panose="020B0604020202020204" pitchFamily="34" charset="0"/>
              <a:buChar char="•"/>
            </a:pPr>
            <a:r>
              <a:rPr lang="en-US" b="0" i="0" dirty="0">
                <a:solidFill>
                  <a:srgbClr val="232629"/>
                </a:solidFill>
                <a:effectLst/>
                <a:latin typeface="inherit"/>
              </a:rPr>
              <a:t> git diff --staged View difference between HEAD and Stage</a:t>
            </a:r>
          </a:p>
          <a:p>
            <a:pPr algn="l" fontAlgn="base">
              <a:buFont typeface="Arial" panose="020B0604020202020204" pitchFamily="34" charset="0"/>
              <a:buChar char="•"/>
            </a:pPr>
            <a:r>
              <a:rPr lang="en-US" b="0" i="0" dirty="0">
                <a:solidFill>
                  <a:srgbClr val="232629"/>
                </a:solidFill>
                <a:effectLst/>
                <a:latin typeface="inherit"/>
              </a:rPr>
              <a:t> git diff HEAD View difference between HEAD and Working Directory</a:t>
            </a:r>
          </a:p>
          <a:p>
            <a:endParaRPr lang="en-IN" dirty="0"/>
          </a:p>
          <a:p>
            <a:pPr algn="l" fontAlgn="base">
              <a:buFont typeface="Arial" panose="020B0604020202020204" pitchFamily="34" charset="0"/>
              <a:buChar char="•"/>
            </a:pPr>
            <a:r>
              <a:rPr lang="en-US" b="0" i="0" dirty="0">
                <a:solidFill>
                  <a:srgbClr val="232629"/>
                </a:solidFill>
                <a:effectLst/>
                <a:latin typeface="inherit"/>
              </a:rPr>
              <a:t>HEAD means (the reference to the) current commit</a:t>
            </a:r>
          </a:p>
          <a:p>
            <a:pPr algn="l" fontAlgn="base">
              <a:buFont typeface="Arial" panose="020B0604020202020204" pitchFamily="34" charset="0"/>
              <a:buChar char="•"/>
            </a:pPr>
            <a:r>
              <a:rPr lang="en-US" b="0" i="0" dirty="0">
                <a:solidFill>
                  <a:srgbClr val="232629"/>
                </a:solidFill>
                <a:effectLst/>
                <a:latin typeface="inherit"/>
              </a:rPr>
              <a:t>HEAD~1 means (the reference to) 1 commit before</a:t>
            </a:r>
          </a:p>
          <a:p>
            <a:pPr algn="l" fontAlgn="base">
              <a:buFont typeface="Arial" panose="020B0604020202020204" pitchFamily="34" charset="0"/>
              <a:buChar char="•"/>
            </a:pPr>
            <a:r>
              <a:rPr lang="en-US" b="0" i="0" dirty="0">
                <a:solidFill>
                  <a:srgbClr val="232629"/>
                </a:solidFill>
                <a:effectLst/>
                <a:latin typeface="inherit"/>
              </a:rPr>
              <a:t>HEAD~ ALSO means (the reference to) 1 commit before</a:t>
            </a:r>
          </a:p>
          <a:p>
            <a:pPr algn="l" fontAlgn="base">
              <a:buFont typeface="Arial" panose="020B0604020202020204" pitchFamily="34" charset="0"/>
              <a:buChar char="•"/>
            </a:pPr>
            <a:r>
              <a:rPr lang="en-US" b="0" i="0" dirty="0">
                <a:solidFill>
                  <a:srgbClr val="232629"/>
                </a:solidFill>
                <a:effectLst/>
                <a:latin typeface="inherit"/>
              </a:rPr>
              <a:t>HEAD~87 means (the reference to) 87 commits before</a:t>
            </a:r>
          </a:p>
          <a:p>
            <a:pPr algn="l" fontAlgn="base">
              <a:buFont typeface="Arial" panose="020B0604020202020204" pitchFamily="34" charset="0"/>
              <a:buChar char="•"/>
            </a:pPr>
            <a:r>
              <a:rPr lang="en-US" b="0" i="0" dirty="0">
                <a:solidFill>
                  <a:srgbClr val="232629"/>
                </a:solidFill>
                <a:effectLst/>
                <a:latin typeface="inherit"/>
              </a:rPr>
              <a:t>HEAD~3..HEAD means from 3 commits to current commit</a:t>
            </a:r>
          </a:p>
          <a:p>
            <a:endParaRPr lang="en-IN" dirty="0"/>
          </a:p>
          <a:p>
            <a:endParaRPr lang="en-IN" dirty="0"/>
          </a:p>
          <a:p>
            <a:r>
              <a:rPr lang="en-US" dirty="0"/>
              <a:t>git log</a:t>
            </a:r>
            <a:endParaRPr lang="en-IN" dirty="0"/>
          </a:p>
          <a:p>
            <a:endParaRPr lang="en-IN" dirty="0"/>
          </a:p>
        </p:txBody>
      </p:sp>
      <p:sp>
        <p:nvSpPr>
          <p:cNvPr id="4" name="Slide Number Placeholder 3"/>
          <p:cNvSpPr>
            <a:spLocks noGrp="1"/>
          </p:cNvSpPr>
          <p:nvPr>
            <p:ph type="sldNum" sz="quarter" idx="5"/>
          </p:nvPr>
        </p:nvSpPr>
        <p:spPr/>
        <p:txBody>
          <a:bodyPr/>
          <a:lstStyle/>
          <a:p>
            <a:fld id="{75D51ECD-1E00-4FCF-BCA1-B11779BB67E6}" type="slidenum">
              <a:rPr lang="en-US" smtClean="0"/>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Master branch</a:t>
            </a:r>
          </a:p>
          <a:p>
            <a:r>
              <a:rPr lang="en-US" sz="1200" b="0" i="0" kern="1200" dirty="0">
                <a:solidFill>
                  <a:schemeClr val="tx1"/>
                </a:solidFill>
                <a:effectLst/>
                <a:latin typeface="+mn-lt"/>
                <a:ea typeface="+mn-ea"/>
                <a:cs typeface="+mn-cs"/>
              </a:rPr>
              <a:t>Reserved for stable releases (alpha, beta, etc.) with all relevant features completed</a:t>
            </a:r>
          </a:p>
          <a:p>
            <a:r>
              <a:rPr lang="en-US" sz="1200" b="0" i="0" kern="1200" dirty="0">
                <a:solidFill>
                  <a:schemeClr val="tx1"/>
                </a:solidFill>
                <a:effectLst/>
                <a:latin typeface="+mn-lt"/>
                <a:ea typeface="+mn-ea"/>
                <a:cs typeface="+mn-cs"/>
              </a:rPr>
              <a:t>Commits should never be made directly to master - new versions are created by merging from develop</a:t>
            </a:r>
          </a:p>
          <a:p>
            <a:r>
              <a:rPr lang="en-US" sz="1200" b="1" i="0" kern="1200" dirty="0">
                <a:solidFill>
                  <a:schemeClr val="tx1"/>
                </a:solidFill>
                <a:effectLst/>
                <a:latin typeface="+mn-lt"/>
                <a:ea typeface="+mn-ea"/>
                <a:cs typeface="+mn-cs"/>
              </a:rPr>
              <a:t>Develop branch</a:t>
            </a:r>
          </a:p>
          <a:p>
            <a:r>
              <a:rPr lang="en-US" sz="1200" b="0" i="0" kern="1200" dirty="0">
                <a:solidFill>
                  <a:schemeClr val="tx1"/>
                </a:solidFill>
                <a:effectLst/>
                <a:latin typeface="+mn-lt"/>
                <a:ea typeface="+mn-ea"/>
                <a:cs typeface="+mn-cs"/>
              </a:rPr>
              <a:t>Reflects stable versions with all new features included as they are completed.</a:t>
            </a:r>
          </a:p>
          <a:p>
            <a:r>
              <a:rPr lang="en-US" sz="1200" b="0" i="0" kern="1200" dirty="0">
                <a:solidFill>
                  <a:schemeClr val="tx1"/>
                </a:solidFill>
                <a:effectLst/>
                <a:latin typeface="+mn-lt"/>
                <a:ea typeface="+mn-ea"/>
                <a:cs typeface="+mn-cs"/>
              </a:rPr>
              <a:t>Commits should never be made directly to develop - changes should be merged from feature branches.</a:t>
            </a:r>
          </a:p>
          <a:p>
            <a:r>
              <a:rPr lang="en-US" sz="1200" b="1" i="0" kern="1200" dirty="0">
                <a:solidFill>
                  <a:schemeClr val="tx1"/>
                </a:solidFill>
                <a:effectLst/>
                <a:latin typeface="+mn-lt"/>
                <a:ea typeface="+mn-ea"/>
                <a:cs typeface="+mn-cs"/>
              </a:rPr>
              <a:t>Feature branches</a:t>
            </a:r>
          </a:p>
          <a:p>
            <a:r>
              <a:rPr lang="en-US" sz="1200" b="0" i="0" kern="1200" dirty="0">
                <a:solidFill>
                  <a:schemeClr val="tx1"/>
                </a:solidFill>
                <a:effectLst/>
                <a:latin typeface="+mn-lt"/>
                <a:ea typeface="+mn-ea"/>
                <a:cs typeface="+mn-cs"/>
              </a:rPr>
              <a:t>For working on a new feature/bugfix in isolation from the develop branch</a:t>
            </a:r>
          </a:p>
          <a:p>
            <a:r>
              <a:rPr lang="en-US" sz="1200" b="0" i="0" kern="1200" dirty="0">
                <a:solidFill>
                  <a:schemeClr val="tx1"/>
                </a:solidFill>
                <a:effectLst/>
                <a:latin typeface="+mn-lt"/>
                <a:ea typeface="+mn-ea"/>
                <a:cs typeface="+mn-cs"/>
              </a:rPr>
              <a:t>New feature branches should be based on develop, not master</a:t>
            </a:r>
          </a:p>
          <a:p>
            <a:r>
              <a:rPr lang="en-US" sz="1200" b="0" i="0" kern="1200" dirty="0">
                <a:solidFill>
                  <a:schemeClr val="tx1"/>
                </a:solidFill>
                <a:effectLst/>
                <a:latin typeface="+mn-lt"/>
                <a:ea typeface="+mn-ea"/>
                <a:cs typeface="+mn-cs"/>
              </a:rPr>
              <a:t>Naming convention is feature/some-cool-new-feature</a:t>
            </a:r>
          </a:p>
          <a:p>
            <a:r>
              <a:rPr lang="en-IN" b="1" dirty="0"/>
              <a:t>Release branch</a:t>
            </a:r>
          </a:p>
          <a:p>
            <a:r>
              <a:rPr lang="en-US" sz="1200" b="0" i="0" kern="1200" dirty="0">
                <a:solidFill>
                  <a:schemeClr val="tx1"/>
                </a:solidFill>
                <a:effectLst/>
                <a:latin typeface="+mn-lt"/>
                <a:ea typeface="+mn-ea"/>
                <a:cs typeface="+mn-cs"/>
              </a:rPr>
              <a:t>Once </a:t>
            </a:r>
            <a:r>
              <a:rPr lang="en-US" dirty="0"/>
              <a:t>develop</a:t>
            </a:r>
            <a:r>
              <a:rPr lang="en-US" sz="1200" b="0" i="0" kern="1200" dirty="0">
                <a:solidFill>
                  <a:schemeClr val="tx1"/>
                </a:solidFill>
                <a:effectLst/>
                <a:latin typeface="+mn-lt"/>
                <a:ea typeface="+mn-ea"/>
                <a:cs typeface="+mn-cs"/>
              </a:rPr>
              <a:t> has acquired enough features for a release (or a predetermined release date is approaching), you fork a release branch off of develop. Creating this branch starts the next release cycle, </a:t>
            </a:r>
            <a:r>
              <a:rPr lang="en-US" sz="1200" b="1" i="0" kern="1200" dirty="0">
                <a:solidFill>
                  <a:schemeClr val="tx1"/>
                </a:solidFill>
                <a:effectLst/>
                <a:latin typeface="+mn-lt"/>
                <a:ea typeface="+mn-ea"/>
                <a:cs typeface="+mn-cs"/>
              </a:rPr>
              <a:t>so no new features can be added after this </a:t>
            </a:r>
            <a:r>
              <a:rPr lang="en-US" sz="1200" b="1" i="0" kern="1200" dirty="0" err="1">
                <a:solidFill>
                  <a:schemeClr val="tx1"/>
                </a:solidFill>
                <a:effectLst/>
                <a:latin typeface="+mn-lt"/>
                <a:ea typeface="+mn-ea"/>
                <a:cs typeface="+mn-cs"/>
              </a:rPr>
              <a:t>point</a:t>
            </a:r>
            <a:r>
              <a:rPr lang="en-US" sz="1200" b="0" i="0" kern="1200" dirty="0" err="1">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Only</a:t>
            </a:r>
            <a:r>
              <a:rPr lang="en-US" sz="1200" b="0" i="1" kern="1200" dirty="0">
                <a:solidFill>
                  <a:schemeClr val="tx1"/>
                </a:solidFill>
                <a:effectLst/>
                <a:latin typeface="+mn-lt"/>
                <a:ea typeface="+mn-ea"/>
                <a:cs typeface="+mn-cs"/>
              </a:rPr>
              <a:t> bug fixes, documentation generation, and other release-oriented tasks should go in this branch(which includes testing also).</a:t>
            </a:r>
            <a:r>
              <a:rPr lang="en-US" sz="1200" b="0" i="0" kern="1200" dirty="0">
                <a:solidFill>
                  <a:schemeClr val="tx1"/>
                </a:solidFill>
                <a:effectLst/>
                <a:latin typeface="+mn-lt"/>
                <a:ea typeface="+mn-ea"/>
                <a:cs typeface="+mn-cs"/>
              </a:rPr>
              <a:t> Once it's ready to ship, the release gets merged into master and tagged with a version number.</a:t>
            </a:r>
            <a:endParaRPr lang="en-IN" b="1" dirty="0"/>
          </a:p>
        </p:txBody>
      </p:sp>
      <p:sp>
        <p:nvSpPr>
          <p:cNvPr id="4" name="Slide Number Placeholder 3"/>
          <p:cNvSpPr>
            <a:spLocks noGrp="1"/>
          </p:cNvSpPr>
          <p:nvPr>
            <p:ph type="sldNum" sz="quarter" idx="5"/>
          </p:nvPr>
        </p:nvSpPr>
        <p:spPr/>
        <p:txBody>
          <a:bodyPr/>
          <a:lstStyle/>
          <a:p>
            <a:fld id="{75D51ECD-1E00-4FCF-BCA1-B11779BB67E6}" type="slidenum">
              <a:rPr lang="en-US" smtClean="0"/>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fast-forward merges are used </a:t>
            </a:r>
            <a:r>
              <a:rPr lang="en-US" sz="1200" b="1" i="0" kern="1200" dirty="0">
                <a:solidFill>
                  <a:schemeClr val="tx1"/>
                </a:solidFill>
                <a:effectLst/>
                <a:latin typeface="+mn-lt"/>
                <a:ea typeface="+mn-ea"/>
                <a:cs typeface="+mn-cs"/>
              </a:rPr>
              <a:t>to fix bugs and small features.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3-way</a:t>
            </a:r>
            <a:r>
              <a:rPr lang="en-US" sz="1200" b="0" i="0" kern="1200" dirty="0">
                <a:solidFill>
                  <a:schemeClr val="tx1"/>
                </a:solidFill>
                <a:effectLst/>
                <a:latin typeface="+mn-lt"/>
                <a:ea typeface="+mn-ea"/>
                <a:cs typeface="+mn-cs"/>
              </a:rPr>
              <a:t> merges are used to integrate </a:t>
            </a:r>
            <a:r>
              <a:rPr lang="en-US" sz="1200" b="1" i="0" kern="1200" dirty="0">
                <a:solidFill>
                  <a:schemeClr val="tx1"/>
                </a:solidFill>
                <a:effectLst/>
                <a:latin typeface="+mn-lt"/>
                <a:ea typeface="+mn-ea"/>
                <a:cs typeface="+mn-cs"/>
              </a:rPr>
              <a:t>long-running features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Rebase is a fast-forward merge, that means the pointer would include all the previous commits of the pointer you are rebasing from and add your own commits after. Rebase keeps your tree clean and straight.</a:t>
            </a:r>
            <a:endParaRPr lang="en-IN" b="1" dirty="0"/>
          </a:p>
        </p:txBody>
      </p:sp>
      <p:sp>
        <p:nvSpPr>
          <p:cNvPr id="4" name="Slide Number Placeholder 3"/>
          <p:cNvSpPr>
            <a:spLocks noGrp="1"/>
          </p:cNvSpPr>
          <p:nvPr>
            <p:ph type="sldNum" sz="quarter" idx="5"/>
          </p:nvPr>
        </p:nvSpPr>
        <p:spPr/>
        <p:txBody>
          <a:bodyPr/>
          <a:lstStyle/>
          <a:p>
            <a:fld id="{75D51ECD-1E00-4FCF-BCA1-B11779BB67E6}" type="slidenum">
              <a:rPr lang="en-US" smtClean="0"/>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4D4D"/>
                </a:solidFill>
                <a:effectLst/>
                <a:latin typeface="-apple-system"/>
              </a:rPr>
              <a:t>The primary reason for rebasing is to maintain a linear project history. For example, consider a situation where the main branch has progressed since you started working on a feature branch. You want to get the latest updates to the main branch in your feature branch, but you want to keep your branch's history clean so it appears as if you've been working off the latest main branch.</a:t>
            </a:r>
          </a:p>
          <a:p>
            <a:endParaRPr lang="en-US" b="0" i="0" dirty="0">
              <a:solidFill>
                <a:srgbClr val="4D4D4D"/>
              </a:solidFill>
              <a:effectLst/>
              <a:latin typeface="-apple-system"/>
            </a:endParaRPr>
          </a:p>
          <a:p>
            <a:r>
              <a:rPr lang="en-US" dirty="0">
                <a:hlinkClick r:id="rId3"/>
              </a:rPr>
              <a:t>git rebase | Atlassian Git Tutorial</a:t>
            </a:r>
            <a:endParaRPr lang="en-US" dirty="0"/>
          </a:p>
        </p:txBody>
      </p:sp>
      <p:sp>
        <p:nvSpPr>
          <p:cNvPr id="4" name="Slide Number Placeholder 3"/>
          <p:cNvSpPr>
            <a:spLocks noGrp="1"/>
          </p:cNvSpPr>
          <p:nvPr>
            <p:ph type="sldNum" sz="quarter" idx="5"/>
          </p:nvPr>
        </p:nvSpPr>
        <p:spPr/>
        <p:txBody>
          <a:bodyPr/>
          <a:lstStyle/>
          <a:p>
            <a:fld id="{75D51ECD-1E00-4FCF-BCA1-B11779BB67E6}" type="slidenum">
              <a:rPr lang="en-US" smtClean="0"/>
              <a:t>11</a:t>
            </a:fld>
            <a:endParaRPr lang="en-US"/>
          </a:p>
        </p:txBody>
      </p:sp>
    </p:spTree>
    <p:extLst>
      <p:ext uri="{BB962C8B-B14F-4D97-AF65-F5344CB8AC3E}">
        <p14:creationId xmlns:p14="http://schemas.microsoft.com/office/powerpoint/2010/main" val="949740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Master branch</a:t>
            </a:r>
          </a:p>
          <a:p>
            <a:r>
              <a:rPr lang="en-US" sz="1200" b="0" i="0" kern="1200" dirty="0">
                <a:solidFill>
                  <a:schemeClr val="tx1"/>
                </a:solidFill>
                <a:effectLst/>
                <a:latin typeface="+mn-lt"/>
                <a:ea typeface="+mn-ea"/>
                <a:cs typeface="+mn-cs"/>
              </a:rPr>
              <a:t>Reserved for stable releases (alpha, beta, etc.) with all relevant features completed</a:t>
            </a:r>
          </a:p>
          <a:p>
            <a:r>
              <a:rPr lang="en-US" sz="1200" b="0" i="0" kern="1200" dirty="0">
                <a:solidFill>
                  <a:schemeClr val="tx1"/>
                </a:solidFill>
                <a:effectLst/>
                <a:latin typeface="+mn-lt"/>
                <a:ea typeface="+mn-ea"/>
                <a:cs typeface="+mn-cs"/>
              </a:rPr>
              <a:t>Commits should never be made directly to master - new versions are created by merging from develop</a:t>
            </a:r>
          </a:p>
          <a:p>
            <a:r>
              <a:rPr lang="en-US" sz="1200" b="1" i="0" kern="1200" dirty="0">
                <a:solidFill>
                  <a:schemeClr val="tx1"/>
                </a:solidFill>
                <a:effectLst/>
                <a:latin typeface="+mn-lt"/>
                <a:ea typeface="+mn-ea"/>
                <a:cs typeface="+mn-cs"/>
              </a:rPr>
              <a:t>Develop branch</a:t>
            </a:r>
          </a:p>
          <a:p>
            <a:r>
              <a:rPr lang="en-US" sz="1200" b="0" i="0" kern="1200" dirty="0">
                <a:solidFill>
                  <a:schemeClr val="tx1"/>
                </a:solidFill>
                <a:effectLst/>
                <a:latin typeface="+mn-lt"/>
                <a:ea typeface="+mn-ea"/>
                <a:cs typeface="+mn-cs"/>
              </a:rPr>
              <a:t>Reflects stable versions with all new features included as they are completed.</a:t>
            </a:r>
          </a:p>
          <a:p>
            <a:r>
              <a:rPr lang="en-US" sz="1200" b="0" i="0" kern="1200" dirty="0">
                <a:solidFill>
                  <a:schemeClr val="tx1"/>
                </a:solidFill>
                <a:effectLst/>
                <a:latin typeface="+mn-lt"/>
                <a:ea typeface="+mn-ea"/>
                <a:cs typeface="+mn-cs"/>
              </a:rPr>
              <a:t>Commits should never be made directly to develop - changes should be merged from feature branches.</a:t>
            </a:r>
          </a:p>
          <a:p>
            <a:r>
              <a:rPr lang="en-US" sz="1200" b="1" i="0" kern="1200" dirty="0">
                <a:solidFill>
                  <a:schemeClr val="tx1"/>
                </a:solidFill>
                <a:effectLst/>
                <a:latin typeface="+mn-lt"/>
                <a:ea typeface="+mn-ea"/>
                <a:cs typeface="+mn-cs"/>
              </a:rPr>
              <a:t>Feature branches</a:t>
            </a:r>
          </a:p>
          <a:p>
            <a:r>
              <a:rPr lang="en-US" sz="1200" b="0" i="0" kern="1200" dirty="0">
                <a:solidFill>
                  <a:schemeClr val="tx1"/>
                </a:solidFill>
                <a:effectLst/>
                <a:latin typeface="+mn-lt"/>
                <a:ea typeface="+mn-ea"/>
                <a:cs typeface="+mn-cs"/>
              </a:rPr>
              <a:t>For working on a new feature/bugfix in isolation from the develop branch</a:t>
            </a:r>
          </a:p>
          <a:p>
            <a:r>
              <a:rPr lang="en-US" sz="1200" b="0" i="0" kern="1200" dirty="0">
                <a:solidFill>
                  <a:schemeClr val="tx1"/>
                </a:solidFill>
                <a:effectLst/>
                <a:latin typeface="+mn-lt"/>
                <a:ea typeface="+mn-ea"/>
                <a:cs typeface="+mn-cs"/>
              </a:rPr>
              <a:t>New feature branches should be based on develop, not master</a:t>
            </a:r>
          </a:p>
          <a:p>
            <a:r>
              <a:rPr lang="en-US" sz="1200" b="0" i="0" kern="1200" dirty="0">
                <a:solidFill>
                  <a:schemeClr val="tx1"/>
                </a:solidFill>
                <a:effectLst/>
                <a:latin typeface="+mn-lt"/>
                <a:ea typeface="+mn-ea"/>
                <a:cs typeface="+mn-cs"/>
              </a:rPr>
              <a:t>Naming convention is feature/some-cool-new-feature</a:t>
            </a:r>
          </a:p>
          <a:p>
            <a:r>
              <a:rPr lang="en-IN" b="1" dirty="0"/>
              <a:t>Release branch</a:t>
            </a:r>
          </a:p>
          <a:p>
            <a:r>
              <a:rPr lang="en-US" sz="1200" b="0" i="0" kern="1200" dirty="0">
                <a:solidFill>
                  <a:schemeClr val="tx1"/>
                </a:solidFill>
                <a:effectLst/>
                <a:latin typeface="+mn-lt"/>
                <a:ea typeface="+mn-ea"/>
                <a:cs typeface="+mn-cs"/>
              </a:rPr>
              <a:t>Once </a:t>
            </a:r>
            <a:r>
              <a:rPr lang="en-US" dirty="0"/>
              <a:t>develop</a:t>
            </a:r>
            <a:r>
              <a:rPr lang="en-US" sz="1200" b="0" i="0" kern="1200" dirty="0">
                <a:solidFill>
                  <a:schemeClr val="tx1"/>
                </a:solidFill>
                <a:effectLst/>
                <a:latin typeface="+mn-lt"/>
                <a:ea typeface="+mn-ea"/>
                <a:cs typeface="+mn-cs"/>
              </a:rPr>
              <a:t> has acquired enough features for a release (or a predetermined release date is approaching), you fork a release branch off of develop. Creating this branch starts the next release cycle, </a:t>
            </a:r>
            <a:r>
              <a:rPr lang="en-US" sz="1200" b="1" i="0" kern="1200" dirty="0">
                <a:solidFill>
                  <a:schemeClr val="tx1"/>
                </a:solidFill>
                <a:effectLst/>
                <a:latin typeface="+mn-lt"/>
                <a:ea typeface="+mn-ea"/>
                <a:cs typeface="+mn-cs"/>
              </a:rPr>
              <a:t>so no new features can be added after this </a:t>
            </a:r>
            <a:r>
              <a:rPr lang="en-US" sz="1200" b="1" i="0" kern="1200" dirty="0" err="1">
                <a:solidFill>
                  <a:schemeClr val="tx1"/>
                </a:solidFill>
                <a:effectLst/>
                <a:latin typeface="+mn-lt"/>
                <a:ea typeface="+mn-ea"/>
                <a:cs typeface="+mn-cs"/>
              </a:rPr>
              <a:t>point</a:t>
            </a:r>
            <a:r>
              <a:rPr lang="en-US" sz="1200" b="0" i="0" kern="1200" dirty="0" err="1">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Only</a:t>
            </a:r>
            <a:r>
              <a:rPr lang="en-US" sz="1200" b="0" i="1" kern="1200" dirty="0">
                <a:solidFill>
                  <a:schemeClr val="tx1"/>
                </a:solidFill>
                <a:effectLst/>
                <a:latin typeface="+mn-lt"/>
                <a:ea typeface="+mn-ea"/>
                <a:cs typeface="+mn-cs"/>
              </a:rPr>
              <a:t> bug fixes, documentation generation, and other release-oriented tasks should go in this branch(which includes testing also).</a:t>
            </a:r>
            <a:r>
              <a:rPr lang="en-US" sz="1200" b="0" i="0" kern="1200" dirty="0">
                <a:solidFill>
                  <a:schemeClr val="tx1"/>
                </a:solidFill>
                <a:effectLst/>
                <a:latin typeface="+mn-lt"/>
                <a:ea typeface="+mn-ea"/>
                <a:cs typeface="+mn-cs"/>
              </a:rPr>
              <a:t> Once it's ready to ship, the release gets merged into master and tagged with a version number.</a:t>
            </a:r>
            <a:endParaRPr lang="en-IN" b="1" dirty="0"/>
          </a:p>
        </p:txBody>
      </p:sp>
      <p:sp>
        <p:nvSpPr>
          <p:cNvPr id="4" name="Slide Number Placeholder 3"/>
          <p:cNvSpPr>
            <a:spLocks noGrp="1"/>
          </p:cNvSpPr>
          <p:nvPr>
            <p:ph type="sldNum" sz="quarter" idx="5"/>
          </p:nvPr>
        </p:nvSpPr>
        <p:spPr/>
        <p:txBody>
          <a:bodyPr/>
          <a:lstStyle/>
          <a:p>
            <a:fld id="{75D51ECD-1E00-4FCF-BCA1-B11779BB67E6}" type="slidenum">
              <a:rPr lang="en-US" smtClean="0"/>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333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121253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72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10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762437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000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71770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9723445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810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77448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842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197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5661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70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10251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0710135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105668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887453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986438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60936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408388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01732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9393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78177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73047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1944111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mailto:pro.shailendra@gmail.com"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04B88-917C-8E8D-107F-8DF7ADEF7D64}"/>
              </a:ext>
            </a:extLst>
          </p:cNvPr>
          <p:cNvSpPr>
            <a:spLocks noGrp="1"/>
          </p:cNvSpPr>
          <p:nvPr>
            <p:ph sz="half" idx="1"/>
          </p:nvPr>
        </p:nvSpPr>
        <p:spPr/>
        <p:txBody>
          <a:bodyPr/>
          <a:lstStyle/>
          <a:p>
            <a:r>
              <a:rPr lang="en-IN" dirty="0"/>
              <a:t>Azure Repo</a:t>
            </a:r>
          </a:p>
          <a:p>
            <a:r>
              <a:rPr lang="en-US" dirty="0"/>
              <a:t>Team Foundation Version Control</a:t>
            </a:r>
          </a:p>
          <a:p>
            <a:r>
              <a:rPr lang="en-US" dirty="0"/>
              <a:t>Git</a:t>
            </a:r>
          </a:p>
          <a:p>
            <a:r>
              <a:rPr lang="en-US" dirty="0"/>
              <a:t>Git vs. GitHub</a:t>
            </a:r>
          </a:p>
          <a:p>
            <a:r>
              <a:rPr lang="en-IN" dirty="0"/>
              <a:t>Git Workflow</a:t>
            </a:r>
          </a:p>
          <a:p>
            <a:r>
              <a:rPr lang="en-IN" dirty="0"/>
              <a:t>Git Commands</a:t>
            </a:r>
          </a:p>
          <a:p>
            <a:r>
              <a:rPr lang="en-IN" dirty="0"/>
              <a:t>Git Branching</a:t>
            </a:r>
          </a:p>
          <a:p>
            <a:r>
              <a:rPr lang="en-IN" dirty="0"/>
              <a:t>Git Merging</a:t>
            </a:r>
          </a:p>
          <a:p>
            <a:endParaRPr lang="en-IN" dirty="0"/>
          </a:p>
        </p:txBody>
      </p:sp>
      <p:sp>
        <p:nvSpPr>
          <p:cNvPr id="4" name="Content Placeholder 3">
            <a:extLst>
              <a:ext uri="{FF2B5EF4-FFF2-40B4-BE49-F238E27FC236}">
                <a16:creationId xmlns:a16="http://schemas.microsoft.com/office/drawing/2014/main" id="{D13212CF-C2EF-B492-708F-9399D9FB66FA}"/>
              </a:ext>
            </a:extLst>
          </p:cNvPr>
          <p:cNvSpPr>
            <a:spLocks noGrp="1"/>
          </p:cNvSpPr>
          <p:nvPr>
            <p:ph sz="half" idx="10"/>
          </p:nvPr>
        </p:nvSpPr>
        <p:spPr/>
        <p:txBody>
          <a:bodyPr/>
          <a:lstStyle/>
          <a:p>
            <a:r>
              <a:rPr lang="en-US" dirty="0"/>
              <a:t>Azure Repos</a:t>
            </a:r>
            <a:endParaRPr lang="en-IN" dirty="0"/>
          </a:p>
        </p:txBody>
      </p:sp>
      <p:sp>
        <p:nvSpPr>
          <p:cNvPr id="2" name="Title 1">
            <a:extLst>
              <a:ext uri="{FF2B5EF4-FFF2-40B4-BE49-F238E27FC236}">
                <a16:creationId xmlns:a16="http://schemas.microsoft.com/office/drawing/2014/main" id="{C0D981F5-0220-AFBA-DAB1-B1005A947142}"/>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128253699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lnSpc>
                <a:spcPct val="100000"/>
              </a:lnSpc>
            </a:pPr>
            <a:r>
              <a:rPr lang="en-US" dirty="0"/>
              <a:t>Repo is used to manage and track your code and its changes while working with a team.</a:t>
            </a:r>
            <a:endParaRPr lang="en-IN" dirty="0"/>
          </a:p>
          <a:p>
            <a:pPr algn="just">
              <a:lnSpc>
                <a:spcPct val="100000"/>
              </a:lnSpc>
            </a:pPr>
            <a:r>
              <a:rPr lang="en-US" dirty="0"/>
              <a:t>Azure DevOps offers two Repos models of version control: Git and TFVC (Team Foundation Version Control)</a:t>
            </a:r>
            <a:endParaRPr lang="en-IN" dirty="0"/>
          </a:p>
          <a:p>
            <a:pPr algn="just">
              <a:lnSpc>
                <a:spcPct val="100000"/>
              </a:lnSpc>
            </a:pPr>
            <a:r>
              <a:rPr lang="en-US" dirty="0"/>
              <a:t>Azure repos supports IDE like Visual Studio, VS Code, </a:t>
            </a:r>
            <a:r>
              <a:rPr lang="en-US" dirty="0" err="1"/>
              <a:t>Xcode</a:t>
            </a:r>
            <a:r>
              <a:rPr lang="en-US" dirty="0"/>
              <a:t>, Eclipse, Command-line and IntelliJ etc.</a:t>
            </a:r>
          </a:p>
          <a:p>
            <a:pPr algn="just">
              <a:lnSpc>
                <a:spcPct val="100000"/>
              </a:lnSpc>
            </a:pPr>
            <a:r>
              <a:rPr lang="en-US" dirty="0"/>
              <a:t>Supports code import of an existing repo from GitHub, Bitbucket and GitLab.</a:t>
            </a:r>
            <a:endParaRPr lang="en-IN" dirty="0"/>
          </a:p>
        </p:txBody>
      </p:sp>
      <p:sp>
        <p:nvSpPr>
          <p:cNvPr id="4" name="Content Placeholder 3"/>
          <p:cNvSpPr>
            <a:spLocks noGrp="1"/>
          </p:cNvSpPr>
          <p:nvPr>
            <p:ph sz="half" idx="10"/>
          </p:nvPr>
        </p:nvSpPr>
        <p:spPr/>
        <p:txBody>
          <a:bodyPr/>
          <a:lstStyle/>
          <a:p>
            <a:r>
              <a:rPr lang="en-IN" dirty="0"/>
              <a:t>Azure Repos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marL="0" indent="0" algn="just">
              <a:buNone/>
            </a:pPr>
            <a:r>
              <a:rPr lang="en-US" sz="3200" dirty="0"/>
              <a:t>A Centralized Version Control system provided by Azure DevOps to manage your code and files and track changes you make in your code over time.</a:t>
            </a:r>
            <a:endParaRPr lang="en-IN" sz="3200" dirty="0"/>
          </a:p>
        </p:txBody>
      </p:sp>
      <p:sp>
        <p:nvSpPr>
          <p:cNvPr id="3" name="Content Placeholder 2"/>
          <p:cNvSpPr>
            <a:spLocks noGrp="1"/>
          </p:cNvSpPr>
          <p:nvPr>
            <p:ph sz="half" idx="10"/>
          </p:nvPr>
        </p:nvSpPr>
        <p:spPr/>
        <p:txBody>
          <a:bodyPr/>
          <a:lstStyle/>
          <a:p>
            <a:r>
              <a:rPr lang="en-US" dirty="0"/>
              <a:t>TFVC: Team Foundation Version Control </a:t>
            </a:r>
            <a:endParaRPr lang="en-IN" dirty="0"/>
          </a:p>
        </p:txBody>
      </p:sp>
      <p:pic>
        <p:nvPicPr>
          <p:cNvPr id="4" name="Picture 3"/>
          <p:cNvPicPr/>
          <p:nvPr/>
        </p:nvPicPr>
        <p:blipFill rotWithShape="1">
          <a:blip r:embed="rId2">
            <a:extLst>
              <a:ext uri="{28A0092B-C50C-407E-A947-70E740481C1C}">
                <a14:useLocalDpi xmlns:a14="http://schemas.microsoft.com/office/drawing/2010/main" val="0"/>
              </a:ext>
            </a:extLst>
          </a:blip>
          <a:srcRect t="2042" b="12494"/>
          <a:stretch>
            <a:fillRect/>
          </a:stretch>
        </p:blipFill>
        <p:spPr bwMode="auto">
          <a:xfrm>
            <a:off x="3695218" y="3114136"/>
            <a:ext cx="4801564" cy="363172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marL="0" indent="0" algn="just">
              <a:buNone/>
            </a:pPr>
            <a:r>
              <a:rPr lang="en-US" sz="3200" dirty="0"/>
              <a:t>Git is an Open-source Distributed Version Control system that is designed to manage project version control speedy and effectively.</a:t>
            </a:r>
            <a:endParaRPr lang="en-IN" sz="2800" dirty="0"/>
          </a:p>
        </p:txBody>
      </p:sp>
      <p:sp>
        <p:nvSpPr>
          <p:cNvPr id="3" name="Content Placeholder 2"/>
          <p:cNvSpPr>
            <a:spLocks noGrp="1"/>
          </p:cNvSpPr>
          <p:nvPr>
            <p:ph sz="half" idx="10"/>
          </p:nvPr>
        </p:nvSpPr>
        <p:spPr/>
        <p:txBody>
          <a:bodyPr/>
          <a:lstStyle/>
          <a:p>
            <a:r>
              <a:rPr lang="en-US" dirty="0"/>
              <a:t>Git</a:t>
            </a:r>
            <a:endParaRPr lang="en-IN" dirty="0"/>
          </a:p>
        </p:txBody>
      </p:sp>
      <p:pic>
        <p:nvPicPr>
          <p:cNvPr id="5" name="Picture 4"/>
          <p:cNvPicPr/>
          <p:nvPr/>
        </p:nvPicPr>
        <p:blipFill rotWithShape="1">
          <a:blip r:embed="rId3">
            <a:extLst>
              <a:ext uri="{28A0092B-C50C-407E-A947-70E740481C1C}">
                <a14:useLocalDpi xmlns:a14="http://schemas.microsoft.com/office/drawing/2010/main" val="0"/>
              </a:ext>
            </a:extLst>
          </a:blip>
          <a:srcRect b="6966"/>
          <a:stretch>
            <a:fillRect/>
          </a:stretch>
        </p:blipFill>
        <p:spPr bwMode="auto">
          <a:xfrm>
            <a:off x="3276121" y="2717441"/>
            <a:ext cx="4673600" cy="4083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0"/>
          </p:nvPr>
        </p:nvSpPr>
        <p:spPr/>
        <p:txBody>
          <a:bodyPr/>
          <a:lstStyle/>
          <a:p>
            <a:r>
              <a:rPr lang="en-IN" dirty="0"/>
              <a:t>Git vs GitHub</a:t>
            </a:r>
          </a:p>
        </p:txBody>
      </p:sp>
      <p:sp>
        <p:nvSpPr>
          <p:cNvPr id="6" name="Content Placeholder 5"/>
          <p:cNvSpPr>
            <a:spLocks noGrp="1"/>
          </p:cNvSpPr>
          <p:nvPr>
            <p:ph sz="half" idx="11"/>
          </p:nvPr>
        </p:nvSpPr>
        <p:spPr/>
        <p:txBody>
          <a:bodyPr>
            <a:normAutofit/>
          </a:bodyPr>
          <a:lstStyle/>
          <a:p>
            <a:pPr algn="just"/>
            <a:r>
              <a:rPr lang="en-IN" sz="2800" dirty="0"/>
              <a:t>A cloud based service based on git to manage code</a:t>
            </a:r>
          </a:p>
          <a:p>
            <a:pPr algn="just"/>
            <a:r>
              <a:rPr lang="en-IN" sz="2800" dirty="0"/>
              <a:t>Offers GUI interface</a:t>
            </a:r>
          </a:p>
          <a:p>
            <a:pPr algn="just"/>
            <a:r>
              <a:rPr lang="en-IN" sz="2800" dirty="0"/>
              <a:t>Repository is created on cloud to store code in a centralized location</a:t>
            </a:r>
          </a:p>
          <a:p>
            <a:pPr algn="just"/>
            <a:r>
              <a:rPr lang="en-IN" sz="2800" dirty="0"/>
              <a:t>Built-in user management</a:t>
            </a:r>
          </a:p>
        </p:txBody>
      </p:sp>
      <p:sp>
        <p:nvSpPr>
          <p:cNvPr id="4" name="Content Placeholder 3"/>
          <p:cNvSpPr>
            <a:spLocks noGrp="1"/>
          </p:cNvSpPr>
          <p:nvPr>
            <p:ph sz="half" idx="1"/>
          </p:nvPr>
        </p:nvSpPr>
        <p:spPr/>
        <p:txBody>
          <a:bodyPr>
            <a:normAutofit/>
          </a:bodyPr>
          <a:lstStyle/>
          <a:p>
            <a:pPr algn="just"/>
            <a:r>
              <a:rPr lang="en-IN" sz="2800" dirty="0"/>
              <a:t>A free and open-source version control system to manage code</a:t>
            </a:r>
          </a:p>
          <a:p>
            <a:pPr algn="just"/>
            <a:r>
              <a:rPr lang="en-IN" sz="2800" dirty="0"/>
              <a:t>A command line tool</a:t>
            </a:r>
          </a:p>
          <a:p>
            <a:pPr algn="just"/>
            <a:r>
              <a:rPr lang="en-IN" sz="2800" dirty="0"/>
              <a:t>Creates a local repository to track changes locally instead of storing them on a server</a:t>
            </a:r>
          </a:p>
          <a:p>
            <a:pPr algn="just"/>
            <a:r>
              <a:rPr lang="en-IN" sz="2800" dirty="0"/>
              <a:t>No user management</a:t>
            </a:r>
          </a:p>
          <a:p>
            <a:pPr algn="just"/>
            <a:endParaRPr lang="en-I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fade">
                                      <p:cBhvr>
                                        <p:cTn id="32" dur="500"/>
                                        <p:tgtEl>
                                          <p:spTgt spid="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500"/>
                                        <p:tgtEl>
                                          <p:spTgt spid="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fade">
                                      <p:cBhvr>
                                        <p:cTn id="4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t="6193"/>
          <a:stretch>
            <a:fillRect/>
          </a:stretch>
        </p:blipFill>
        <p:spPr>
          <a:xfrm>
            <a:off x="1468114" y="1248605"/>
            <a:ext cx="7504123" cy="4704272"/>
          </a:xfrm>
        </p:spPr>
      </p:pic>
      <p:sp>
        <p:nvSpPr>
          <p:cNvPr id="9" name="Content Placeholder 8"/>
          <p:cNvSpPr>
            <a:spLocks noGrp="1"/>
          </p:cNvSpPr>
          <p:nvPr>
            <p:ph sz="half" idx="10"/>
          </p:nvPr>
        </p:nvSpPr>
        <p:spPr/>
        <p:txBody>
          <a:bodyPr/>
          <a:lstStyle/>
          <a:p>
            <a:r>
              <a:rPr lang="en-IN" dirty="0"/>
              <a:t>Git Work Flow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D7F705-6B33-1B46-F3B7-0171CFF34639}"/>
              </a:ext>
            </a:extLst>
          </p:cNvPr>
          <p:cNvSpPr>
            <a:spLocks noGrp="1"/>
          </p:cNvSpPr>
          <p:nvPr>
            <p:ph sz="half" idx="1"/>
          </p:nvPr>
        </p:nvSpPr>
        <p:spPr/>
        <p:txBody>
          <a:bodyPr/>
          <a:lstStyle/>
          <a:p>
            <a:r>
              <a:rPr lang="en-US" dirty="0"/>
              <a:t>git config --global user.name "Shailendra Chauhan"</a:t>
            </a:r>
          </a:p>
          <a:p>
            <a:r>
              <a:rPr lang="en-US" dirty="0"/>
              <a:t>git config --global </a:t>
            </a:r>
            <a:r>
              <a:rPr lang="en-US" dirty="0" err="1"/>
              <a:t>user.email</a:t>
            </a:r>
            <a:r>
              <a:rPr lang="en-US" dirty="0"/>
              <a:t> </a:t>
            </a:r>
            <a:r>
              <a:rPr lang="en-US" dirty="0">
                <a:hlinkClick r:id="rId2"/>
              </a:rPr>
              <a:t>pro.shailendra@gmail.com</a:t>
            </a:r>
            <a:endParaRPr lang="en-US" dirty="0"/>
          </a:p>
          <a:p>
            <a:r>
              <a:rPr lang="en-US"/>
              <a:t>git config --global --list</a:t>
            </a:r>
            <a:endParaRPr lang="en-US" dirty="0"/>
          </a:p>
        </p:txBody>
      </p:sp>
      <p:sp>
        <p:nvSpPr>
          <p:cNvPr id="3" name="Content Placeholder 2">
            <a:extLst>
              <a:ext uri="{FF2B5EF4-FFF2-40B4-BE49-F238E27FC236}">
                <a16:creationId xmlns:a16="http://schemas.microsoft.com/office/drawing/2014/main" id="{D12A2497-FCD3-D434-07BD-D5EBEED67347}"/>
              </a:ext>
            </a:extLst>
          </p:cNvPr>
          <p:cNvSpPr>
            <a:spLocks noGrp="1"/>
          </p:cNvSpPr>
          <p:nvPr>
            <p:ph sz="half" idx="10"/>
          </p:nvPr>
        </p:nvSpPr>
        <p:spPr/>
        <p:txBody>
          <a:bodyPr/>
          <a:lstStyle/>
          <a:p>
            <a:r>
              <a:rPr lang="en-IN" dirty="0"/>
              <a:t>Git Global Configuration</a:t>
            </a:r>
            <a:endParaRPr lang="en-US" dirty="0"/>
          </a:p>
        </p:txBody>
      </p:sp>
    </p:spTree>
    <p:extLst>
      <p:ext uri="{BB962C8B-B14F-4D97-AF65-F5344CB8AC3E}">
        <p14:creationId xmlns:p14="http://schemas.microsoft.com/office/powerpoint/2010/main" val="87588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36802" y="1576775"/>
            <a:ext cx="4292398" cy="4110794"/>
          </a:xfrm>
          <a:prstGeom prst="rect">
            <a:avLst/>
          </a:prstGeom>
          <a:noFill/>
          <a:ln>
            <a:noFill/>
          </a:ln>
        </p:spPr>
      </p:pic>
      <p:sp>
        <p:nvSpPr>
          <p:cNvPr id="3" name="Content Placeholder 2"/>
          <p:cNvSpPr>
            <a:spLocks noGrp="1"/>
          </p:cNvSpPr>
          <p:nvPr>
            <p:ph sz="half" idx="10"/>
          </p:nvPr>
        </p:nvSpPr>
        <p:spPr/>
        <p:txBody>
          <a:bodyPr/>
          <a:lstStyle/>
          <a:p>
            <a:r>
              <a:rPr lang="en-IN" dirty="0"/>
              <a:t>Create A Feature Branch</a:t>
            </a:r>
          </a:p>
        </p:txBody>
      </p:sp>
      <p:pic>
        <p:nvPicPr>
          <p:cNvPr id="5" name="Picture 4"/>
          <p:cNvPicPr>
            <a:picLocks noChangeAspect="1"/>
          </p:cNvPicPr>
          <p:nvPr/>
        </p:nvPicPr>
        <p:blipFill>
          <a:blip r:embed="rId3"/>
          <a:stretch>
            <a:fillRect/>
          </a:stretch>
        </p:blipFill>
        <p:spPr>
          <a:xfrm>
            <a:off x="5607041" y="1576775"/>
            <a:ext cx="4171950" cy="3638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IN" dirty="0"/>
              <a:t>Branches: Master, Develop, Feature, Release</a:t>
            </a:r>
          </a:p>
        </p:txBody>
      </p:sp>
      <p:pic>
        <p:nvPicPr>
          <p:cNvPr id="2" name="Picture 1" descr="git-flow"/>
          <p:cNvPicPr>
            <a:picLocks noChangeAspect="1"/>
          </p:cNvPicPr>
          <p:nvPr/>
        </p:nvPicPr>
        <p:blipFill>
          <a:blip r:embed="rId3"/>
          <a:stretch>
            <a:fillRect/>
          </a:stretch>
        </p:blipFill>
        <p:spPr>
          <a:xfrm>
            <a:off x="1753489" y="1309116"/>
            <a:ext cx="7318375" cy="449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IN" dirty="0"/>
              <a:t>Merging: Fast-Forward &amp; 3-Way Merge</a:t>
            </a:r>
          </a:p>
        </p:txBody>
      </p:sp>
      <p:grpSp>
        <p:nvGrpSpPr>
          <p:cNvPr id="4" name="Group 3"/>
          <p:cNvGrpSpPr/>
          <p:nvPr/>
        </p:nvGrpSpPr>
        <p:grpSpPr>
          <a:xfrm>
            <a:off x="2141316" y="1369795"/>
            <a:ext cx="6300494" cy="1811784"/>
            <a:chOff x="1136896" y="2121024"/>
            <a:chExt cx="6300494" cy="1811784"/>
          </a:xfrm>
        </p:grpSpPr>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51390"/>
            <a:stretch>
              <a:fillRect/>
            </a:stretch>
          </p:blipFill>
          <p:spPr bwMode="auto">
            <a:xfrm>
              <a:off x="1136896" y="2143217"/>
              <a:ext cx="2468302" cy="1789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50728"/>
            <a:stretch>
              <a:fillRect/>
            </a:stretch>
          </p:blipFill>
          <p:spPr bwMode="auto">
            <a:xfrm>
              <a:off x="4972049" y="2121024"/>
              <a:ext cx="2465341" cy="1811784"/>
            </a:xfrm>
            <a:prstGeom prst="rect">
              <a:avLst/>
            </a:prstGeom>
            <a:noFill/>
            <a:extLst>
              <a:ext uri="{909E8E84-426E-40DD-AFC4-6F175D3DCCD1}">
                <a14:hiddenFill xmlns:a14="http://schemas.microsoft.com/office/drawing/2010/main">
                  <a:solidFill>
                    <a:srgbClr val="FFFFFF"/>
                  </a:solidFill>
                </a14:hiddenFill>
              </a:ext>
            </a:extLst>
          </p:spPr>
        </p:pic>
        <p:sp>
          <p:nvSpPr>
            <p:cNvPr id="2" name="Arrow: Right 1"/>
            <p:cNvSpPr/>
            <p:nvPr/>
          </p:nvSpPr>
          <p:spPr>
            <a:xfrm>
              <a:off x="4064631" y="2794986"/>
              <a:ext cx="382018" cy="398570"/>
            </a:xfrm>
            <a:prstGeom prst="rightArrow">
              <a:avLst/>
            </a:prstGeom>
            <a:solidFill>
              <a:schemeClr val="tx2">
                <a:lumMod val="40000"/>
                <a:lumOff val="6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 name="Group 5"/>
          <p:cNvGrpSpPr/>
          <p:nvPr/>
        </p:nvGrpSpPr>
        <p:grpSpPr>
          <a:xfrm>
            <a:off x="2013792" y="3788213"/>
            <a:ext cx="6492535" cy="2095735"/>
            <a:chOff x="716132" y="4460245"/>
            <a:chExt cx="6492535" cy="2095735"/>
          </a:xfrm>
        </p:grpSpPr>
        <p:pic>
          <p:nvPicPr>
            <p:cNvPr id="2052"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b="51223"/>
            <a:stretch>
              <a:fillRect/>
            </a:stretch>
          </p:blipFill>
          <p:spPr bwMode="auto">
            <a:xfrm>
              <a:off x="716132" y="4460245"/>
              <a:ext cx="2454668" cy="202933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t="51806"/>
            <a:stretch>
              <a:fillRect/>
            </a:stretch>
          </p:blipFill>
          <p:spPr bwMode="auto">
            <a:xfrm>
              <a:off x="4670208" y="4482438"/>
              <a:ext cx="2538459" cy="2073542"/>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p:cNvSpPr/>
            <p:nvPr/>
          </p:nvSpPr>
          <p:spPr>
            <a:xfrm>
              <a:off x="3759554" y="5353235"/>
              <a:ext cx="382018" cy="398570"/>
            </a:xfrm>
            <a:prstGeom prst="rightArrow">
              <a:avLst/>
            </a:prstGeom>
            <a:solidFill>
              <a:schemeClr val="tx2">
                <a:lumMod val="40000"/>
                <a:lumOff val="6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68C7AA99-B08B-49AE-A505-68836983BAE9}"/>
              </a:ext>
            </a:extLst>
          </p:cNvPr>
          <p:cNvSpPr>
            <a:spLocks noGrp="1"/>
          </p:cNvSpPr>
          <p:nvPr>
            <p:ph sz="half" idx="1"/>
          </p:nvPr>
        </p:nvSpPr>
        <p:spPr>
          <a:xfrm>
            <a:off x="493295" y="1272484"/>
            <a:ext cx="7208404" cy="4877624"/>
          </a:xfrm>
        </p:spPr>
        <p:txBody>
          <a:bodyPr>
            <a:noAutofit/>
          </a:bodyPr>
          <a:lstStyle/>
          <a:p>
            <a:pPr algn="just">
              <a:lnSpc>
                <a:spcPct val="120000"/>
              </a:lnSpc>
            </a:pPr>
            <a:r>
              <a:rPr lang="en-US" sz="2400" dirty="0"/>
              <a:t>Rebasing is changing the base of your branch from one commit to another.</a:t>
            </a:r>
          </a:p>
          <a:p>
            <a:pPr algn="just">
              <a:lnSpc>
                <a:spcPct val="120000"/>
              </a:lnSpc>
            </a:pPr>
            <a:r>
              <a:rPr lang="en-US" sz="2400" dirty="0"/>
              <a:t>The primary reason for rebasing is to maintain a </a:t>
            </a:r>
            <a:r>
              <a:rPr lang="en-US" sz="2400" b="1" dirty="0"/>
              <a:t>linear project history</a:t>
            </a:r>
            <a:r>
              <a:rPr lang="en-US" sz="2400" dirty="0"/>
              <a:t>. </a:t>
            </a:r>
          </a:p>
          <a:p>
            <a:pPr algn="just">
              <a:lnSpc>
                <a:spcPct val="120000"/>
              </a:lnSpc>
            </a:pPr>
            <a:r>
              <a:rPr lang="en-US" sz="2400" dirty="0"/>
              <a:t>For example, the main branch has progressed since you started working on a feature branch. You want to get the latest updates to the main branch in your feature branch, but you </a:t>
            </a:r>
            <a:r>
              <a:rPr lang="en-US" sz="2400" b="1" dirty="0"/>
              <a:t>want to keep your branch's history clean,</a:t>
            </a:r>
            <a:r>
              <a:rPr lang="en-US" sz="2400" dirty="0"/>
              <a:t> so it appears as if you've been working off the latest main branch.</a:t>
            </a:r>
          </a:p>
        </p:txBody>
      </p:sp>
      <p:sp>
        <p:nvSpPr>
          <p:cNvPr id="3" name="Content Placeholder 2">
            <a:extLst>
              <a:ext uri="{FF2B5EF4-FFF2-40B4-BE49-F238E27FC236}">
                <a16:creationId xmlns:a16="http://schemas.microsoft.com/office/drawing/2014/main" id="{17532436-3601-45BA-B31D-5A2B752937F1}"/>
              </a:ext>
            </a:extLst>
          </p:cNvPr>
          <p:cNvSpPr>
            <a:spLocks noGrp="1"/>
          </p:cNvSpPr>
          <p:nvPr>
            <p:ph sz="half" idx="10"/>
          </p:nvPr>
        </p:nvSpPr>
        <p:spPr/>
        <p:txBody>
          <a:bodyPr/>
          <a:lstStyle/>
          <a:p>
            <a:r>
              <a:rPr lang="en-IN" dirty="0"/>
              <a:t>Git Rebase</a:t>
            </a:r>
          </a:p>
        </p:txBody>
      </p:sp>
      <p:pic>
        <p:nvPicPr>
          <p:cNvPr id="4" name="Graphic 3">
            <a:extLst>
              <a:ext uri="{FF2B5EF4-FFF2-40B4-BE49-F238E27FC236}">
                <a16:creationId xmlns:a16="http://schemas.microsoft.com/office/drawing/2014/main" id="{AD339AAB-38B7-4571-B7ED-3BBB5C88E7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61231" y="1490579"/>
            <a:ext cx="5654400" cy="3844992"/>
          </a:xfrm>
          <a:prstGeom prst="rect">
            <a:avLst/>
          </a:prstGeom>
        </p:spPr>
      </p:pic>
    </p:spTree>
    <p:extLst>
      <p:ext uri="{BB962C8B-B14F-4D97-AF65-F5344CB8AC3E}">
        <p14:creationId xmlns:p14="http://schemas.microsoft.com/office/powerpoint/2010/main" val="344556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IN" dirty="0"/>
              <a:t>Merge Pull Request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442" y="1828153"/>
            <a:ext cx="8883126" cy="39966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830</TotalTime>
  <Words>1134</Words>
  <Application>Microsoft Office PowerPoint</Application>
  <PresentationFormat>Widescreen</PresentationFormat>
  <Paragraphs>102</Paragraphs>
  <Slides>12</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-apple-system</vt:lpstr>
      <vt:lpstr>Arial</vt:lpstr>
      <vt:lpstr>Calibri</vt:lpstr>
      <vt:lpstr>Calibri Light</vt:lpstr>
      <vt:lpstr>inherit</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1145</cp:revision>
  <dcterms:created xsi:type="dcterms:W3CDTF">2015-04-26T09:42:00Z</dcterms:created>
  <dcterms:modified xsi:type="dcterms:W3CDTF">2025-05-13T12:58:21Z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1033-11.2.0.9363</vt:lpwstr>
  </property>
</Properties>
</file>