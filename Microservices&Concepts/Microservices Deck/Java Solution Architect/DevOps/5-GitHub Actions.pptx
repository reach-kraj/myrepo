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9"/>
  </p:notesMasterIdLst>
  <p:sldIdLst>
    <p:sldId id="653" r:id="rId2"/>
    <p:sldId id="2147469567" r:id="rId3"/>
    <p:sldId id="654" r:id="rId4"/>
    <p:sldId id="2147469615" r:id="rId5"/>
    <p:sldId id="2147469604" r:id="rId6"/>
    <p:sldId id="2147469614" r:id="rId7"/>
    <p:sldId id="2147469603" r:id="rId8"/>
    <p:sldId id="2147469605" r:id="rId9"/>
    <p:sldId id="2147469609" r:id="rId10"/>
    <p:sldId id="2147469602" r:id="rId11"/>
    <p:sldId id="2147469597" r:id="rId12"/>
    <p:sldId id="2147469608" r:id="rId13"/>
    <p:sldId id="2147469607" r:id="rId14"/>
    <p:sldId id="2147469610" r:id="rId15"/>
    <p:sldId id="2147469611" r:id="rId16"/>
    <p:sldId id="2147469612" r:id="rId17"/>
    <p:sldId id="2147469613" r:id="rId18"/>
    <p:sldId id="2147469616" r:id="rId19"/>
    <p:sldId id="2147469617" r:id="rId20"/>
    <p:sldId id="2147469618" r:id="rId21"/>
    <p:sldId id="2147469625" r:id="rId22"/>
    <p:sldId id="2147469619" r:id="rId23"/>
    <p:sldId id="2147469620" r:id="rId24"/>
    <p:sldId id="2147469624" r:id="rId25"/>
    <p:sldId id="2147469622" r:id="rId26"/>
    <p:sldId id="2147469623" r:id="rId27"/>
    <p:sldId id="652" r:id="rId28"/>
  </p:sldIdLst>
  <p:sldSz cx="12192000" cy="6858000"/>
  <p:notesSz cx="6858000" cy="9144000"/>
  <p:embeddedFontLs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Light" panose="02000000000000000000" pitchFamily="2" charset="0"/>
      <p:regular r:id="rId34"/>
      <p:italic r:id="rId35"/>
    </p:embeddedFont>
    <p:embeddedFont>
      <p:font typeface="Segoe UI" panose="020B0502040204020203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8DC54-3C3A-40AB-8ACA-17E9A709C520}" v="1" dt="2025-05-26T10:39:00.554"/>
    <p1510:client id="{A1784556-5CFB-AB0F-D708-6B3AC0B72C8B}" v="16" dt="2025-05-26T10:36:20.285"/>
  </p1510:revLst>
</p1510:revInfo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6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3B38DC54-3C3A-40AB-8ACA-17E9A709C520}"/>
    <pc:docChg chg="modSld">
      <pc:chgData name="Shailendra Chauhan" userId="a7d3133f-e197-4b90-bf63-99a63a264234" providerId="ADAL" clId="{3B38DC54-3C3A-40AB-8ACA-17E9A709C520}" dt="2025-05-26T10:39:00.549" v="0" actId="113"/>
      <pc:docMkLst>
        <pc:docMk/>
      </pc:docMkLst>
      <pc:sldChg chg="modSp">
        <pc:chgData name="Shailendra Chauhan" userId="a7d3133f-e197-4b90-bf63-99a63a264234" providerId="ADAL" clId="{3B38DC54-3C3A-40AB-8ACA-17E9A709C520}" dt="2025-05-26T10:39:00.549" v="0" actId="113"/>
        <pc:sldMkLst>
          <pc:docMk/>
          <pc:sldMk cId="1960985687" sldId="653"/>
        </pc:sldMkLst>
        <pc:spChg chg="mod">
          <ac:chgData name="Shailendra Chauhan" userId="a7d3133f-e197-4b90-bf63-99a63a264234" providerId="ADAL" clId="{3B38DC54-3C3A-40AB-8ACA-17E9A709C520}" dt="2025-05-26T10:39:00.549" v="0" actId="113"/>
          <ac:spMkLst>
            <pc:docMk/>
            <pc:sldMk cId="1960985687" sldId="653"/>
            <ac:spMk id="4" creationId="{230785AF-6D2C-48C9-892C-CC3354923A32}"/>
          </ac:spMkLst>
        </pc:spChg>
      </pc:sldChg>
    </pc:docChg>
  </pc:docChgLst>
  <pc:docChgLst>
    <pc:chgData name="Guest User" providerId="Windows Live" clId="Web-{A1784556-5CFB-AB0F-D708-6B3AC0B72C8B}"/>
    <pc:docChg chg="modSld">
      <pc:chgData name="Guest User" userId="" providerId="Windows Live" clId="Web-{A1784556-5CFB-AB0F-D708-6B3AC0B72C8B}" dt="2025-05-26T10:36:20.285" v="15"/>
      <pc:docMkLst>
        <pc:docMk/>
      </pc:docMkLst>
      <pc:sldChg chg="modTransition">
        <pc:chgData name="Guest User" userId="" providerId="Windows Live" clId="Web-{A1784556-5CFB-AB0F-D708-6B3AC0B72C8B}" dt="2025-05-26T10:35:53.471" v="1"/>
        <pc:sldMkLst>
          <pc:docMk/>
          <pc:sldMk cId="3000737357" sldId="654"/>
        </pc:sldMkLst>
      </pc:sldChg>
      <pc:sldChg chg="modTransition">
        <pc:chgData name="Guest User" userId="" providerId="Windows Live" clId="Web-{A1784556-5CFB-AB0F-D708-6B3AC0B72C8B}" dt="2025-05-26T10:35:40.049" v="0"/>
        <pc:sldMkLst>
          <pc:docMk/>
          <pc:sldMk cId="2732299988" sldId="2147469567"/>
        </pc:sldMkLst>
      </pc:sldChg>
      <pc:sldChg chg="modTransition">
        <pc:chgData name="Guest User" userId="" providerId="Windows Live" clId="Web-{A1784556-5CFB-AB0F-D708-6B3AC0B72C8B}" dt="2025-05-26T10:36:20.285" v="8"/>
        <pc:sldMkLst>
          <pc:docMk/>
          <pc:sldMk cId="2593456901" sldId="2147469597"/>
        </pc:sldMkLst>
      </pc:sldChg>
      <pc:sldChg chg="modTransition">
        <pc:chgData name="Guest User" userId="" providerId="Windows Live" clId="Web-{A1784556-5CFB-AB0F-D708-6B3AC0B72C8B}" dt="2025-05-26T10:36:20.285" v="7"/>
        <pc:sldMkLst>
          <pc:docMk/>
          <pc:sldMk cId="3234474783" sldId="2147469602"/>
        </pc:sldMkLst>
      </pc:sldChg>
      <pc:sldChg chg="modTransition">
        <pc:chgData name="Guest User" userId="" providerId="Windows Live" clId="Web-{A1784556-5CFB-AB0F-D708-6B3AC0B72C8B}" dt="2025-05-26T10:36:20.285" v="4"/>
        <pc:sldMkLst>
          <pc:docMk/>
          <pc:sldMk cId="180820815" sldId="2147469603"/>
        </pc:sldMkLst>
      </pc:sldChg>
      <pc:sldChg chg="modTransition">
        <pc:chgData name="Guest User" userId="" providerId="Windows Live" clId="Web-{A1784556-5CFB-AB0F-D708-6B3AC0B72C8B}" dt="2025-05-26T10:36:20.285" v="2"/>
        <pc:sldMkLst>
          <pc:docMk/>
          <pc:sldMk cId="2688110738" sldId="2147469604"/>
        </pc:sldMkLst>
      </pc:sldChg>
      <pc:sldChg chg="modTransition">
        <pc:chgData name="Guest User" userId="" providerId="Windows Live" clId="Web-{A1784556-5CFB-AB0F-D708-6B3AC0B72C8B}" dt="2025-05-26T10:36:20.285" v="5"/>
        <pc:sldMkLst>
          <pc:docMk/>
          <pc:sldMk cId="1221058800" sldId="2147469605"/>
        </pc:sldMkLst>
      </pc:sldChg>
      <pc:sldChg chg="modTransition">
        <pc:chgData name="Guest User" userId="" providerId="Windows Live" clId="Web-{A1784556-5CFB-AB0F-D708-6B3AC0B72C8B}" dt="2025-05-26T10:36:20.285" v="10"/>
        <pc:sldMkLst>
          <pc:docMk/>
          <pc:sldMk cId="1218576506" sldId="2147469607"/>
        </pc:sldMkLst>
      </pc:sldChg>
      <pc:sldChg chg="modTransition">
        <pc:chgData name="Guest User" userId="" providerId="Windows Live" clId="Web-{A1784556-5CFB-AB0F-D708-6B3AC0B72C8B}" dt="2025-05-26T10:36:20.285" v="9"/>
        <pc:sldMkLst>
          <pc:docMk/>
          <pc:sldMk cId="1944026879" sldId="2147469608"/>
        </pc:sldMkLst>
      </pc:sldChg>
      <pc:sldChg chg="modTransition">
        <pc:chgData name="Guest User" userId="" providerId="Windows Live" clId="Web-{A1784556-5CFB-AB0F-D708-6B3AC0B72C8B}" dt="2025-05-26T10:36:20.285" v="6"/>
        <pc:sldMkLst>
          <pc:docMk/>
          <pc:sldMk cId="3854643852" sldId="2147469609"/>
        </pc:sldMkLst>
      </pc:sldChg>
      <pc:sldChg chg="modTransition">
        <pc:chgData name="Guest User" userId="" providerId="Windows Live" clId="Web-{A1784556-5CFB-AB0F-D708-6B3AC0B72C8B}" dt="2025-05-26T10:36:20.285" v="11"/>
        <pc:sldMkLst>
          <pc:docMk/>
          <pc:sldMk cId="577052938" sldId="2147469610"/>
        </pc:sldMkLst>
      </pc:sldChg>
      <pc:sldChg chg="modTransition">
        <pc:chgData name="Guest User" userId="" providerId="Windows Live" clId="Web-{A1784556-5CFB-AB0F-D708-6B3AC0B72C8B}" dt="2025-05-26T10:36:20.285" v="12"/>
        <pc:sldMkLst>
          <pc:docMk/>
          <pc:sldMk cId="700140087" sldId="2147469611"/>
        </pc:sldMkLst>
      </pc:sldChg>
      <pc:sldChg chg="modTransition">
        <pc:chgData name="Guest User" userId="" providerId="Windows Live" clId="Web-{A1784556-5CFB-AB0F-D708-6B3AC0B72C8B}" dt="2025-05-26T10:36:20.285" v="14"/>
        <pc:sldMkLst>
          <pc:docMk/>
          <pc:sldMk cId="636046510" sldId="2147469612"/>
        </pc:sldMkLst>
      </pc:sldChg>
      <pc:sldChg chg="modTransition">
        <pc:chgData name="Guest User" userId="" providerId="Windows Live" clId="Web-{A1784556-5CFB-AB0F-D708-6B3AC0B72C8B}" dt="2025-05-26T10:36:20.285" v="13"/>
        <pc:sldMkLst>
          <pc:docMk/>
          <pc:sldMk cId="2514770792" sldId="2147469613"/>
        </pc:sldMkLst>
      </pc:sldChg>
      <pc:sldChg chg="modTransition">
        <pc:chgData name="Guest User" userId="" providerId="Windows Live" clId="Web-{A1784556-5CFB-AB0F-D708-6B3AC0B72C8B}" dt="2025-05-26T10:36:20.285" v="3"/>
        <pc:sldMkLst>
          <pc:docMk/>
          <pc:sldMk cId="2318319301" sldId="2147469614"/>
        </pc:sldMkLst>
      </pc:sldChg>
      <pc:sldChg chg="modTransition">
        <pc:chgData name="Guest User" userId="" providerId="Windows Live" clId="Web-{A1784556-5CFB-AB0F-D708-6B3AC0B72C8B}" dt="2025-05-26T10:36:20.285" v="15"/>
        <pc:sldMkLst>
          <pc:docMk/>
          <pc:sldMk cId="1023827995" sldId="21474696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7416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566" y="1761125"/>
            <a:ext cx="6959621" cy="4831881"/>
          </a:xfrm>
        </p:spPr>
        <p:txBody>
          <a:bodyPr>
            <a:noAutofit/>
          </a:bodyPr>
          <a:lstStyle/>
          <a:p>
            <a:pPr marR="1084580" fontAlgn="base">
              <a:buSzPts val="2800"/>
              <a:defRPr/>
            </a:pPr>
            <a:r>
              <a:rPr lang="en-IN" dirty="0"/>
              <a:t>What is </a:t>
            </a:r>
            <a:r>
              <a:rPr lang="en-US" dirty="0"/>
              <a:t>GitHub Actions</a:t>
            </a:r>
            <a:r>
              <a:rPr lang="en-IN" dirty="0"/>
              <a:t>?</a:t>
            </a:r>
            <a:r>
              <a:rPr lang="en-US" dirty="0"/>
              <a:t>​</a:t>
            </a:r>
          </a:p>
          <a:p>
            <a:pPr marR="1084580" fontAlgn="base">
              <a:buSzPts val="2800"/>
              <a:defRPr/>
            </a:pPr>
            <a:r>
              <a:rPr lang="en-US" dirty="0"/>
              <a:t>GitHub Actions</a:t>
            </a:r>
            <a:r>
              <a:rPr lang="en-IN" dirty="0"/>
              <a:t> Features </a:t>
            </a:r>
            <a:r>
              <a:rPr lang="en-US" dirty="0"/>
              <a:t>​</a:t>
            </a:r>
          </a:p>
          <a:p>
            <a:pPr marR="1084580" fontAlgn="base">
              <a:buSzPts val="2800"/>
              <a:defRPr/>
            </a:pPr>
            <a:r>
              <a:rPr lang="en-US" dirty="0"/>
              <a:t>GitHub Actions</a:t>
            </a:r>
            <a:r>
              <a:rPr lang="en-IN" dirty="0"/>
              <a:t> Architecture</a:t>
            </a:r>
            <a:r>
              <a:rPr lang="en-US" dirty="0"/>
              <a:t>​</a:t>
            </a:r>
          </a:p>
          <a:p>
            <a:pPr marR="1084580" fontAlgn="base">
              <a:buSzPts val="2800"/>
              <a:defRPr/>
            </a:pPr>
            <a:r>
              <a:rPr lang="en-US" dirty="0"/>
              <a:t>GitHub Actions</a:t>
            </a:r>
            <a:r>
              <a:rPr lang="en-IN" dirty="0"/>
              <a:t> Pipeline</a:t>
            </a:r>
          </a:p>
          <a:p>
            <a:pPr marR="1084580" fontAlgn="base">
              <a:buSzPts val="2800"/>
              <a:defRPr/>
            </a:pPr>
            <a:r>
              <a:rPr lang="en-US" dirty="0"/>
              <a:t>Creating and Managing Workflows</a:t>
            </a:r>
          </a:p>
          <a:p>
            <a:pPr marR="1084580" fontAlgn="base">
              <a:buSzPts val="2800"/>
              <a:defRPr/>
            </a:pPr>
            <a:r>
              <a:rPr lang="en-US" dirty="0"/>
              <a:t>Marketplace &amp; Reusable Workflows</a:t>
            </a:r>
          </a:p>
          <a:p>
            <a:pPr marR="1084580" fontAlgn="base">
              <a:buSzPts val="2800"/>
              <a:defRPr/>
            </a:pPr>
            <a:r>
              <a:rPr lang="en-US" dirty="0"/>
              <a:t>Security and Best Practices</a:t>
            </a:r>
          </a:p>
          <a:p>
            <a:pPr marR="1084580" fontAlgn="base">
              <a:buSzPts val="2800"/>
              <a:defRPr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566" y="911849"/>
            <a:ext cx="5119013" cy="679118"/>
          </a:xfrm>
        </p:spPr>
        <p:txBody>
          <a:bodyPr>
            <a:normAutofit/>
          </a:bodyPr>
          <a:lstStyle/>
          <a:p>
            <a:r>
              <a:rPr lang="en-US" dirty="0"/>
              <a:t>GitHub Actions</a:t>
            </a:r>
            <a:endParaRPr lang="en-IN" dirty="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98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What is GitHub Actions?​</a:t>
            </a:r>
          </a:p>
        </p:txBody>
      </p:sp>
    </p:spTree>
    <p:extLst>
      <p:ext uri="{BB962C8B-B14F-4D97-AF65-F5344CB8AC3E}">
        <p14:creationId xmlns:p14="http://schemas.microsoft.com/office/powerpoint/2010/main" val="273229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GitHub Actions automates tasks like testing and deployment.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Workflows are defined using simple YAML files.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Supports running jobs on Linux, Windows, and macOS.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Offers built-in and community-contributed actions for automation.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What is GitHub Actions?​</a:t>
            </a:r>
            <a:endParaRPr lang="en-IN" dirty="0"/>
          </a:p>
        </p:txBody>
      </p:sp>
      <p:pic>
        <p:nvPicPr>
          <p:cNvPr id="1027" name="Picture 3" descr="Setup Node.js environment · Actions · GitHub Marketplac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365" y="3609888"/>
            <a:ext cx="2817845" cy="281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/>
              <a:t>Fully integrated with GitHub, so no need for external tools.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/>
              <a:t>Easy to configure using simple YAML files inside your repository.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/>
              <a:t>Automates workflows for all stages such as build, test, and deploy.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/>
              <a:t>Supports many events and triggers to start workflows automatically.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IN" dirty="0"/>
              <a:t>Why Use GitHub Actions?</a:t>
            </a:r>
            <a:r>
              <a:rPr lang="en-US" dirty="0">
                <a:ea typeface="Roboto" panose="02000000000000000000" pitchFamily="2" charset="0"/>
              </a:rPr>
              <a:t>​</a:t>
            </a:r>
            <a:endParaRPr lang="en-IN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80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Automatically run tests on every pull request.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Deploy applications to cloud platforms (Azure, AWS, etc.).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Build and publish Docker images.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Automate issue and PR management.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Roboto" panose="02000000000000000000" pitchFamily="2" charset="0"/>
              </a:rPr>
              <a:t>Use Cases of GitHub Actions​</a:t>
            </a:r>
            <a:endParaRPr lang="en-IN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11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GitHub Actions Features</a:t>
            </a:r>
          </a:p>
        </p:txBody>
      </p:sp>
    </p:spTree>
    <p:extLst>
      <p:ext uri="{BB962C8B-B14F-4D97-AF65-F5344CB8AC3E}">
        <p14:creationId xmlns:p14="http://schemas.microsoft.com/office/powerpoint/2010/main" val="231831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Multiple Triggers: </a:t>
            </a:r>
            <a:r>
              <a:rPr lang="en-US" sz="2400" dirty="0">
                <a:sym typeface="Calibri"/>
              </a:rPr>
              <a:t>Push, PR, issue, cron, release, and more.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Job Matrix: </a:t>
            </a:r>
            <a:r>
              <a:rPr lang="en-US" sz="2400" dirty="0">
                <a:sym typeface="Calibri"/>
              </a:rPr>
              <a:t>Test across multiple operating systems or versions.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Secrets &amp; Env Variables: </a:t>
            </a:r>
            <a:r>
              <a:rPr lang="en-US" sz="2400" dirty="0">
                <a:sym typeface="Calibri"/>
              </a:rPr>
              <a:t>Store sensitive data securely.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Action Marketplace: </a:t>
            </a:r>
            <a:r>
              <a:rPr lang="en-US" sz="2400" dirty="0">
                <a:sym typeface="Calibri"/>
              </a:rPr>
              <a:t>Use and share prebuilt actions.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Workflow Automation: </a:t>
            </a:r>
            <a:r>
              <a:rPr lang="en-US" sz="2400" dirty="0">
                <a:sym typeface="Calibri"/>
              </a:rPr>
              <a:t>Easily build, test, and deploy projects.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GitHub Actions Features​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2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Create custom actions using JavaScript or Docker.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Reuse actions across multiple repositories.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Reduces code duplication in workflows.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Improves modularity and maintainability.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Custom &amp; Reusable Actions​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05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GitHub Actions Architecture​</a:t>
            </a:r>
          </a:p>
        </p:txBody>
      </p:sp>
    </p:spTree>
    <p:extLst>
      <p:ext uri="{BB962C8B-B14F-4D97-AF65-F5344CB8AC3E}">
        <p14:creationId xmlns:p14="http://schemas.microsoft.com/office/powerpoint/2010/main" val="385464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Workflow</a:t>
            </a:r>
            <a:r>
              <a:rPr lang="en-US" sz="2400" dirty="0">
                <a:sym typeface="Calibri"/>
              </a:rPr>
              <a:t>: Main automation file defined in .github/workflows.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Job</a:t>
            </a:r>
            <a:r>
              <a:rPr lang="en-US" sz="2400" dirty="0">
                <a:sym typeface="Calibri"/>
              </a:rPr>
              <a:t>: A unit of work that runs on a runner.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Step</a:t>
            </a:r>
            <a:r>
              <a:rPr lang="en-US" sz="2400" dirty="0">
                <a:sym typeface="Calibri"/>
              </a:rPr>
              <a:t>: Each command or action within a job.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Action</a:t>
            </a:r>
            <a:r>
              <a:rPr lang="en-US" sz="2400" dirty="0">
                <a:sym typeface="Calibri"/>
              </a:rPr>
              <a:t>: Reusable code that performs a specific task.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Runner</a:t>
            </a:r>
            <a:r>
              <a:rPr lang="en-US" sz="2400" dirty="0">
                <a:sym typeface="Calibri"/>
              </a:rPr>
              <a:t>: Machine that runs the job (hosted or self-hosted).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GitHub Actions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47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Lambda Functions</a:t>
            </a: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02" y="1400513"/>
            <a:ext cx="9140242" cy="46457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345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GitHub Actions Pipeline</a:t>
            </a:r>
          </a:p>
        </p:txBody>
      </p:sp>
    </p:spTree>
    <p:extLst>
      <p:ext uri="{BB962C8B-B14F-4D97-AF65-F5344CB8AC3E}">
        <p14:creationId xmlns:p14="http://schemas.microsoft.com/office/powerpoint/2010/main" val="194402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Pipelines are defined as workflows using YAML syntax.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Each workflow can have multiple jobs and steps.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Jobs can run in parallel or sequentially.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Use conditions and environments for flexibility.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Great for building, testing, and deploying automatically.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GitHub Actions Pipeline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57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A pipeline is a YAML workflow file in </a:t>
            </a:r>
            <a:r>
              <a:rPr lang="en-US" sz="2400" b="1" dirty="0">
                <a:sym typeface="Calibri"/>
              </a:rPr>
              <a:t>.github/workflows/.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It defines steps for building, testing, and deploying code.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Triggers can be push, pull request, or scheduled events.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b="1" dirty="0">
                <a:sym typeface="Calibri"/>
              </a:rPr>
              <a:t>Example:</a:t>
            </a:r>
            <a:r>
              <a:rPr lang="en-US" sz="2400" dirty="0">
                <a:sym typeface="Calibri"/>
              </a:rPr>
              <a:t> A basic CI workflow for Node.js testing.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Pipeline – CI/CD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05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Jobs can run in sequence or in parallel using needs.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Supports conditions, matrix strategy, and environments.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Steps run inside a job on a runner (GitHub-hosted or self-hosted).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Workflow starts on events like code push or PR.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Pipeline Features &amp; 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14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Matrix builds allow testing on multiple OS/platforms.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Jobs use </a:t>
            </a:r>
            <a:r>
              <a:rPr lang="en-US" sz="2400" b="1" dirty="0">
                <a:sym typeface="Calibri"/>
              </a:rPr>
              <a:t>strategy.matrix</a:t>
            </a:r>
            <a:r>
              <a:rPr lang="en-US" sz="2400" dirty="0">
                <a:sym typeface="Calibri"/>
              </a:rPr>
              <a:t> to define combinations.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Each matrix run executes independently.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Helps in cross-platform testing (e.g., Ubuntu, Windows).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Multi-Job Pipeline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04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GitHub shows real-time logs during pipeline runs.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You can view success, failure, and step-by-step output.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Use </a:t>
            </a:r>
            <a:r>
              <a:rPr lang="en-US" sz="2400" b="1" dirty="0">
                <a:sym typeface="Calibri"/>
              </a:rPr>
              <a:t>::debug</a:t>
            </a:r>
            <a:r>
              <a:rPr lang="en-US" sz="2400" dirty="0">
                <a:sym typeface="Calibri"/>
              </a:rPr>
              <a:t>, </a:t>
            </a:r>
            <a:r>
              <a:rPr lang="en-US" sz="2400" b="1" dirty="0">
                <a:sym typeface="Calibri"/>
              </a:rPr>
              <a:t>::error</a:t>
            </a:r>
            <a:r>
              <a:rPr lang="en-US" sz="2400" dirty="0">
                <a:sym typeface="Calibri"/>
              </a:rPr>
              <a:t>, and </a:t>
            </a:r>
            <a:r>
              <a:rPr lang="en-US" sz="2400" b="1" dirty="0">
                <a:sym typeface="Calibri"/>
              </a:rPr>
              <a:t>::warning </a:t>
            </a:r>
            <a:r>
              <a:rPr lang="en-US" sz="2400" dirty="0">
                <a:sym typeface="Calibri"/>
              </a:rPr>
              <a:t>for custom logs.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Rerun failed workflows directly from the Actions tab.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Monitoring &amp; Debugging Pipelines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77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IN" sz="5400" dirty="0"/>
              <a:t>Creating and Managing Workflows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82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Workflows are defined using YAML files inside the .github/workflows folder.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Each workflow contains jobs, and each job runs a series of steps.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Workflows are triggered by events like push, pull request, or schedule.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You can manage workflows from the GitHub Actions tab in your repository.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Creating and Managing Workflows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449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Workflow starts with the name and on (triggering event) keywords.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Jobs run on specific environments defined by runs-on.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Each job contains steps like run commands or reusable uses actions.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Jobs can run in parallel or sequentially using the needs keyword.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Workflow Structure and Execution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5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Workflow Structure and Execution</a:t>
            </a: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9" y="1484769"/>
            <a:ext cx="10662847" cy="427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85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/>
              <a:t>Marketplace &amp; Reusable Workflows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456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GitHub Marketplace offers thousands of ready-to-use actions.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Use</a:t>
            </a:r>
            <a:r>
              <a:rPr lang="en-US" sz="2400" b="1" dirty="0">
                <a:sym typeface="Calibri"/>
              </a:rPr>
              <a:t> uses: </a:t>
            </a:r>
            <a:r>
              <a:rPr lang="en-US" sz="2400" dirty="0">
                <a:sym typeface="Calibri"/>
              </a:rPr>
              <a:t>to include marketplace actions in your workflow.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Reusable workflows help share logic across multiple repos.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Call reusable workflows using the </a:t>
            </a:r>
            <a:r>
              <a:rPr lang="en-US" sz="2400" b="1" dirty="0">
                <a:sym typeface="Calibri"/>
              </a:rPr>
              <a:t>workflow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en-US" sz="2400" b="1" dirty="0">
                <a:sym typeface="Calibri"/>
              </a:rPr>
              <a:t>call</a:t>
            </a:r>
            <a:r>
              <a:rPr lang="en-US" sz="2400" dirty="0">
                <a:sym typeface="Calibri"/>
              </a:rPr>
              <a:t> trigger.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Marketplace &amp; Reusable Workflows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532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Workflow Structure and Execution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06" y="1484769"/>
            <a:ext cx="10315233" cy="44543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2520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/>
              <a:t>Security and Best Practices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542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Use secrets to store sensitive data like API keys and tokens.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Always pin actions to a specific version to avoid unwanted updates.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Avoid hardcoding credentials or critical values in workflows.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Review third-party actions before using them from Marketplace.</a:t>
            </a:r>
            <a:endParaRPr lang="en-IN" sz="2400" dirty="0"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Security and Best Practices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101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25497</TotalTime>
  <Words>786</Words>
  <Application>Microsoft Office PowerPoint</Application>
  <PresentationFormat>Widescreen</PresentationFormat>
  <Paragraphs>97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 Light</vt:lpstr>
      <vt:lpstr>Roboto</vt:lpstr>
      <vt:lpstr>Arial</vt:lpstr>
      <vt:lpstr>Calibri</vt:lpstr>
      <vt:lpstr>Segoe UI</vt:lpstr>
      <vt:lpstr>Roboto Light</vt:lpstr>
      <vt:lpstr>ScholarHat Layout</vt:lpstr>
      <vt:lpstr>Agenda</vt:lpstr>
      <vt:lpstr>What is GitHub Actions?​</vt:lpstr>
      <vt:lpstr>PowerPoint Presentation</vt:lpstr>
      <vt:lpstr>PowerPoint Presentation</vt:lpstr>
      <vt:lpstr>PowerPoint Presentation</vt:lpstr>
      <vt:lpstr>GitHub Actions Features</vt:lpstr>
      <vt:lpstr>PowerPoint Presentation</vt:lpstr>
      <vt:lpstr>PowerPoint Presentation</vt:lpstr>
      <vt:lpstr>GitHub Actions Architecture​</vt:lpstr>
      <vt:lpstr>PowerPoint Presentation</vt:lpstr>
      <vt:lpstr>PowerPoint Presentation</vt:lpstr>
      <vt:lpstr>GitHub Actions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and Managing Workflows</vt:lpstr>
      <vt:lpstr>PowerPoint Presentation</vt:lpstr>
      <vt:lpstr>PowerPoint Presentation</vt:lpstr>
      <vt:lpstr>PowerPoint Presentation</vt:lpstr>
      <vt:lpstr>Marketplace &amp; Reusable Workflows</vt:lpstr>
      <vt:lpstr>PowerPoint Presentation</vt:lpstr>
      <vt:lpstr>PowerPoint Presentation</vt:lpstr>
      <vt:lpstr>Security and Best Practices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Shailendra Chauhan</cp:lastModifiedBy>
  <cp:revision>803</cp:revision>
  <dcterms:created xsi:type="dcterms:W3CDTF">2015-04-26T09:42:00Z</dcterms:created>
  <dcterms:modified xsi:type="dcterms:W3CDTF">2025-05-26T10:39:03Z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