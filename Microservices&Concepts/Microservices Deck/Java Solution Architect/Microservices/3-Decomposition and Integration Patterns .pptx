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5" r:id="rId1"/>
  </p:sldMasterIdLst>
  <p:notesMasterIdLst>
    <p:notesMasterId r:id="rId19"/>
  </p:notesMasterIdLst>
  <p:handoutMasterIdLst>
    <p:handoutMasterId r:id="rId20"/>
  </p:handoutMasterIdLst>
  <p:sldIdLst>
    <p:sldId id="652" r:id="rId2"/>
    <p:sldId id="510" r:id="rId3"/>
    <p:sldId id="514" r:id="rId4"/>
    <p:sldId id="515" r:id="rId5"/>
    <p:sldId id="650" r:id="rId6"/>
    <p:sldId id="554" r:id="rId7"/>
    <p:sldId id="651" r:id="rId8"/>
    <p:sldId id="516" r:id="rId9"/>
    <p:sldId id="648" r:id="rId10"/>
    <p:sldId id="517" r:id="rId11"/>
    <p:sldId id="518" r:id="rId12"/>
    <p:sldId id="530" r:id="rId13"/>
    <p:sldId id="519" r:id="rId14"/>
    <p:sldId id="520" r:id="rId15"/>
    <p:sldId id="654" r:id="rId16"/>
    <p:sldId id="655" r:id="rId17"/>
    <p:sldId id="65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B044"/>
    <a:srgbClr val="FF9933"/>
    <a:srgbClr val="A365D1"/>
    <a:srgbClr val="BA8BDD"/>
    <a:srgbClr val="F4814E"/>
    <a:srgbClr val="146BD8"/>
    <a:srgbClr val="F58F61"/>
    <a:srgbClr val="FFB061"/>
    <a:srgbClr val="FF9900"/>
    <a:srgbClr val="FFC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4AFC14-21E4-4190-BA74-BD2DC1151B5A}" v="2" dt="2025-02-16T06:25:27.927"/>
  </p1510:revLst>
</p1510:revInfo>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84434" autoAdjust="0"/>
  </p:normalViewPr>
  <p:slideViewPr>
    <p:cSldViewPr snapToGrid="0">
      <p:cViewPr varScale="1">
        <p:scale>
          <a:sx n="122" d="100"/>
          <a:sy n="122" d="100"/>
        </p:scale>
        <p:origin x="150" y="96"/>
      </p:cViewPr>
      <p:guideLst/>
    </p:cSldViewPr>
  </p:slideViewPr>
  <p:notesTextViewPr>
    <p:cViewPr>
      <p:scale>
        <a:sx n="1" d="1"/>
        <a:sy n="1" d="1"/>
      </p:scale>
      <p:origin x="0" y="0"/>
    </p:cViewPr>
  </p:notesText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D729F0BA-41A2-4EB5-B02B-6390999CCDE6}"/>
    <pc:docChg chg="undo custSel addSld delSld modSld modMainMaster">
      <pc:chgData name="Shailendra Chauhan" userId="a7d3133f-e197-4b90-bf63-99a63a264234" providerId="ADAL" clId="{D729F0BA-41A2-4EB5-B02B-6390999CCDE6}" dt="2024-07-12T03:19:34.046" v="510"/>
      <pc:docMkLst>
        <pc:docMk/>
      </pc:docMkLst>
      <pc:sldChg chg="modSp mod modClrScheme chgLayout">
        <pc:chgData name="Shailendra Chauhan" userId="a7d3133f-e197-4b90-bf63-99a63a264234" providerId="ADAL" clId="{D729F0BA-41A2-4EB5-B02B-6390999CCDE6}" dt="2024-07-12T03:08:17.021" v="107" actId="700"/>
        <pc:sldMkLst>
          <pc:docMk/>
          <pc:sldMk cId="0" sldId="510"/>
        </pc:sldMkLst>
      </pc:sldChg>
      <pc:sldChg chg="modSp mod modClrScheme chgLayout">
        <pc:chgData name="Shailendra Chauhan" userId="a7d3133f-e197-4b90-bf63-99a63a264234" providerId="ADAL" clId="{D729F0BA-41A2-4EB5-B02B-6390999CCDE6}" dt="2024-07-12T03:08:21.353" v="108" actId="700"/>
        <pc:sldMkLst>
          <pc:docMk/>
          <pc:sldMk cId="0" sldId="514"/>
        </pc:sldMkLst>
      </pc:sldChg>
      <pc:sldChg chg="modSp mod modClrScheme modAnim chgLayout">
        <pc:chgData name="Shailendra Chauhan" userId="a7d3133f-e197-4b90-bf63-99a63a264234" providerId="ADAL" clId="{D729F0BA-41A2-4EB5-B02B-6390999CCDE6}" dt="2024-07-12T03:08:30.474" v="109" actId="700"/>
        <pc:sldMkLst>
          <pc:docMk/>
          <pc:sldMk cId="0" sldId="515"/>
        </pc:sldMkLst>
      </pc:sldChg>
      <pc:sldChg chg="modSp mod modClrScheme chgLayout">
        <pc:chgData name="Shailendra Chauhan" userId="a7d3133f-e197-4b90-bf63-99a63a264234" providerId="ADAL" clId="{D729F0BA-41A2-4EB5-B02B-6390999CCDE6}" dt="2024-07-12T03:10:43.796" v="166" actId="1076"/>
        <pc:sldMkLst>
          <pc:docMk/>
          <pc:sldMk cId="0" sldId="516"/>
        </pc:sldMkLst>
      </pc:sldChg>
      <pc:sldChg chg="modSp mod modClrScheme chgLayout">
        <pc:chgData name="Shailendra Chauhan" userId="a7d3133f-e197-4b90-bf63-99a63a264234" providerId="ADAL" clId="{D729F0BA-41A2-4EB5-B02B-6390999CCDE6}" dt="2024-07-12T03:12:01.147" v="229" actId="27636"/>
        <pc:sldMkLst>
          <pc:docMk/>
          <pc:sldMk cId="0" sldId="517"/>
        </pc:sldMkLst>
      </pc:sldChg>
      <pc:sldChg chg="modSp mod modClrScheme chgLayout">
        <pc:chgData name="Shailendra Chauhan" userId="a7d3133f-e197-4b90-bf63-99a63a264234" providerId="ADAL" clId="{D729F0BA-41A2-4EB5-B02B-6390999CCDE6}" dt="2024-07-12T03:12:32.176" v="233" actId="208"/>
        <pc:sldMkLst>
          <pc:docMk/>
          <pc:sldMk cId="0" sldId="518"/>
        </pc:sldMkLst>
      </pc:sldChg>
      <pc:sldChg chg="modSp mod modClrScheme chgLayout">
        <pc:chgData name="Shailendra Chauhan" userId="a7d3133f-e197-4b90-bf63-99a63a264234" providerId="ADAL" clId="{D729F0BA-41A2-4EB5-B02B-6390999CCDE6}" dt="2024-07-12T03:13:51.580" v="252" actId="700"/>
        <pc:sldMkLst>
          <pc:docMk/>
          <pc:sldMk cId="0" sldId="519"/>
        </pc:sldMkLst>
      </pc:sldChg>
      <pc:sldChg chg="modSp mod modClrScheme chgLayout">
        <pc:chgData name="Shailendra Chauhan" userId="a7d3133f-e197-4b90-bf63-99a63a264234" providerId="ADAL" clId="{D729F0BA-41A2-4EB5-B02B-6390999CCDE6}" dt="2024-07-12T03:13:55.700" v="253" actId="700"/>
        <pc:sldMkLst>
          <pc:docMk/>
          <pc:sldMk cId="0" sldId="520"/>
        </pc:sldMkLst>
      </pc:sldChg>
      <pc:sldChg chg="modSp mod setBg modClrScheme chgLayout">
        <pc:chgData name="Shailendra Chauhan" userId="a7d3133f-e197-4b90-bf63-99a63a264234" providerId="ADAL" clId="{D729F0BA-41A2-4EB5-B02B-6390999CCDE6}" dt="2024-07-12T03:13:34.970" v="249" actId="1076"/>
        <pc:sldMkLst>
          <pc:docMk/>
          <pc:sldMk cId="4150312672" sldId="530"/>
        </pc:sldMkLst>
      </pc:sldChg>
      <pc:sldChg chg="modSp mod modClrScheme chgLayout">
        <pc:chgData name="Shailendra Chauhan" userId="a7d3133f-e197-4b90-bf63-99a63a264234" providerId="ADAL" clId="{D729F0BA-41A2-4EB5-B02B-6390999CCDE6}" dt="2024-07-12T03:10:05.501" v="156" actId="1037"/>
        <pc:sldMkLst>
          <pc:docMk/>
          <pc:sldMk cId="2018993351" sldId="554"/>
        </pc:sldMkLst>
      </pc:sldChg>
      <pc:sldChg chg="modSp mod">
        <pc:chgData name="Shailendra Chauhan" userId="a7d3133f-e197-4b90-bf63-99a63a264234" providerId="ADAL" clId="{D729F0BA-41A2-4EB5-B02B-6390999CCDE6}" dt="2024-07-12T03:11:53.846" v="227" actId="1037"/>
        <pc:sldMkLst>
          <pc:docMk/>
          <pc:sldMk cId="3307300875" sldId="648"/>
        </pc:sldMkLst>
      </pc:sldChg>
      <pc:sldChg chg="modSp del mod">
        <pc:chgData name="Shailendra Chauhan" userId="a7d3133f-e197-4b90-bf63-99a63a264234" providerId="ADAL" clId="{D729F0BA-41A2-4EB5-B02B-6390999CCDE6}" dt="2024-07-12T03:08:11.609" v="106" actId="2696"/>
        <pc:sldMkLst>
          <pc:docMk/>
          <pc:sldMk cId="837392808" sldId="649"/>
        </pc:sldMkLst>
      </pc:sldChg>
      <pc:sldChg chg="modSp mod modClrScheme chgLayout">
        <pc:chgData name="Shailendra Chauhan" userId="a7d3133f-e197-4b90-bf63-99a63a264234" providerId="ADAL" clId="{D729F0BA-41A2-4EB5-B02B-6390999CCDE6}" dt="2024-07-12T03:08:34.005" v="110" actId="700"/>
        <pc:sldMkLst>
          <pc:docMk/>
          <pc:sldMk cId="2302598482" sldId="650"/>
        </pc:sldMkLst>
      </pc:sldChg>
      <pc:sldChg chg="addSp delSp modSp new mod modClrScheme chgLayout">
        <pc:chgData name="Shailendra Chauhan" userId="a7d3133f-e197-4b90-bf63-99a63a264234" providerId="ADAL" clId="{D729F0BA-41A2-4EB5-B02B-6390999CCDE6}" dt="2024-07-12T03:19:34.046" v="510"/>
        <pc:sldMkLst>
          <pc:docMk/>
          <pc:sldMk cId="2186381299" sldId="651"/>
        </pc:sldMkLst>
      </pc:sldChg>
      <pc:sldChg chg="modSp new mod">
        <pc:chgData name="Shailendra Chauhan" userId="a7d3133f-e197-4b90-bf63-99a63a264234" providerId="ADAL" clId="{D729F0BA-41A2-4EB5-B02B-6390999CCDE6}" dt="2024-07-12T02:57:17.767" v="105" actId="20577"/>
        <pc:sldMkLst>
          <pc:docMk/>
          <pc:sldMk cId="420393967" sldId="652"/>
        </pc:sldMkLst>
      </pc:sldChg>
      <pc:sldMasterChg chg="modSldLayout">
        <pc:chgData name="Shailendra Chauhan" userId="a7d3133f-e197-4b90-bf63-99a63a264234" providerId="ADAL" clId="{D729F0BA-41A2-4EB5-B02B-6390999CCDE6}" dt="2024-07-12T02:56:32.303" v="79"/>
        <pc:sldMasterMkLst>
          <pc:docMk/>
          <pc:sldMasterMk cId="1647842165" sldId="2147483695"/>
        </pc:sldMasterMkLst>
        <pc:sldLayoutChg chg="delSp">
          <pc:chgData name="Shailendra Chauhan" userId="a7d3133f-e197-4b90-bf63-99a63a264234" providerId="ADAL" clId="{D729F0BA-41A2-4EB5-B02B-6390999CCDE6}" dt="2024-07-12T02:56:32.303" v="79"/>
          <pc:sldLayoutMkLst>
            <pc:docMk/>
            <pc:sldMasterMk cId="1647842165" sldId="2147483695"/>
            <pc:sldLayoutMk cId="27833994" sldId="2147483721"/>
          </pc:sldLayoutMkLst>
        </pc:sldLayoutChg>
      </pc:sldMasterChg>
    </pc:docChg>
  </pc:docChgLst>
  <pc:docChgLst>
    <pc:chgData name="Shailendra Chauhan" userId="a7d3133f-e197-4b90-bf63-99a63a264234" providerId="ADAL" clId="{62ED6324-51DD-4C4E-B5AA-3A8DF70ED9E2}"/>
    <pc:docChg chg="undo redo custSel addSld modSld">
      <pc:chgData name="Shailendra Chauhan" userId="a7d3133f-e197-4b90-bf63-99a63a264234" providerId="ADAL" clId="{62ED6324-51DD-4C4E-B5AA-3A8DF70ED9E2}" dt="2024-10-08T08:38:33.629" v="417" actId="20577"/>
      <pc:docMkLst>
        <pc:docMk/>
      </pc:docMkLst>
      <pc:sldChg chg="modSp mod modAnim">
        <pc:chgData name="Shailendra Chauhan" userId="a7d3133f-e197-4b90-bf63-99a63a264234" providerId="ADAL" clId="{62ED6324-51DD-4C4E-B5AA-3A8DF70ED9E2}" dt="2024-10-08T08:30:04.123" v="98" actId="20577"/>
        <pc:sldMkLst>
          <pc:docMk/>
          <pc:sldMk cId="0" sldId="517"/>
        </pc:sldMkLst>
      </pc:sldChg>
      <pc:sldChg chg="modSp mod">
        <pc:chgData name="Shailendra Chauhan" userId="a7d3133f-e197-4b90-bf63-99a63a264234" providerId="ADAL" clId="{62ED6324-51DD-4C4E-B5AA-3A8DF70ED9E2}" dt="2024-10-08T08:34:06.904" v="382"/>
        <pc:sldMkLst>
          <pc:docMk/>
          <pc:sldMk cId="0" sldId="518"/>
        </pc:sldMkLst>
      </pc:sldChg>
      <pc:sldChg chg="modSp mod">
        <pc:chgData name="Shailendra Chauhan" userId="a7d3133f-e197-4b90-bf63-99a63a264234" providerId="ADAL" clId="{62ED6324-51DD-4C4E-B5AA-3A8DF70ED9E2}" dt="2024-10-08T08:38:33.629" v="417" actId="20577"/>
        <pc:sldMkLst>
          <pc:docMk/>
          <pc:sldMk cId="420393967" sldId="652"/>
        </pc:sldMkLst>
      </pc:sldChg>
      <pc:sldChg chg="addSp delSp modSp new mod modClrScheme chgLayout">
        <pc:chgData name="Shailendra Chauhan" userId="a7d3133f-e197-4b90-bf63-99a63a264234" providerId="ADAL" clId="{62ED6324-51DD-4C4E-B5AA-3A8DF70ED9E2}" dt="2024-10-08T08:29:37.429" v="83" actId="207"/>
        <pc:sldMkLst>
          <pc:docMk/>
          <pc:sldMk cId="3721536424" sldId="653"/>
        </pc:sldMkLst>
      </pc:sldChg>
      <pc:sldChg chg="addSp delSp modSp new mod">
        <pc:chgData name="Shailendra Chauhan" userId="a7d3133f-e197-4b90-bf63-99a63a264234" providerId="ADAL" clId="{62ED6324-51DD-4C4E-B5AA-3A8DF70ED9E2}" dt="2024-10-08T08:37:23.268" v="413" actId="27636"/>
        <pc:sldMkLst>
          <pc:docMk/>
          <pc:sldMk cId="3879036362" sldId="654"/>
        </pc:sldMkLst>
      </pc:sldChg>
    </pc:docChg>
  </pc:docChgLst>
  <pc:docChgLst>
    <pc:chgData name="Shailendra Chauhan" userId="a7d3133f-e197-4b90-bf63-99a63a264234" providerId="ADAL" clId="{5F4AFC14-21E4-4190-BA74-BD2DC1151B5A}"/>
    <pc:docChg chg="modSld">
      <pc:chgData name="Shailendra Chauhan" userId="a7d3133f-e197-4b90-bf63-99a63a264234" providerId="ADAL" clId="{5F4AFC14-21E4-4190-BA74-BD2DC1151B5A}" dt="2025-02-16T06:30:06.841" v="31" actId="14100"/>
      <pc:docMkLst>
        <pc:docMk/>
      </pc:docMkLst>
      <pc:sldChg chg="modSp mod">
        <pc:chgData name="Shailendra Chauhan" userId="a7d3133f-e197-4b90-bf63-99a63a264234" providerId="ADAL" clId="{5F4AFC14-21E4-4190-BA74-BD2DC1151B5A}" dt="2025-02-16T06:30:06.841" v="31" actId="14100"/>
        <pc:sldMkLst>
          <pc:docMk/>
          <pc:sldMk cId="4150312672" sldId="530"/>
        </pc:sldMkLst>
        <pc:spChg chg="mod">
          <ac:chgData name="Shailendra Chauhan" userId="a7d3133f-e197-4b90-bf63-99a63a264234" providerId="ADAL" clId="{5F4AFC14-21E4-4190-BA74-BD2DC1151B5A}" dt="2025-02-16T06:30:06.841" v="31" actId="14100"/>
          <ac:spMkLst>
            <pc:docMk/>
            <pc:sldMk cId="4150312672" sldId="530"/>
            <ac:spMk id="6" creationId="{B0B29B99-6E8A-4882-918C-8F51C72833DB}"/>
          </ac:spMkLst>
        </pc:spChg>
      </pc:sldChg>
      <pc:sldChg chg="addSp delSp modSp mod modAnim">
        <pc:chgData name="Shailendra Chauhan" userId="a7d3133f-e197-4b90-bf63-99a63a264234" providerId="ADAL" clId="{5F4AFC14-21E4-4190-BA74-BD2DC1151B5A}" dt="2025-02-16T06:25:30.658" v="30" actId="1036"/>
        <pc:sldMkLst>
          <pc:docMk/>
          <pc:sldMk cId="2018993351" sldId="554"/>
        </pc:sldMkLst>
        <pc:spChg chg="mod topLvl">
          <ac:chgData name="Shailendra Chauhan" userId="a7d3133f-e197-4b90-bf63-99a63a264234" providerId="ADAL" clId="{5F4AFC14-21E4-4190-BA74-BD2DC1151B5A}" dt="2025-02-16T06:25:27.925" v="20" actId="164"/>
          <ac:spMkLst>
            <pc:docMk/>
            <pc:sldMk cId="2018993351" sldId="554"/>
            <ac:spMk id="5" creationId="{9428CC96-E05A-4068-B2EC-D21E9A182EEA}"/>
          </ac:spMkLst>
        </pc:spChg>
        <pc:spChg chg="mod topLvl">
          <ac:chgData name="Shailendra Chauhan" userId="a7d3133f-e197-4b90-bf63-99a63a264234" providerId="ADAL" clId="{5F4AFC14-21E4-4190-BA74-BD2DC1151B5A}" dt="2025-02-16T06:25:27.925" v="20" actId="164"/>
          <ac:spMkLst>
            <pc:docMk/>
            <pc:sldMk cId="2018993351" sldId="554"/>
            <ac:spMk id="6" creationId="{FF70EA41-F65F-4325-8FFD-977F730BAA54}"/>
          </ac:spMkLst>
        </pc:spChg>
        <pc:spChg chg="mod topLvl">
          <ac:chgData name="Shailendra Chauhan" userId="a7d3133f-e197-4b90-bf63-99a63a264234" providerId="ADAL" clId="{5F4AFC14-21E4-4190-BA74-BD2DC1151B5A}" dt="2025-02-16T06:25:27.925" v="20" actId="164"/>
          <ac:spMkLst>
            <pc:docMk/>
            <pc:sldMk cId="2018993351" sldId="554"/>
            <ac:spMk id="7" creationId="{8455CCF5-03D6-4B70-AD2D-17E08866DC32}"/>
          </ac:spMkLst>
        </pc:spChg>
        <pc:spChg chg="mod topLvl">
          <ac:chgData name="Shailendra Chauhan" userId="a7d3133f-e197-4b90-bf63-99a63a264234" providerId="ADAL" clId="{5F4AFC14-21E4-4190-BA74-BD2DC1151B5A}" dt="2025-02-16T06:25:27.925" v="20" actId="164"/>
          <ac:spMkLst>
            <pc:docMk/>
            <pc:sldMk cId="2018993351" sldId="554"/>
            <ac:spMk id="9" creationId="{8AA49E79-F714-4928-96A3-22434981E846}"/>
          </ac:spMkLst>
        </pc:spChg>
        <pc:spChg chg="mod topLvl">
          <ac:chgData name="Shailendra Chauhan" userId="a7d3133f-e197-4b90-bf63-99a63a264234" providerId="ADAL" clId="{5F4AFC14-21E4-4190-BA74-BD2DC1151B5A}" dt="2025-02-16T06:25:27.925" v="20" actId="164"/>
          <ac:spMkLst>
            <pc:docMk/>
            <pc:sldMk cId="2018993351" sldId="554"/>
            <ac:spMk id="10" creationId="{8641748B-5A07-4822-AF50-B69E14A7F155}"/>
          </ac:spMkLst>
        </pc:spChg>
        <pc:spChg chg="mod topLvl">
          <ac:chgData name="Shailendra Chauhan" userId="a7d3133f-e197-4b90-bf63-99a63a264234" providerId="ADAL" clId="{5F4AFC14-21E4-4190-BA74-BD2DC1151B5A}" dt="2025-02-16T06:25:27.925" v="20" actId="164"/>
          <ac:spMkLst>
            <pc:docMk/>
            <pc:sldMk cId="2018993351" sldId="554"/>
            <ac:spMk id="11" creationId="{B15D2D05-D09F-4873-9A36-33EFBAC6E97D}"/>
          </ac:spMkLst>
        </pc:spChg>
        <pc:spChg chg="mod topLvl">
          <ac:chgData name="Shailendra Chauhan" userId="a7d3133f-e197-4b90-bf63-99a63a264234" providerId="ADAL" clId="{5F4AFC14-21E4-4190-BA74-BD2DC1151B5A}" dt="2025-02-16T06:25:27.925" v="20" actId="164"/>
          <ac:spMkLst>
            <pc:docMk/>
            <pc:sldMk cId="2018993351" sldId="554"/>
            <ac:spMk id="12" creationId="{5FF374EC-581B-4C3A-B0C1-987667F1B81D}"/>
          </ac:spMkLst>
        </pc:spChg>
        <pc:spChg chg="mod topLvl">
          <ac:chgData name="Shailendra Chauhan" userId="a7d3133f-e197-4b90-bf63-99a63a264234" providerId="ADAL" clId="{5F4AFC14-21E4-4190-BA74-BD2DC1151B5A}" dt="2025-02-16T06:25:27.925" v="20" actId="164"/>
          <ac:spMkLst>
            <pc:docMk/>
            <pc:sldMk cId="2018993351" sldId="554"/>
            <ac:spMk id="13" creationId="{4D001B6F-128B-4058-B685-5444237493F2}"/>
          </ac:spMkLst>
        </pc:spChg>
        <pc:spChg chg="mod topLvl">
          <ac:chgData name="Shailendra Chauhan" userId="a7d3133f-e197-4b90-bf63-99a63a264234" providerId="ADAL" clId="{5F4AFC14-21E4-4190-BA74-BD2DC1151B5A}" dt="2025-02-16T06:25:27.925" v="20" actId="164"/>
          <ac:spMkLst>
            <pc:docMk/>
            <pc:sldMk cId="2018993351" sldId="554"/>
            <ac:spMk id="14" creationId="{1D3F7DFB-34FC-4A2E-918D-8732C5430CED}"/>
          </ac:spMkLst>
        </pc:spChg>
        <pc:spChg chg="mod topLvl">
          <ac:chgData name="Shailendra Chauhan" userId="a7d3133f-e197-4b90-bf63-99a63a264234" providerId="ADAL" clId="{5F4AFC14-21E4-4190-BA74-BD2DC1151B5A}" dt="2025-02-16T06:25:27.925" v="20" actId="164"/>
          <ac:spMkLst>
            <pc:docMk/>
            <pc:sldMk cId="2018993351" sldId="554"/>
            <ac:spMk id="15" creationId="{DC8D5944-0723-4B14-AA8C-1AF026D036B2}"/>
          </ac:spMkLst>
        </pc:spChg>
        <pc:grpChg chg="mod">
          <ac:chgData name="Shailendra Chauhan" userId="a7d3133f-e197-4b90-bf63-99a63a264234" providerId="ADAL" clId="{5F4AFC14-21E4-4190-BA74-BD2DC1151B5A}" dt="2025-02-16T06:25:30.658" v="30" actId="1036"/>
          <ac:grpSpMkLst>
            <pc:docMk/>
            <pc:sldMk cId="2018993351" sldId="554"/>
            <ac:grpSpMk id="8" creationId="{5CE92FF2-B1BA-82DB-9BCB-AA69019D6DD7}"/>
          </ac:grpSpMkLst>
        </pc:grpChg>
      </pc:sldChg>
    </pc:docChg>
  </pc:docChgLst>
  <pc:docChgLst>
    <pc:chgData name="Shailendra Chauhan" userId="a7d3133f-e197-4b90-bf63-99a63a264234" providerId="ADAL" clId="{36F7ADE3-79CF-4E15-AD2E-20D4FECF44D7}"/>
    <pc:docChg chg="modSld">
      <pc:chgData name="Shailendra Chauhan" userId="a7d3133f-e197-4b90-bf63-99a63a264234" providerId="ADAL" clId="{36F7ADE3-79CF-4E15-AD2E-20D4FECF44D7}" dt="2024-04-13T12:37:43.897" v="10"/>
      <pc:docMkLst>
        <pc:docMk/>
      </pc:docMkLst>
      <pc:sldChg chg="addSp modSp mod modAnim">
        <pc:chgData name="Shailendra Chauhan" userId="a7d3133f-e197-4b90-bf63-99a63a264234" providerId="ADAL" clId="{36F7ADE3-79CF-4E15-AD2E-20D4FECF44D7}" dt="2024-04-13T12:37:43.897" v="10"/>
        <pc:sldMkLst>
          <pc:docMk/>
          <pc:sldMk cId="0" sldId="516"/>
        </pc:sldMkLst>
      </pc:sldChg>
    </pc:docChg>
  </pc:docChgLst>
  <pc:docChgLst>
    <pc:chgData name="Shailendra Chauhan" userId="a7d3133f-e197-4b90-bf63-99a63a264234" providerId="ADAL" clId="{E1FFF656-2697-45D7-90BA-19857D8335A1}"/>
    <pc:docChg chg="custSel addSld modSld">
      <pc:chgData name="Shailendra Chauhan" userId="a7d3133f-e197-4b90-bf63-99a63a264234" providerId="ADAL" clId="{E1FFF656-2697-45D7-90BA-19857D8335A1}" dt="2024-11-17T13:40:05.752" v="3"/>
      <pc:docMkLst>
        <pc:docMk/>
      </pc:docMkLst>
      <pc:sldChg chg="addSp delSp modSp new mod modClrScheme chgLayout">
        <pc:chgData name="Shailendra Chauhan" userId="a7d3133f-e197-4b90-bf63-99a63a264234" providerId="ADAL" clId="{E1FFF656-2697-45D7-90BA-19857D8335A1}" dt="2024-11-17T13:40:05.752" v="3"/>
        <pc:sldMkLst>
          <pc:docMk/>
          <pc:sldMk cId="3456190918" sldId="655"/>
        </pc:sldMkLst>
      </pc:sldChg>
    </pc:docChg>
  </pc:docChgLst>
  <pc:docChgLst>
    <pc:chgData name="Shailendra Chauhan" userId="a7d3133f-e197-4b90-bf63-99a63a264234" providerId="ADAL" clId="{7C00AAED-C0F9-4ED9-82AA-1439578054A6}"/>
    <pc:docChg chg="modSld">
      <pc:chgData name="Shailendra Chauhan" userId="a7d3133f-e197-4b90-bf63-99a63a264234" providerId="ADAL" clId="{7C00AAED-C0F9-4ED9-82AA-1439578054A6}" dt="2024-08-14T10:34:17.966" v="0" actId="404"/>
      <pc:docMkLst>
        <pc:docMk/>
      </pc:docMkLst>
      <pc:sldChg chg="modSp mod">
        <pc:chgData name="Shailendra Chauhan" userId="a7d3133f-e197-4b90-bf63-99a63a264234" providerId="ADAL" clId="{7C00AAED-C0F9-4ED9-82AA-1439578054A6}" dt="2024-08-14T10:34:17.966" v="0" actId="404"/>
        <pc:sldMkLst>
          <pc:docMk/>
          <pc:sldMk cId="0" sldId="51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870F9A-4B9F-4248-9BB2-9768CF4A094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C13D702-1F98-4317-9ED4-8402CF6F9530}">
      <dgm:prSet/>
      <dgm:spPr/>
      <dgm:t>
        <a:bodyPr/>
        <a:lstStyle/>
        <a:p>
          <a:r>
            <a:rPr lang="en-US" b="1" dirty="0"/>
            <a:t>Decompose by Business Capability</a:t>
          </a:r>
          <a:endParaRPr lang="en-US" dirty="0"/>
        </a:p>
        <a:p>
          <a:r>
            <a:rPr lang="en-US" dirty="0"/>
            <a:t>Divides the application into steps reflecting how the business operates. </a:t>
          </a:r>
        </a:p>
      </dgm:t>
    </dgm:pt>
    <dgm:pt modelId="{D2206DFA-91AC-40B9-81EE-BDA346595BC0}" type="parTrans" cxnId="{C2295156-602A-4AE9-BD19-A92245DEAC81}">
      <dgm:prSet/>
      <dgm:spPr/>
      <dgm:t>
        <a:bodyPr/>
        <a:lstStyle/>
        <a:p>
          <a:endParaRPr lang="en-US"/>
        </a:p>
      </dgm:t>
    </dgm:pt>
    <dgm:pt modelId="{C93F0566-A33E-47CE-A14D-62C08118E40D}" type="sibTrans" cxnId="{C2295156-602A-4AE9-BD19-A92245DEAC81}">
      <dgm:prSet/>
      <dgm:spPr/>
      <dgm:t>
        <a:bodyPr/>
        <a:lstStyle/>
        <a:p>
          <a:endParaRPr lang="en-US"/>
        </a:p>
      </dgm:t>
    </dgm:pt>
    <dgm:pt modelId="{2D72FEA5-297B-4DE7-A875-C6C9862EC70B}">
      <dgm:prSet/>
      <dgm:spPr/>
      <dgm:t>
        <a:bodyPr/>
        <a:lstStyle/>
        <a:p>
          <a:pPr algn="just"/>
          <a:r>
            <a:rPr lang="en-US" dirty="0"/>
            <a:t>For instance, a customer interacts with the product catalog service to see available products, places an order through the order service, which then triggers the inventory service to update stock, followed by the delivery service to finalize customer details and ship the order.</a:t>
          </a:r>
        </a:p>
      </dgm:t>
    </dgm:pt>
    <dgm:pt modelId="{056C6B81-CE3D-4D26-8D9A-E36011961C2F}" type="parTrans" cxnId="{6156B469-8059-44DC-8EEE-DE5797DBF9E2}">
      <dgm:prSet/>
      <dgm:spPr/>
      <dgm:t>
        <a:bodyPr/>
        <a:lstStyle/>
        <a:p>
          <a:endParaRPr lang="en-US"/>
        </a:p>
      </dgm:t>
    </dgm:pt>
    <dgm:pt modelId="{083D3C6C-62F7-4F85-9598-5187C1FAB9F7}" type="sibTrans" cxnId="{6156B469-8059-44DC-8EEE-DE5797DBF9E2}">
      <dgm:prSet/>
      <dgm:spPr/>
      <dgm:t>
        <a:bodyPr/>
        <a:lstStyle/>
        <a:p>
          <a:endParaRPr lang="en-US"/>
        </a:p>
      </dgm:t>
    </dgm:pt>
    <dgm:pt modelId="{F8B606B7-C25B-4EE2-A123-521E9C16A6A6}">
      <dgm:prSet/>
      <dgm:spPr/>
      <dgm:t>
        <a:bodyPr/>
        <a:lstStyle/>
        <a:p>
          <a:r>
            <a:rPr lang="en-US" b="1" dirty="0"/>
            <a:t>Decompose by Subdomain</a:t>
          </a:r>
          <a:endParaRPr lang="en-US" dirty="0"/>
        </a:p>
        <a:p>
          <a:r>
            <a:rPr lang="en-US" dirty="0"/>
            <a:t>Focuses on the information flows within the business process. </a:t>
          </a:r>
        </a:p>
      </dgm:t>
    </dgm:pt>
    <dgm:pt modelId="{7F67BE87-470A-4089-971C-0BD08EB66DB4}" type="parTrans" cxnId="{7F72D2A5-B965-4B5D-9453-6794A1987F32}">
      <dgm:prSet/>
      <dgm:spPr/>
      <dgm:t>
        <a:bodyPr/>
        <a:lstStyle/>
        <a:p>
          <a:endParaRPr lang="en-US"/>
        </a:p>
      </dgm:t>
    </dgm:pt>
    <dgm:pt modelId="{D9A9E9D8-D986-4832-9E8B-539330066477}" type="sibTrans" cxnId="{7F72D2A5-B965-4B5D-9453-6794A1987F32}">
      <dgm:prSet/>
      <dgm:spPr/>
      <dgm:t>
        <a:bodyPr/>
        <a:lstStyle/>
        <a:p>
          <a:endParaRPr lang="en-US"/>
        </a:p>
      </dgm:t>
    </dgm:pt>
    <dgm:pt modelId="{D21DF8DD-284F-4CA2-BCFF-D730974F7FF7}">
      <dgm:prSet/>
      <dgm:spPr/>
      <dgm:t>
        <a:bodyPr/>
        <a:lstStyle/>
        <a:p>
          <a:pPr algn="just"/>
          <a:r>
            <a:rPr lang="en-US" dirty="0"/>
            <a:t>For example, to implement promotions, instead of altering the order management service (as in business capability decomposition), a new subdomain for promotions might be created. This new promotion service would then interact with the order management service to apply relevant promotions.</a:t>
          </a:r>
        </a:p>
      </dgm:t>
    </dgm:pt>
    <dgm:pt modelId="{B3981474-09CF-4C63-B399-763B5F1F41DD}" type="parTrans" cxnId="{B78D5444-BCB9-4647-A079-1D5701FE44C3}">
      <dgm:prSet/>
      <dgm:spPr/>
      <dgm:t>
        <a:bodyPr/>
        <a:lstStyle/>
        <a:p>
          <a:endParaRPr lang="en-US"/>
        </a:p>
      </dgm:t>
    </dgm:pt>
    <dgm:pt modelId="{08761853-C617-4FA4-90C4-9C465C5EDE46}" type="sibTrans" cxnId="{B78D5444-BCB9-4647-A079-1D5701FE44C3}">
      <dgm:prSet/>
      <dgm:spPr/>
      <dgm:t>
        <a:bodyPr/>
        <a:lstStyle/>
        <a:p>
          <a:endParaRPr lang="en-US"/>
        </a:p>
      </dgm:t>
    </dgm:pt>
    <dgm:pt modelId="{61014389-143A-4944-AD0D-92C3EDE58582}" type="pres">
      <dgm:prSet presAssocID="{68870F9A-4B9F-4248-9BB2-9768CF4A094A}" presName="root" presStyleCnt="0">
        <dgm:presLayoutVars>
          <dgm:dir/>
          <dgm:resizeHandles val="exact"/>
        </dgm:presLayoutVars>
      </dgm:prSet>
      <dgm:spPr/>
    </dgm:pt>
    <dgm:pt modelId="{4D62C028-1554-4F78-9B45-CDFFBD8F1226}" type="pres">
      <dgm:prSet presAssocID="{7C13D702-1F98-4317-9ED4-8402CF6F9530}" presName="compNode" presStyleCnt="0"/>
      <dgm:spPr/>
    </dgm:pt>
    <dgm:pt modelId="{8FFC26F3-474C-4947-A6BB-49E4D66D0CC3}" type="pres">
      <dgm:prSet presAssocID="{7C13D702-1F98-4317-9ED4-8402CF6F9530}" presName="bgRect" presStyleLbl="bgShp" presStyleIdx="0" presStyleCnt="2" custLinFactNeighborX="1656"/>
      <dgm:spPr/>
    </dgm:pt>
    <dgm:pt modelId="{1BB74FEC-1CFB-4239-A782-3677F57AD96F}" type="pres">
      <dgm:prSet presAssocID="{7C13D702-1F98-4317-9ED4-8402CF6F953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5CB2E625-3D51-4F9F-808C-7E93725C1671}" type="pres">
      <dgm:prSet presAssocID="{7C13D702-1F98-4317-9ED4-8402CF6F9530}" presName="spaceRect" presStyleCnt="0"/>
      <dgm:spPr/>
    </dgm:pt>
    <dgm:pt modelId="{D1CCC3BC-4B9C-43E2-BB57-BA220F1661D5}" type="pres">
      <dgm:prSet presAssocID="{7C13D702-1F98-4317-9ED4-8402CF6F9530}" presName="parTx" presStyleLbl="revTx" presStyleIdx="0" presStyleCnt="4" custScaleX="85617" custLinFactNeighborX="-8250" custLinFactNeighborY="-899">
        <dgm:presLayoutVars>
          <dgm:chMax val="0"/>
          <dgm:chPref val="0"/>
        </dgm:presLayoutVars>
      </dgm:prSet>
      <dgm:spPr/>
    </dgm:pt>
    <dgm:pt modelId="{1301A58B-C24D-44C7-92E4-DD253466C1AC}" type="pres">
      <dgm:prSet presAssocID="{7C13D702-1F98-4317-9ED4-8402CF6F9530}" presName="desTx" presStyleLbl="revTx" presStyleIdx="1" presStyleCnt="4" custScaleX="93950" custLinFactNeighborX="-7074" custLinFactNeighborY="-450">
        <dgm:presLayoutVars/>
      </dgm:prSet>
      <dgm:spPr/>
    </dgm:pt>
    <dgm:pt modelId="{4FD9FF9C-BC44-4284-A408-402CE9CB2FE7}" type="pres">
      <dgm:prSet presAssocID="{C93F0566-A33E-47CE-A14D-62C08118E40D}" presName="sibTrans" presStyleCnt="0"/>
      <dgm:spPr/>
    </dgm:pt>
    <dgm:pt modelId="{F8E438C8-3868-47E4-84A0-D32C6C8E62A8}" type="pres">
      <dgm:prSet presAssocID="{F8B606B7-C25B-4EE2-A123-521E9C16A6A6}" presName="compNode" presStyleCnt="0"/>
      <dgm:spPr/>
    </dgm:pt>
    <dgm:pt modelId="{8F05A314-55B9-4715-93A7-2A5A92D27617}" type="pres">
      <dgm:prSet presAssocID="{F8B606B7-C25B-4EE2-A123-521E9C16A6A6}" presName="bgRect" presStyleLbl="bgShp" presStyleIdx="1" presStyleCnt="2"/>
      <dgm:spPr/>
    </dgm:pt>
    <dgm:pt modelId="{9E8AE8D1-C87C-49C8-9CF6-C19CEECBBC14}" type="pres">
      <dgm:prSet presAssocID="{F8B606B7-C25B-4EE2-A123-521E9C16A6A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868D18B9-E5D9-4DE9-BBDF-AC7ABAF16286}" type="pres">
      <dgm:prSet presAssocID="{F8B606B7-C25B-4EE2-A123-521E9C16A6A6}" presName="spaceRect" presStyleCnt="0"/>
      <dgm:spPr/>
    </dgm:pt>
    <dgm:pt modelId="{3F641603-2307-4078-82DB-6B801C62F6D7}" type="pres">
      <dgm:prSet presAssocID="{F8B606B7-C25B-4EE2-A123-521E9C16A6A6}" presName="parTx" presStyleLbl="revTx" presStyleIdx="2" presStyleCnt="4" custScaleX="81674" custLinFactNeighborX="-10569" custLinFactNeighborY="-1349">
        <dgm:presLayoutVars>
          <dgm:chMax val="0"/>
          <dgm:chPref val="0"/>
        </dgm:presLayoutVars>
      </dgm:prSet>
      <dgm:spPr/>
    </dgm:pt>
    <dgm:pt modelId="{22D12F4B-B8B8-4256-B50B-2C5760E1E5AC}" type="pres">
      <dgm:prSet presAssocID="{F8B606B7-C25B-4EE2-A123-521E9C16A6A6}" presName="desTx" presStyleLbl="revTx" presStyleIdx="3" presStyleCnt="4" custScaleX="91700" custLinFactNeighborX="-8631">
        <dgm:presLayoutVars/>
      </dgm:prSet>
      <dgm:spPr/>
    </dgm:pt>
  </dgm:ptLst>
  <dgm:cxnLst>
    <dgm:cxn modelId="{3647E901-AFF1-4764-BABC-DDACBBB0BD03}" type="presOf" srcId="{7C13D702-1F98-4317-9ED4-8402CF6F9530}" destId="{D1CCC3BC-4B9C-43E2-BB57-BA220F1661D5}" srcOrd="0" destOrd="0" presId="urn:microsoft.com/office/officeart/2018/2/layout/IconVerticalSolidList"/>
    <dgm:cxn modelId="{7F6D0703-71F5-4506-90A3-DD0E5CAF50AE}" type="presOf" srcId="{D21DF8DD-284F-4CA2-BCFF-D730974F7FF7}" destId="{22D12F4B-B8B8-4256-B50B-2C5760E1E5AC}" srcOrd="0" destOrd="0" presId="urn:microsoft.com/office/officeart/2018/2/layout/IconVerticalSolidList"/>
    <dgm:cxn modelId="{B78D5444-BCB9-4647-A079-1D5701FE44C3}" srcId="{F8B606B7-C25B-4EE2-A123-521E9C16A6A6}" destId="{D21DF8DD-284F-4CA2-BCFF-D730974F7FF7}" srcOrd="0" destOrd="0" parTransId="{B3981474-09CF-4C63-B399-763B5F1F41DD}" sibTransId="{08761853-C617-4FA4-90C4-9C465C5EDE46}"/>
    <dgm:cxn modelId="{6156B469-8059-44DC-8EEE-DE5797DBF9E2}" srcId="{7C13D702-1F98-4317-9ED4-8402CF6F9530}" destId="{2D72FEA5-297B-4DE7-A875-C6C9862EC70B}" srcOrd="0" destOrd="0" parTransId="{056C6B81-CE3D-4D26-8D9A-E36011961C2F}" sibTransId="{083D3C6C-62F7-4F85-9598-5187C1FAB9F7}"/>
    <dgm:cxn modelId="{C2295156-602A-4AE9-BD19-A92245DEAC81}" srcId="{68870F9A-4B9F-4248-9BB2-9768CF4A094A}" destId="{7C13D702-1F98-4317-9ED4-8402CF6F9530}" srcOrd="0" destOrd="0" parTransId="{D2206DFA-91AC-40B9-81EE-BDA346595BC0}" sibTransId="{C93F0566-A33E-47CE-A14D-62C08118E40D}"/>
    <dgm:cxn modelId="{7F72D2A5-B965-4B5D-9453-6794A1987F32}" srcId="{68870F9A-4B9F-4248-9BB2-9768CF4A094A}" destId="{F8B606B7-C25B-4EE2-A123-521E9C16A6A6}" srcOrd="1" destOrd="0" parTransId="{7F67BE87-470A-4089-971C-0BD08EB66DB4}" sibTransId="{D9A9E9D8-D986-4832-9E8B-539330066477}"/>
    <dgm:cxn modelId="{7532B6E0-AEEA-45A3-9909-F7D304326B28}" type="presOf" srcId="{F8B606B7-C25B-4EE2-A123-521E9C16A6A6}" destId="{3F641603-2307-4078-82DB-6B801C62F6D7}" srcOrd="0" destOrd="0" presId="urn:microsoft.com/office/officeart/2018/2/layout/IconVerticalSolidList"/>
    <dgm:cxn modelId="{055A0EE7-8812-419E-BD03-3EECF3BBCFBF}" type="presOf" srcId="{2D72FEA5-297B-4DE7-A875-C6C9862EC70B}" destId="{1301A58B-C24D-44C7-92E4-DD253466C1AC}" srcOrd="0" destOrd="0" presId="urn:microsoft.com/office/officeart/2018/2/layout/IconVerticalSolidList"/>
    <dgm:cxn modelId="{471E13E8-A897-449D-914F-E1A677CE4489}" type="presOf" srcId="{68870F9A-4B9F-4248-9BB2-9768CF4A094A}" destId="{61014389-143A-4944-AD0D-92C3EDE58582}" srcOrd="0" destOrd="0" presId="urn:microsoft.com/office/officeart/2018/2/layout/IconVerticalSolidList"/>
    <dgm:cxn modelId="{59B01318-0F30-42DD-B630-5E251F0232A4}" type="presParOf" srcId="{61014389-143A-4944-AD0D-92C3EDE58582}" destId="{4D62C028-1554-4F78-9B45-CDFFBD8F1226}" srcOrd="0" destOrd="0" presId="urn:microsoft.com/office/officeart/2018/2/layout/IconVerticalSolidList"/>
    <dgm:cxn modelId="{936176C7-492B-424D-99E9-9E003543E453}" type="presParOf" srcId="{4D62C028-1554-4F78-9B45-CDFFBD8F1226}" destId="{8FFC26F3-474C-4947-A6BB-49E4D66D0CC3}" srcOrd="0" destOrd="0" presId="urn:microsoft.com/office/officeart/2018/2/layout/IconVerticalSolidList"/>
    <dgm:cxn modelId="{F3DE7B2D-B136-42B6-9AB9-CA92BD4B0B61}" type="presParOf" srcId="{4D62C028-1554-4F78-9B45-CDFFBD8F1226}" destId="{1BB74FEC-1CFB-4239-A782-3677F57AD96F}" srcOrd="1" destOrd="0" presId="urn:microsoft.com/office/officeart/2018/2/layout/IconVerticalSolidList"/>
    <dgm:cxn modelId="{1D04960A-B4F5-4C1E-ABAB-30A2576E7BDF}" type="presParOf" srcId="{4D62C028-1554-4F78-9B45-CDFFBD8F1226}" destId="{5CB2E625-3D51-4F9F-808C-7E93725C1671}" srcOrd="2" destOrd="0" presId="urn:microsoft.com/office/officeart/2018/2/layout/IconVerticalSolidList"/>
    <dgm:cxn modelId="{7C27F87E-A08A-47F7-8C4F-F9F8E6FEF23A}" type="presParOf" srcId="{4D62C028-1554-4F78-9B45-CDFFBD8F1226}" destId="{D1CCC3BC-4B9C-43E2-BB57-BA220F1661D5}" srcOrd="3" destOrd="0" presId="urn:microsoft.com/office/officeart/2018/2/layout/IconVerticalSolidList"/>
    <dgm:cxn modelId="{01022195-659B-49F9-B515-9A24A604D906}" type="presParOf" srcId="{4D62C028-1554-4F78-9B45-CDFFBD8F1226}" destId="{1301A58B-C24D-44C7-92E4-DD253466C1AC}" srcOrd="4" destOrd="0" presId="urn:microsoft.com/office/officeart/2018/2/layout/IconVerticalSolidList"/>
    <dgm:cxn modelId="{4925AF4D-43C6-4A10-8D3F-5E68F3CB9B4E}" type="presParOf" srcId="{61014389-143A-4944-AD0D-92C3EDE58582}" destId="{4FD9FF9C-BC44-4284-A408-402CE9CB2FE7}" srcOrd="1" destOrd="0" presId="urn:microsoft.com/office/officeart/2018/2/layout/IconVerticalSolidList"/>
    <dgm:cxn modelId="{FE75C9EB-B08C-4B90-BD14-C755C47B8785}" type="presParOf" srcId="{61014389-143A-4944-AD0D-92C3EDE58582}" destId="{F8E438C8-3868-47E4-84A0-D32C6C8E62A8}" srcOrd="2" destOrd="0" presId="urn:microsoft.com/office/officeart/2018/2/layout/IconVerticalSolidList"/>
    <dgm:cxn modelId="{C34F86B8-F4A1-4F00-9081-0513EF88CE3C}" type="presParOf" srcId="{F8E438C8-3868-47E4-84A0-D32C6C8E62A8}" destId="{8F05A314-55B9-4715-93A7-2A5A92D27617}" srcOrd="0" destOrd="0" presId="urn:microsoft.com/office/officeart/2018/2/layout/IconVerticalSolidList"/>
    <dgm:cxn modelId="{3F2BDBA7-3E70-4408-9674-5A1D6EA2CC15}" type="presParOf" srcId="{F8E438C8-3868-47E4-84A0-D32C6C8E62A8}" destId="{9E8AE8D1-C87C-49C8-9CF6-C19CEECBBC14}" srcOrd="1" destOrd="0" presId="urn:microsoft.com/office/officeart/2018/2/layout/IconVerticalSolidList"/>
    <dgm:cxn modelId="{001579E3-3D69-4C81-9E62-589FB94F9C68}" type="presParOf" srcId="{F8E438C8-3868-47E4-84A0-D32C6C8E62A8}" destId="{868D18B9-E5D9-4DE9-BBDF-AC7ABAF16286}" srcOrd="2" destOrd="0" presId="urn:microsoft.com/office/officeart/2018/2/layout/IconVerticalSolidList"/>
    <dgm:cxn modelId="{7C4E8CC3-557F-422C-BA8D-37738A17CC33}" type="presParOf" srcId="{F8E438C8-3868-47E4-84A0-D32C6C8E62A8}" destId="{3F641603-2307-4078-82DB-6B801C62F6D7}" srcOrd="3" destOrd="0" presId="urn:microsoft.com/office/officeart/2018/2/layout/IconVerticalSolidList"/>
    <dgm:cxn modelId="{539AC646-97FA-4873-A89C-ECEC33E325F0}" type="presParOf" srcId="{F8E438C8-3868-47E4-84A0-D32C6C8E62A8}" destId="{22D12F4B-B8B8-4256-B50B-2C5760E1E5A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FC26F3-474C-4947-A6BB-49E4D66D0CC3}">
      <dsp:nvSpPr>
        <dsp:cNvPr id="0" name=""/>
        <dsp:cNvSpPr/>
      </dsp:nvSpPr>
      <dsp:spPr>
        <a:xfrm>
          <a:off x="0" y="792613"/>
          <a:ext cx="11122056" cy="14632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B74FEC-1CFB-4239-A782-3677F57AD96F}">
      <dsp:nvSpPr>
        <dsp:cNvPr id="0" name=""/>
        <dsp:cNvSpPr/>
      </dsp:nvSpPr>
      <dsp:spPr>
        <a:xfrm>
          <a:off x="442644" y="1121853"/>
          <a:ext cx="804807" cy="8048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CCC3BC-4B9C-43E2-BB57-BA220F1661D5}">
      <dsp:nvSpPr>
        <dsp:cNvPr id="0" name=""/>
        <dsp:cNvSpPr/>
      </dsp:nvSpPr>
      <dsp:spPr>
        <a:xfrm>
          <a:off x="1637119" y="779458"/>
          <a:ext cx="4285066" cy="146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865" tIns="154865" rIns="154865" bIns="154865" numCol="1" spcCol="1270" anchor="ctr" anchorCtr="0">
          <a:noAutofit/>
        </a:bodyPr>
        <a:lstStyle/>
        <a:p>
          <a:pPr marL="0" lvl="0" indent="0" algn="l" defTabSz="844550">
            <a:lnSpc>
              <a:spcPct val="90000"/>
            </a:lnSpc>
            <a:spcBef>
              <a:spcPct val="0"/>
            </a:spcBef>
            <a:spcAft>
              <a:spcPct val="35000"/>
            </a:spcAft>
            <a:buNone/>
          </a:pPr>
          <a:r>
            <a:rPr lang="en-US" sz="1900" b="1" kern="1200" dirty="0"/>
            <a:t>Decompose by Business Capability</a:t>
          </a:r>
          <a:endParaRPr lang="en-US" sz="1900" kern="1200" dirty="0"/>
        </a:p>
        <a:p>
          <a:pPr marL="0" lvl="0" indent="0" algn="l" defTabSz="844550">
            <a:lnSpc>
              <a:spcPct val="90000"/>
            </a:lnSpc>
            <a:spcBef>
              <a:spcPct val="0"/>
            </a:spcBef>
            <a:spcAft>
              <a:spcPct val="35000"/>
            </a:spcAft>
            <a:buNone/>
          </a:pPr>
          <a:r>
            <a:rPr lang="en-US" sz="1900" kern="1200" dirty="0"/>
            <a:t>Divides the application into steps reflecting how the business operates. </a:t>
          </a:r>
        </a:p>
      </dsp:txBody>
      <dsp:txXfrm>
        <a:off x="1637119" y="779458"/>
        <a:ext cx="4285066" cy="1463287"/>
      </dsp:txXfrm>
    </dsp:sp>
    <dsp:sp modelId="{1301A58B-C24D-44C7-92E4-DD253466C1AC}">
      <dsp:nvSpPr>
        <dsp:cNvPr id="0" name=""/>
        <dsp:cNvSpPr/>
      </dsp:nvSpPr>
      <dsp:spPr>
        <a:xfrm>
          <a:off x="6515771" y="786029"/>
          <a:ext cx="4159198" cy="146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865" tIns="154865" rIns="154865" bIns="154865" numCol="1" spcCol="1270" anchor="ctr" anchorCtr="0">
          <a:noAutofit/>
        </a:bodyPr>
        <a:lstStyle/>
        <a:p>
          <a:pPr marL="0" lvl="0" indent="0" algn="just" defTabSz="533400">
            <a:lnSpc>
              <a:spcPct val="90000"/>
            </a:lnSpc>
            <a:spcBef>
              <a:spcPct val="0"/>
            </a:spcBef>
            <a:spcAft>
              <a:spcPct val="35000"/>
            </a:spcAft>
            <a:buNone/>
          </a:pPr>
          <a:r>
            <a:rPr lang="en-US" sz="1200" kern="1200" dirty="0"/>
            <a:t>For instance, a customer interacts with the product catalog service to see available products, places an order through the order service, which then triggers the inventory service to update stock, followed by the delivery service to finalize customer details and ship the order.</a:t>
          </a:r>
        </a:p>
      </dsp:txBody>
      <dsp:txXfrm>
        <a:off x="6515771" y="786029"/>
        <a:ext cx="4159198" cy="1463287"/>
      </dsp:txXfrm>
    </dsp:sp>
    <dsp:sp modelId="{8F05A314-55B9-4715-93A7-2A5A92D27617}">
      <dsp:nvSpPr>
        <dsp:cNvPr id="0" name=""/>
        <dsp:cNvSpPr/>
      </dsp:nvSpPr>
      <dsp:spPr>
        <a:xfrm>
          <a:off x="0" y="2621722"/>
          <a:ext cx="11122056" cy="14632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8AE8D1-C87C-49C8-9CF6-C19CEECBBC14}">
      <dsp:nvSpPr>
        <dsp:cNvPr id="0" name=""/>
        <dsp:cNvSpPr/>
      </dsp:nvSpPr>
      <dsp:spPr>
        <a:xfrm>
          <a:off x="442644" y="2950962"/>
          <a:ext cx="804807" cy="8048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641603-2307-4078-82DB-6B801C62F6D7}">
      <dsp:nvSpPr>
        <dsp:cNvPr id="0" name=""/>
        <dsp:cNvSpPr/>
      </dsp:nvSpPr>
      <dsp:spPr>
        <a:xfrm>
          <a:off x="1619727" y="2601983"/>
          <a:ext cx="4087722" cy="146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865" tIns="154865" rIns="154865" bIns="154865" numCol="1" spcCol="1270" anchor="ctr" anchorCtr="0">
          <a:noAutofit/>
        </a:bodyPr>
        <a:lstStyle/>
        <a:p>
          <a:pPr marL="0" lvl="0" indent="0" algn="l" defTabSz="844550">
            <a:lnSpc>
              <a:spcPct val="90000"/>
            </a:lnSpc>
            <a:spcBef>
              <a:spcPct val="0"/>
            </a:spcBef>
            <a:spcAft>
              <a:spcPct val="35000"/>
            </a:spcAft>
            <a:buNone/>
          </a:pPr>
          <a:r>
            <a:rPr lang="en-US" sz="1900" b="1" kern="1200" dirty="0"/>
            <a:t>Decompose by Subdomain</a:t>
          </a:r>
          <a:endParaRPr lang="en-US" sz="1900" kern="1200" dirty="0"/>
        </a:p>
        <a:p>
          <a:pPr marL="0" lvl="0" indent="0" algn="l" defTabSz="844550">
            <a:lnSpc>
              <a:spcPct val="90000"/>
            </a:lnSpc>
            <a:spcBef>
              <a:spcPct val="0"/>
            </a:spcBef>
            <a:spcAft>
              <a:spcPct val="35000"/>
            </a:spcAft>
            <a:buNone/>
          </a:pPr>
          <a:r>
            <a:rPr lang="en-US" sz="1900" kern="1200" dirty="0"/>
            <a:t>Focuses on the information flows within the business process. </a:t>
          </a:r>
        </a:p>
      </dsp:txBody>
      <dsp:txXfrm>
        <a:off x="1619727" y="2601983"/>
        <a:ext cx="4087722" cy="1463287"/>
      </dsp:txXfrm>
    </dsp:sp>
    <dsp:sp modelId="{22D12F4B-B8B8-4256-B50B-2C5760E1E5AC}">
      <dsp:nvSpPr>
        <dsp:cNvPr id="0" name=""/>
        <dsp:cNvSpPr/>
      </dsp:nvSpPr>
      <dsp:spPr>
        <a:xfrm>
          <a:off x="6496646" y="2621722"/>
          <a:ext cx="4059590" cy="1463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4865" tIns="154865" rIns="154865" bIns="154865" numCol="1" spcCol="1270" anchor="ctr" anchorCtr="0">
          <a:noAutofit/>
        </a:bodyPr>
        <a:lstStyle/>
        <a:p>
          <a:pPr marL="0" lvl="0" indent="0" algn="just" defTabSz="533400">
            <a:lnSpc>
              <a:spcPct val="90000"/>
            </a:lnSpc>
            <a:spcBef>
              <a:spcPct val="0"/>
            </a:spcBef>
            <a:spcAft>
              <a:spcPct val="35000"/>
            </a:spcAft>
            <a:buNone/>
          </a:pPr>
          <a:r>
            <a:rPr lang="en-US" sz="1200" kern="1200" dirty="0"/>
            <a:t>For example, to implement promotions, instead of altering the order management service (as in business capability decomposition), a new subdomain for promotions might be created. This new promotion service would then interact with the order management service to apply relevant promotions.</a:t>
          </a:r>
        </a:p>
      </dsp:txBody>
      <dsp:txXfrm>
        <a:off x="6496646" y="2621722"/>
        <a:ext cx="4059590" cy="14632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455A6C-8570-481C-B650-679F59D2D196}" type="datetimeFigureOut">
              <a:rPr lang="en-US" smtClean="0"/>
              <a:t>2/16/2025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86080D-7700-48E4-9421-502ABB94370D}"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nginx.com/products/nginx-ingress-controller/compare-model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building applications, DDD talks about problems as domains and subdomains.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Identifying subdomains is not an easy task. It requires an understanding of the business. Like business capabilities, subdomains are identified by analyzing the business and its organizational structure and identifying the different areas of expertise.</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5</a:t>
            </a:fld>
            <a:endParaRPr lang="en-US"/>
          </a:p>
        </p:txBody>
      </p:sp>
    </p:spTree>
    <p:extLst>
      <p:ext uri="{BB962C8B-B14F-4D97-AF65-F5344CB8AC3E}">
        <p14:creationId xmlns:p14="http://schemas.microsoft.com/office/powerpoint/2010/main" val="3631939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6</a:t>
            </a:fld>
            <a:endParaRPr lang="en-US"/>
          </a:p>
        </p:txBody>
      </p:sp>
    </p:spTree>
    <p:extLst>
      <p:ext uri="{BB962C8B-B14F-4D97-AF65-F5344CB8AC3E}">
        <p14:creationId xmlns:p14="http://schemas.microsoft.com/office/powerpoint/2010/main" val="2522048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Compare NGINX Ingress Controller Models - NGINX</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12</a:t>
            </a:fld>
            <a:endParaRPr lang="en-US"/>
          </a:p>
        </p:txBody>
      </p:sp>
    </p:spTree>
    <p:extLst>
      <p:ext uri="{BB962C8B-B14F-4D97-AF65-F5344CB8AC3E}">
        <p14:creationId xmlns:p14="http://schemas.microsoft.com/office/powerpoint/2010/main" val="3577259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building applications, DDD talks about problems as domains and subdomains.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Identifying subdomains is not an easy task. It requires an understanding of the business. Like business capabilities, subdomains are identified by analyzing the business and its organizational structure and identifying the different areas of expertise.</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13</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services are developed by decomposing business capabilities/subdomains, the services responsible for user experience have to pull data from several microservices.</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645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958504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71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868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55650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82265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422811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74604316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1754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43261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92516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465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636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9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4832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0984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489813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05211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98458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78588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15496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43992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1943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99970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23524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Heading and Content Level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593670"/>
            <a:ext cx="11122056" cy="4741818"/>
          </a:xfrm>
          <a:prstGeom prst="rect">
            <a:avLst/>
          </a:prstGeom>
        </p:spPr>
        <p:txBody>
          <a:bodyPr lIns="91440">
            <a:normAutofit/>
          </a:bodyPr>
          <a:lstStyle>
            <a:lvl1pPr marL="228600" indent="-228600">
              <a:lnSpc>
                <a:spcPct val="100000"/>
              </a:lnSpc>
              <a:buFont typeface="Arial" panose="020B0604020202020204" pitchFamily="34" charset="0"/>
              <a:buChar char="•"/>
              <a:defRPr sz="2800">
                <a:solidFill>
                  <a:srgbClr val="002060"/>
                </a:solidFill>
                <a:latin typeface="+mj-lt"/>
              </a:defRPr>
            </a:lvl1pPr>
            <a:lvl2pPr marL="685800" marR="0"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defRPr sz="2400" baseline="0">
                <a:solidFill>
                  <a:srgbClr val="002060"/>
                </a:solidFill>
                <a:latin typeface="+mj-lt"/>
              </a:defRPr>
            </a:lvl2pPr>
            <a:lvl3pPr>
              <a:lnSpc>
                <a:spcPct val="100000"/>
              </a:lnSpc>
              <a:defRPr sz="2000">
                <a:solidFill>
                  <a:srgbClr val="002060"/>
                </a:solidFill>
                <a:latin typeface="+mj-lt"/>
              </a:defRPr>
            </a:lvl3pPr>
          </a:lstStyle>
          <a:p>
            <a:pPr lvl="0"/>
            <a:r>
              <a:rPr lang="en-US"/>
              <a:t>Click to edit Master text styles</a:t>
            </a:r>
          </a:p>
          <a:p>
            <a:pPr lvl="1"/>
            <a:r>
              <a:rPr lang="en-US"/>
              <a:t>Second level</a:t>
            </a:r>
          </a:p>
          <a:p>
            <a:pPr lvl="2"/>
            <a:r>
              <a:rPr lang="en-US"/>
              <a:t>Third level</a:t>
            </a:r>
          </a:p>
        </p:txBody>
      </p:sp>
      <p:sp>
        <p:nvSpPr>
          <p:cNvPr id="2" name="Content Placeholder 2">
            <a:extLst>
              <a:ext uri="{FF2B5EF4-FFF2-40B4-BE49-F238E27FC236}">
                <a16:creationId xmlns:a16="http://schemas.microsoft.com/office/drawing/2014/main" id="{25FCD1B7-37B1-8313-3EBF-3154A075CF7A}"/>
              </a:ext>
            </a:extLst>
          </p:cNvPr>
          <p:cNvSpPr>
            <a:spLocks noGrp="1"/>
          </p:cNvSpPr>
          <p:nvPr>
            <p:ph sz="half" idx="10"/>
          </p:nvPr>
        </p:nvSpPr>
        <p:spPr>
          <a:xfrm>
            <a:off x="493295" y="522513"/>
            <a:ext cx="11122056" cy="633428"/>
          </a:xfrm>
          <a:prstGeom prst="rect">
            <a:avLst/>
          </a:prstGeom>
        </p:spPr>
        <p:txBody>
          <a:bodyPr lIns="91440">
            <a:normAutofit/>
          </a:bodyPr>
          <a:lstStyle>
            <a:lvl1pPr marL="0" indent="0">
              <a:buFontTx/>
              <a:buNone/>
              <a:defRPr sz="3600" b="0">
                <a:solidFill>
                  <a:srgbClr val="0070C0"/>
                </a:solidFill>
                <a:latin typeface="+mj-lt"/>
              </a:defRPr>
            </a:lvl1pPr>
          </a:lstStyle>
          <a:p>
            <a:pPr lvl="0"/>
            <a:r>
              <a:rPr lang="en-US"/>
              <a:t>Click to edit Master text styles</a:t>
            </a:r>
          </a:p>
        </p:txBody>
      </p:sp>
    </p:spTree>
    <p:extLst>
      <p:ext uri="{BB962C8B-B14F-4D97-AF65-F5344CB8AC3E}">
        <p14:creationId xmlns:p14="http://schemas.microsoft.com/office/powerpoint/2010/main" val="27833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64784216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86F6D1-C609-CE5F-FCB6-0FF6D2287FB9}"/>
              </a:ext>
            </a:extLst>
          </p:cNvPr>
          <p:cNvSpPr>
            <a:spLocks noGrp="1"/>
          </p:cNvSpPr>
          <p:nvPr>
            <p:ph sz="half" idx="1"/>
          </p:nvPr>
        </p:nvSpPr>
        <p:spPr/>
        <p:txBody>
          <a:bodyPr/>
          <a:lstStyle/>
          <a:p>
            <a:r>
              <a:rPr lang="en-US" dirty="0"/>
              <a:t>Decomposition Patterns</a:t>
            </a:r>
          </a:p>
          <a:p>
            <a:pPr lvl="1"/>
            <a:r>
              <a:rPr lang="en-US" dirty="0"/>
              <a:t>Decompose by Business Capability</a:t>
            </a:r>
          </a:p>
          <a:p>
            <a:pPr lvl="1"/>
            <a:r>
              <a:rPr lang="en-US" dirty="0"/>
              <a:t>Decompose by Subdomain</a:t>
            </a:r>
          </a:p>
          <a:p>
            <a:pPr lvl="1"/>
            <a:r>
              <a:rPr lang="en-US" dirty="0"/>
              <a:t>Decompose by Strangler</a:t>
            </a:r>
          </a:p>
          <a:p>
            <a:r>
              <a:rPr lang="en-US" dirty="0"/>
              <a:t>Integration Patterns</a:t>
            </a:r>
          </a:p>
          <a:p>
            <a:pPr lvl="1"/>
            <a:r>
              <a:rPr lang="en-US" dirty="0"/>
              <a:t>API Gateway Pattern</a:t>
            </a:r>
          </a:p>
          <a:p>
            <a:pPr lvl="1"/>
            <a:r>
              <a:rPr lang="en-US" dirty="0"/>
              <a:t>Aggregator Pattern</a:t>
            </a:r>
          </a:p>
          <a:p>
            <a:pPr lvl="1"/>
            <a:r>
              <a:rPr lang="en-US" dirty="0"/>
              <a:t>Client-Side UI Composition Pattern</a:t>
            </a:r>
          </a:p>
          <a:p>
            <a:pPr lvl="1"/>
            <a:r>
              <a:rPr lang="en-US"/>
              <a:t>Backend for Frontend (BFF) Pattern</a:t>
            </a:r>
          </a:p>
        </p:txBody>
      </p:sp>
      <p:sp>
        <p:nvSpPr>
          <p:cNvPr id="3" name="Content Placeholder 2">
            <a:extLst>
              <a:ext uri="{FF2B5EF4-FFF2-40B4-BE49-F238E27FC236}">
                <a16:creationId xmlns:a16="http://schemas.microsoft.com/office/drawing/2014/main" id="{5C18EEF7-B161-227B-58DF-6549A0689969}"/>
              </a:ext>
            </a:extLst>
          </p:cNvPr>
          <p:cNvSpPr>
            <a:spLocks noGrp="1"/>
          </p:cNvSpPr>
          <p:nvPr>
            <p:ph sz="half" idx="10"/>
          </p:nvPr>
        </p:nvSpPr>
        <p:spPr/>
        <p:txBody>
          <a:bodyPr>
            <a:normAutofit fontScale="85000" lnSpcReduction="10000"/>
          </a:bodyPr>
          <a:lstStyle/>
          <a:p>
            <a:r>
              <a:rPr lang="en-US" dirty="0"/>
              <a:t>Decomposition &amp; Integration Patterns</a:t>
            </a:r>
          </a:p>
        </p:txBody>
      </p:sp>
      <p:sp>
        <p:nvSpPr>
          <p:cNvPr id="4" name="Title 3">
            <a:extLst>
              <a:ext uri="{FF2B5EF4-FFF2-40B4-BE49-F238E27FC236}">
                <a16:creationId xmlns:a16="http://schemas.microsoft.com/office/drawing/2014/main" id="{4D01B452-BD82-6CEE-210E-15A7BD07BDE8}"/>
              </a:ext>
            </a:extLst>
          </p:cNvPr>
          <p:cNvSpPr>
            <a:spLocks noGrp="1"/>
          </p:cNvSpPr>
          <p:nvPr>
            <p:ph type="title"/>
          </p:nvPr>
        </p:nvSpPr>
        <p:spPr/>
        <p:txBody>
          <a:bodyPr/>
          <a:lstStyle/>
          <a:p>
            <a:r>
              <a:rPr lang="en-IN" dirty="0"/>
              <a:t>Agenda</a:t>
            </a:r>
            <a:endParaRPr lang="en-US" dirty="0"/>
          </a:p>
        </p:txBody>
      </p:sp>
    </p:spTree>
    <p:extLst>
      <p:ext uri="{BB962C8B-B14F-4D97-AF65-F5344CB8AC3E}">
        <p14:creationId xmlns:p14="http://schemas.microsoft.com/office/powerpoint/2010/main" val="42039396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marL="0" lvl="0" indent="0" algn="just">
              <a:lnSpc>
                <a:spcPct val="100000"/>
              </a:lnSpc>
              <a:buNone/>
            </a:pPr>
            <a:r>
              <a:rPr lang="en-US" b="1" dirty="0"/>
              <a:t>Problem:</a:t>
            </a:r>
            <a:r>
              <a:rPr lang="en-US" dirty="0"/>
              <a:t> Microservices make loosely coupled services that apply the single responsibility principle. However, breaking an application into smaller pieces has to be done logically. How do we decompose an application into small services?</a:t>
            </a:r>
          </a:p>
          <a:p>
            <a:pPr marL="0" lvl="0" indent="0" algn="just">
              <a:lnSpc>
                <a:spcPct val="100000"/>
              </a:lnSpc>
              <a:buNone/>
            </a:pPr>
            <a:r>
              <a:rPr lang="en-US" b="1" dirty="0"/>
              <a:t>Solution:</a:t>
            </a:r>
            <a:r>
              <a:rPr lang="en-US" dirty="0"/>
              <a:t> There are the following patterns to rescue the above problem:</a:t>
            </a:r>
            <a:endParaRPr lang="en-IN" dirty="0"/>
          </a:p>
          <a:p>
            <a:pPr lvl="1">
              <a:lnSpc>
                <a:spcPct val="100000"/>
              </a:lnSpc>
            </a:pPr>
            <a:r>
              <a:rPr lang="en-IN" dirty="0"/>
              <a:t>Decompose by Business Capability</a:t>
            </a:r>
          </a:p>
          <a:p>
            <a:pPr lvl="1">
              <a:lnSpc>
                <a:spcPct val="100000"/>
              </a:lnSpc>
            </a:pPr>
            <a:r>
              <a:rPr lang="en-IN" dirty="0"/>
              <a:t>Decompose by Subdomain</a:t>
            </a:r>
          </a:p>
          <a:p>
            <a:pPr lvl="1">
              <a:lnSpc>
                <a:spcPct val="100000"/>
              </a:lnSpc>
            </a:pPr>
            <a:r>
              <a:rPr lang="en-IN" dirty="0"/>
              <a:t>Decompose by Strangler - Legacy App</a:t>
            </a:r>
          </a:p>
        </p:txBody>
      </p:sp>
      <p:sp>
        <p:nvSpPr>
          <p:cNvPr id="4" name="Content Placeholder 3"/>
          <p:cNvSpPr>
            <a:spLocks noGrp="1"/>
          </p:cNvSpPr>
          <p:nvPr>
            <p:ph sz="half" idx="10"/>
          </p:nvPr>
        </p:nvSpPr>
        <p:spPr/>
        <p:txBody>
          <a:bodyPr/>
          <a:lstStyle/>
          <a:p>
            <a:r>
              <a:rPr lang="en-IN" dirty="0"/>
              <a:t>Decomposition Patterns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r>
              <a:rPr lang="en-US" dirty="0"/>
              <a:t>Microservices should be decomposed by business capability. A business capability often corresponds to a business object, ensuring that each microservice handles a specific aspect of the business.</a:t>
            </a:r>
          </a:p>
          <a:p>
            <a:pPr algn="just">
              <a:lnSpc>
                <a:spcPct val="100000"/>
              </a:lnSpc>
            </a:pPr>
            <a:r>
              <a:rPr lang="en-US" dirty="0"/>
              <a:t>Business capabilities of an online store include:</a:t>
            </a:r>
          </a:p>
          <a:p>
            <a:pPr lvl="1" algn="just">
              <a:lnSpc>
                <a:spcPct val="100000"/>
              </a:lnSpc>
            </a:pPr>
            <a:r>
              <a:rPr lang="en-US" dirty="0"/>
              <a:t>Authentication Management</a:t>
            </a:r>
          </a:p>
          <a:p>
            <a:pPr lvl="1" algn="just">
              <a:lnSpc>
                <a:spcPct val="100000"/>
              </a:lnSpc>
            </a:pPr>
            <a:r>
              <a:rPr lang="en-US" dirty="0"/>
              <a:t>Catalog Management</a:t>
            </a:r>
          </a:p>
          <a:p>
            <a:pPr lvl="1" algn="just">
              <a:lnSpc>
                <a:spcPct val="100000"/>
              </a:lnSpc>
            </a:pPr>
            <a:r>
              <a:rPr lang="en-US" dirty="0"/>
              <a:t>Order Management etc.</a:t>
            </a:r>
          </a:p>
        </p:txBody>
      </p:sp>
      <p:sp>
        <p:nvSpPr>
          <p:cNvPr id="4" name="Content Placeholder 3"/>
          <p:cNvSpPr>
            <a:spLocks noGrp="1"/>
          </p:cNvSpPr>
          <p:nvPr>
            <p:ph sz="half" idx="10"/>
          </p:nvPr>
        </p:nvSpPr>
        <p:spPr/>
        <p:txBody>
          <a:bodyPr/>
          <a:lstStyle/>
          <a:p>
            <a:r>
              <a:rPr lang="en-IN" dirty="0"/>
              <a:t>1. Decompose by Business Capability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lnSpc>
                <a:spcPct val="100000"/>
              </a:lnSpc>
            </a:pPr>
            <a:r>
              <a:rPr lang="en-US" sz="3000" dirty="0"/>
              <a:t>Domain-Driven Design (DDD) refers to the application’s problem space, the business as the domain. </a:t>
            </a:r>
          </a:p>
          <a:p>
            <a:pPr algn="just">
              <a:lnSpc>
                <a:spcPct val="100000"/>
              </a:lnSpc>
            </a:pPr>
            <a:r>
              <a:rPr lang="en-US" sz="3000" dirty="0"/>
              <a:t>A domain consists of multiple subdomains and each subdomain corresponds to a different part of the business. </a:t>
            </a:r>
          </a:p>
          <a:p>
            <a:pPr algn="just">
              <a:lnSpc>
                <a:spcPct val="100000"/>
              </a:lnSpc>
            </a:pPr>
            <a:r>
              <a:rPr lang="en-US" sz="3000" dirty="0"/>
              <a:t>The subdomains can be classified using the following criteria:</a:t>
            </a:r>
          </a:p>
          <a:p>
            <a:pPr lvl="1">
              <a:lnSpc>
                <a:spcPct val="100000"/>
              </a:lnSpc>
            </a:pPr>
            <a:r>
              <a:rPr lang="en-US" b="1" dirty="0"/>
              <a:t>Core</a:t>
            </a:r>
            <a:r>
              <a:rPr lang="en-US" dirty="0"/>
              <a:t>: Most important and key differentiator of an application.</a:t>
            </a:r>
          </a:p>
          <a:p>
            <a:pPr lvl="1">
              <a:lnSpc>
                <a:spcPct val="100000"/>
              </a:lnSpc>
            </a:pPr>
            <a:r>
              <a:rPr lang="en-US" b="1" dirty="0"/>
              <a:t>Support</a:t>
            </a:r>
            <a:r>
              <a:rPr lang="en-US" dirty="0"/>
              <a:t>: Business-related and are used to support business activities.</a:t>
            </a:r>
          </a:p>
          <a:p>
            <a:pPr lvl="1">
              <a:lnSpc>
                <a:spcPct val="100000"/>
              </a:lnSpc>
            </a:pPr>
            <a:r>
              <a:rPr lang="en-US" b="1" dirty="0"/>
              <a:t>Generic</a:t>
            </a:r>
            <a:r>
              <a:rPr lang="en-US" dirty="0"/>
              <a:t>: Not specific to business but is used to enhance business operations.</a:t>
            </a:r>
            <a:endParaRPr lang="en-US" sz="4700" dirty="0"/>
          </a:p>
        </p:txBody>
      </p:sp>
      <p:sp>
        <p:nvSpPr>
          <p:cNvPr id="4" name="Content Placeholder 3"/>
          <p:cNvSpPr>
            <a:spLocks noGrp="1"/>
          </p:cNvSpPr>
          <p:nvPr>
            <p:ph sz="half" idx="10"/>
          </p:nvPr>
        </p:nvSpPr>
        <p:spPr/>
        <p:txBody>
          <a:bodyPr/>
          <a:lstStyle/>
          <a:p>
            <a:r>
              <a:rPr lang="en-IN" dirty="0"/>
              <a:t>2. Decompose by Subdomain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2C1604-4B93-CFBE-0814-144AD4B71B92}"/>
              </a:ext>
            </a:extLst>
          </p:cNvPr>
          <p:cNvSpPr>
            <a:spLocks noGrp="1"/>
          </p:cNvSpPr>
          <p:nvPr>
            <p:ph sz="half" idx="1"/>
          </p:nvPr>
        </p:nvSpPr>
        <p:spPr/>
        <p:txBody>
          <a:bodyPr>
            <a:normAutofit/>
          </a:bodyPr>
          <a:lstStyle/>
          <a:p>
            <a:pPr>
              <a:lnSpc>
                <a:spcPct val="120000"/>
              </a:lnSpc>
            </a:pPr>
            <a:r>
              <a:rPr lang="en-US" sz="3200" dirty="0"/>
              <a:t>For example, the subdomains of an E-Commerce Domain application include:</a:t>
            </a:r>
          </a:p>
          <a:p>
            <a:pPr lvl="1">
              <a:lnSpc>
                <a:spcPct val="120000"/>
              </a:lnSpc>
            </a:pPr>
            <a:r>
              <a:rPr lang="en-US" dirty="0"/>
              <a:t>Catalog Management (Catalog Service)</a:t>
            </a:r>
          </a:p>
          <a:p>
            <a:pPr lvl="1">
              <a:lnSpc>
                <a:spcPct val="120000"/>
              </a:lnSpc>
            </a:pPr>
            <a:r>
              <a:rPr lang="en-US" dirty="0"/>
              <a:t>Inventory Management (Inventory Service)</a:t>
            </a:r>
          </a:p>
          <a:p>
            <a:pPr lvl="1">
              <a:lnSpc>
                <a:spcPct val="120000"/>
              </a:lnSpc>
            </a:pPr>
            <a:r>
              <a:rPr lang="en-US" dirty="0"/>
              <a:t>Order Management (Order Service)</a:t>
            </a:r>
          </a:p>
          <a:p>
            <a:pPr lvl="1">
              <a:lnSpc>
                <a:spcPct val="120000"/>
              </a:lnSpc>
            </a:pPr>
            <a:r>
              <a:rPr lang="en-US" dirty="0"/>
              <a:t>Delivery Management (Delivery Service)</a:t>
            </a:r>
          </a:p>
        </p:txBody>
      </p:sp>
      <p:sp>
        <p:nvSpPr>
          <p:cNvPr id="3" name="Content Placeholder 2">
            <a:extLst>
              <a:ext uri="{FF2B5EF4-FFF2-40B4-BE49-F238E27FC236}">
                <a16:creationId xmlns:a16="http://schemas.microsoft.com/office/drawing/2014/main" id="{69E3298C-D617-ED09-D2AA-F6593A125233}"/>
              </a:ext>
            </a:extLst>
          </p:cNvPr>
          <p:cNvSpPr>
            <a:spLocks noGrp="1"/>
          </p:cNvSpPr>
          <p:nvPr>
            <p:ph sz="half" idx="10"/>
          </p:nvPr>
        </p:nvSpPr>
        <p:spPr/>
        <p:txBody>
          <a:bodyPr/>
          <a:lstStyle/>
          <a:p>
            <a:r>
              <a:rPr lang="en-IN" dirty="0"/>
              <a:t>2. Decompose by Subdomain Contd..</a:t>
            </a:r>
          </a:p>
        </p:txBody>
      </p:sp>
    </p:spTree>
    <p:extLst>
      <p:ext uri="{BB962C8B-B14F-4D97-AF65-F5344CB8AC3E}">
        <p14:creationId xmlns:p14="http://schemas.microsoft.com/office/powerpoint/2010/main" val="230259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lstStyle/>
          <a:p>
            <a:r>
              <a:rPr lang="en-IN" dirty="0"/>
              <a:t>2.1 Decompose Traditional Data Model</a:t>
            </a:r>
          </a:p>
        </p:txBody>
      </p:sp>
      <p:sp>
        <p:nvSpPr>
          <p:cNvPr id="3" name="Content Placeholder 2">
            <a:extLst>
              <a:ext uri="{FF2B5EF4-FFF2-40B4-BE49-F238E27FC236}">
                <a16:creationId xmlns:a16="http://schemas.microsoft.com/office/drawing/2014/main" id="{EE540E35-97FA-434F-A1CC-A7BA6A958C8C}"/>
              </a:ext>
            </a:extLst>
          </p:cNvPr>
          <p:cNvSpPr>
            <a:spLocks noGrp="1"/>
          </p:cNvSpPr>
          <p:nvPr>
            <p:ph sz="half" idx="1"/>
          </p:nvPr>
        </p:nvSpPr>
        <p:spPr/>
        <p:txBody>
          <a:bodyPr/>
          <a:lstStyle/>
          <a:p>
            <a:r>
              <a:rPr lang="en-US" dirty="0"/>
              <a:t>Decompose traditional model into multiple domain models i.e. One domain model per microservice or bounded context.</a:t>
            </a:r>
          </a:p>
        </p:txBody>
      </p:sp>
      <p:grpSp>
        <p:nvGrpSpPr>
          <p:cNvPr id="8" name="Group 7">
            <a:extLst>
              <a:ext uri="{FF2B5EF4-FFF2-40B4-BE49-F238E27FC236}">
                <a16:creationId xmlns:a16="http://schemas.microsoft.com/office/drawing/2014/main" id="{5CE92FF2-B1BA-82DB-9BCB-AA69019D6DD7}"/>
              </a:ext>
            </a:extLst>
          </p:cNvPr>
          <p:cNvGrpSpPr/>
          <p:nvPr/>
        </p:nvGrpSpPr>
        <p:grpSpPr>
          <a:xfrm>
            <a:off x="2655843" y="2465521"/>
            <a:ext cx="5533032" cy="4041369"/>
            <a:chOff x="2655843" y="2551490"/>
            <a:chExt cx="5533032" cy="4041369"/>
          </a:xfrm>
        </p:grpSpPr>
        <p:sp>
          <p:nvSpPr>
            <p:cNvPr id="5" name="Rectangle 4">
              <a:extLst>
                <a:ext uri="{FF2B5EF4-FFF2-40B4-BE49-F238E27FC236}">
                  <a16:creationId xmlns:a16="http://schemas.microsoft.com/office/drawing/2014/main" id="{9428CC96-E05A-4068-B2EC-D21E9A182EEA}"/>
                </a:ext>
              </a:extLst>
            </p:cNvPr>
            <p:cNvSpPr/>
            <p:nvPr/>
          </p:nvSpPr>
          <p:spPr>
            <a:xfrm>
              <a:off x="6629023" y="2579319"/>
              <a:ext cx="1547263" cy="20412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F70EA41-F65F-4325-8FFD-977F730BAA54}"/>
                </a:ext>
              </a:extLst>
            </p:cNvPr>
            <p:cNvSpPr/>
            <p:nvPr/>
          </p:nvSpPr>
          <p:spPr>
            <a:xfrm>
              <a:off x="6781731" y="3887875"/>
              <a:ext cx="1227016" cy="66465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Product</a:t>
              </a:r>
            </a:p>
            <a:p>
              <a:r>
                <a:rPr lang="en-US" sz="1400" dirty="0"/>
                <a:t>-Id</a:t>
              </a:r>
            </a:p>
            <a:p>
              <a:r>
                <a:rPr lang="en-US" sz="1400" dirty="0"/>
                <a:t>-Description</a:t>
              </a:r>
            </a:p>
          </p:txBody>
        </p:sp>
        <p:sp>
          <p:nvSpPr>
            <p:cNvPr id="7" name="Rectangle 6">
              <a:extLst>
                <a:ext uri="{FF2B5EF4-FFF2-40B4-BE49-F238E27FC236}">
                  <a16:creationId xmlns:a16="http://schemas.microsoft.com/office/drawing/2014/main" id="{8455CCF5-03D6-4B70-AD2D-17E08866DC32}"/>
                </a:ext>
              </a:extLst>
            </p:cNvPr>
            <p:cNvSpPr/>
            <p:nvPr/>
          </p:nvSpPr>
          <p:spPr>
            <a:xfrm>
              <a:off x="6616435" y="4727077"/>
              <a:ext cx="1559851" cy="186578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AA49E79-F714-4928-96A3-22434981E846}"/>
                </a:ext>
              </a:extLst>
            </p:cNvPr>
            <p:cNvSpPr/>
            <p:nvPr/>
          </p:nvSpPr>
          <p:spPr>
            <a:xfrm>
              <a:off x="6773913" y="2890044"/>
              <a:ext cx="1227016" cy="91558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Buyer</a:t>
              </a:r>
            </a:p>
            <a:p>
              <a:r>
                <a:rPr lang="en-US" sz="1400" dirty="0"/>
                <a:t>-Id</a:t>
              </a:r>
            </a:p>
            <a:p>
              <a:r>
                <a:rPr lang="en-US" sz="1400" dirty="0"/>
                <a:t>-Name</a:t>
              </a:r>
            </a:p>
            <a:p>
              <a:r>
                <a:rPr lang="en-US" sz="1400" dirty="0"/>
                <a:t>-Address</a:t>
              </a:r>
            </a:p>
          </p:txBody>
        </p:sp>
        <p:sp>
          <p:nvSpPr>
            <p:cNvPr id="10" name="Rectangle 9">
              <a:extLst>
                <a:ext uri="{FF2B5EF4-FFF2-40B4-BE49-F238E27FC236}">
                  <a16:creationId xmlns:a16="http://schemas.microsoft.com/office/drawing/2014/main" id="{8641748B-5A07-4822-AF50-B69E14A7F155}"/>
                </a:ext>
              </a:extLst>
            </p:cNvPr>
            <p:cNvSpPr/>
            <p:nvPr/>
          </p:nvSpPr>
          <p:spPr>
            <a:xfrm>
              <a:off x="6789549" y="5820852"/>
              <a:ext cx="1227016" cy="705826"/>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Product</a:t>
              </a:r>
            </a:p>
            <a:p>
              <a:r>
                <a:rPr lang="en-US" sz="1400" dirty="0"/>
                <a:t>-Id</a:t>
              </a:r>
            </a:p>
            <a:p>
              <a:r>
                <a:rPr lang="en-US" sz="1400" dirty="0"/>
                <a:t>-Price</a:t>
              </a:r>
            </a:p>
          </p:txBody>
        </p:sp>
        <p:sp>
          <p:nvSpPr>
            <p:cNvPr id="11" name="Rectangle 10">
              <a:extLst>
                <a:ext uri="{FF2B5EF4-FFF2-40B4-BE49-F238E27FC236}">
                  <a16:creationId xmlns:a16="http://schemas.microsoft.com/office/drawing/2014/main" id="{B15D2D05-D09F-4873-9A36-33EFBAC6E97D}"/>
                </a:ext>
              </a:extLst>
            </p:cNvPr>
            <p:cNvSpPr/>
            <p:nvPr/>
          </p:nvSpPr>
          <p:spPr>
            <a:xfrm>
              <a:off x="6781731" y="5038438"/>
              <a:ext cx="1227016" cy="705826"/>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t>User</a:t>
              </a:r>
            </a:p>
            <a:p>
              <a:r>
                <a:rPr lang="en-US" sz="1400" dirty="0"/>
                <a:t>-Id</a:t>
              </a:r>
            </a:p>
            <a:p>
              <a:r>
                <a:rPr lang="en-US" sz="1400" dirty="0"/>
                <a:t>-Status</a:t>
              </a:r>
            </a:p>
          </p:txBody>
        </p:sp>
        <p:sp>
          <p:nvSpPr>
            <p:cNvPr id="12" name="Rectangle 11">
              <a:extLst>
                <a:ext uri="{FF2B5EF4-FFF2-40B4-BE49-F238E27FC236}">
                  <a16:creationId xmlns:a16="http://schemas.microsoft.com/office/drawing/2014/main" id="{5FF374EC-581B-4C3A-B0C1-987667F1B81D}"/>
                </a:ext>
              </a:extLst>
            </p:cNvPr>
            <p:cNvSpPr/>
            <p:nvPr/>
          </p:nvSpPr>
          <p:spPr>
            <a:xfrm>
              <a:off x="2655843" y="4833083"/>
              <a:ext cx="1227016" cy="127954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Product</a:t>
              </a:r>
              <a:endParaRPr lang="en-US" sz="1600" b="1" dirty="0"/>
            </a:p>
            <a:p>
              <a:r>
                <a:rPr lang="en-US" sz="1400" dirty="0"/>
                <a:t>-Id</a:t>
              </a:r>
            </a:p>
            <a:p>
              <a:r>
                <a:rPr lang="en-US" sz="1400" dirty="0"/>
                <a:t>-Description</a:t>
              </a:r>
            </a:p>
            <a:p>
              <a:r>
                <a:rPr lang="en-US" sz="1400" dirty="0"/>
                <a:t>-Price</a:t>
              </a:r>
            </a:p>
            <a:p>
              <a:r>
                <a:rPr lang="en-US" sz="1400" dirty="0"/>
                <a:t>…..</a:t>
              </a:r>
            </a:p>
          </p:txBody>
        </p:sp>
        <p:sp>
          <p:nvSpPr>
            <p:cNvPr id="13" name="Rectangle 12">
              <a:extLst>
                <a:ext uri="{FF2B5EF4-FFF2-40B4-BE49-F238E27FC236}">
                  <a16:creationId xmlns:a16="http://schemas.microsoft.com/office/drawing/2014/main" id="{4D001B6F-128B-4058-B685-5444237493F2}"/>
                </a:ext>
              </a:extLst>
            </p:cNvPr>
            <p:cNvSpPr/>
            <p:nvPr/>
          </p:nvSpPr>
          <p:spPr>
            <a:xfrm>
              <a:off x="2655843" y="2951856"/>
              <a:ext cx="1227016" cy="1509204"/>
            </a:xfrm>
            <a:prstGeom prst="rect">
              <a:avLst/>
            </a:prstGeom>
            <a:solidFill>
              <a:schemeClr val="tx2">
                <a:lumMod val="75000"/>
                <a:lumOff val="2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t>User</a:t>
              </a:r>
              <a:endParaRPr lang="en-US" sz="1600" b="1" dirty="0"/>
            </a:p>
            <a:p>
              <a:r>
                <a:rPr lang="en-US" sz="1400" dirty="0"/>
                <a:t>-Id</a:t>
              </a:r>
            </a:p>
            <a:p>
              <a:r>
                <a:rPr lang="en-US" sz="1400" dirty="0"/>
                <a:t>-Name</a:t>
              </a:r>
            </a:p>
            <a:p>
              <a:r>
                <a:rPr lang="en-US" sz="1400" dirty="0"/>
                <a:t>-Address</a:t>
              </a:r>
            </a:p>
            <a:p>
              <a:r>
                <a:rPr lang="en-US" sz="1400" dirty="0"/>
                <a:t>-Status</a:t>
              </a:r>
            </a:p>
            <a:p>
              <a:r>
                <a:rPr lang="en-US" sz="1400" dirty="0"/>
                <a:t>…..</a:t>
              </a:r>
            </a:p>
          </p:txBody>
        </p:sp>
        <p:sp>
          <p:nvSpPr>
            <p:cNvPr id="14" name="TextBox 13">
              <a:extLst>
                <a:ext uri="{FF2B5EF4-FFF2-40B4-BE49-F238E27FC236}">
                  <a16:creationId xmlns:a16="http://schemas.microsoft.com/office/drawing/2014/main" id="{1D3F7DFB-34FC-4A2E-918D-8732C5430CED}"/>
                </a:ext>
              </a:extLst>
            </p:cNvPr>
            <p:cNvSpPr txBox="1"/>
            <p:nvPr/>
          </p:nvSpPr>
          <p:spPr>
            <a:xfrm>
              <a:off x="6629024" y="2551490"/>
              <a:ext cx="1493499" cy="307777"/>
            </a:xfrm>
            <a:prstGeom prst="rect">
              <a:avLst/>
            </a:prstGeom>
            <a:noFill/>
          </p:spPr>
          <p:txBody>
            <a:bodyPr wrap="square" rtlCol="0">
              <a:spAutoFit/>
            </a:bodyPr>
            <a:lstStyle/>
            <a:p>
              <a:r>
                <a:rPr lang="en-US" sz="1400" dirty="0"/>
                <a:t> Order Service</a:t>
              </a:r>
            </a:p>
          </p:txBody>
        </p:sp>
        <p:sp>
          <p:nvSpPr>
            <p:cNvPr id="15" name="TextBox 14">
              <a:extLst>
                <a:ext uri="{FF2B5EF4-FFF2-40B4-BE49-F238E27FC236}">
                  <a16:creationId xmlns:a16="http://schemas.microsoft.com/office/drawing/2014/main" id="{DC8D5944-0723-4B14-AA8C-1AF026D036B2}"/>
                </a:ext>
              </a:extLst>
            </p:cNvPr>
            <p:cNvSpPr txBox="1"/>
            <p:nvPr/>
          </p:nvSpPr>
          <p:spPr>
            <a:xfrm>
              <a:off x="6629024" y="4701600"/>
              <a:ext cx="1559851" cy="307777"/>
            </a:xfrm>
            <a:prstGeom prst="rect">
              <a:avLst/>
            </a:prstGeom>
            <a:noFill/>
          </p:spPr>
          <p:txBody>
            <a:bodyPr wrap="square" rtlCol="0">
              <a:spAutoFit/>
            </a:bodyPr>
            <a:lstStyle/>
            <a:p>
              <a:r>
                <a:rPr lang="en-US" sz="1400" dirty="0"/>
                <a:t>Payment Service</a:t>
              </a:r>
            </a:p>
          </p:txBody>
        </p:sp>
        <p:cxnSp>
          <p:nvCxnSpPr>
            <p:cNvPr id="17" name="Straight Arrow Connector 16">
              <a:extLst>
                <a:ext uri="{FF2B5EF4-FFF2-40B4-BE49-F238E27FC236}">
                  <a16:creationId xmlns:a16="http://schemas.microsoft.com/office/drawing/2014/main" id="{1E03A089-9A1F-4E9B-9615-B457943EA42A}"/>
                </a:ext>
              </a:extLst>
            </p:cNvPr>
            <p:cNvCxnSpPr>
              <a:cxnSpLocks/>
              <a:stCxn id="13" idx="3"/>
            </p:cNvCxnSpPr>
            <p:nvPr/>
          </p:nvCxnSpPr>
          <p:spPr>
            <a:xfrm flipV="1">
              <a:off x="3882859" y="3266691"/>
              <a:ext cx="2726619" cy="439767"/>
            </a:xfrm>
            <a:prstGeom prst="straightConnector1">
              <a:avLst/>
            </a:prstGeom>
            <a:ln w="285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2D5C4D3-4230-4599-9720-F3FF51132F66}"/>
                </a:ext>
              </a:extLst>
            </p:cNvPr>
            <p:cNvCxnSpPr>
              <a:cxnSpLocks/>
              <a:stCxn id="13" idx="3"/>
            </p:cNvCxnSpPr>
            <p:nvPr/>
          </p:nvCxnSpPr>
          <p:spPr>
            <a:xfrm>
              <a:off x="3882859" y="3706458"/>
              <a:ext cx="2726619" cy="1687080"/>
            </a:xfrm>
            <a:prstGeom prst="straightConnector1">
              <a:avLst/>
            </a:prstGeom>
            <a:ln w="285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B7795D3-9E7C-4A3F-9835-5BA592427B88}"/>
                </a:ext>
              </a:extLst>
            </p:cNvPr>
            <p:cNvCxnSpPr>
              <a:cxnSpLocks/>
              <a:stCxn id="12" idx="3"/>
            </p:cNvCxnSpPr>
            <p:nvPr/>
          </p:nvCxnSpPr>
          <p:spPr>
            <a:xfrm>
              <a:off x="3882859" y="5472856"/>
              <a:ext cx="2726619" cy="744041"/>
            </a:xfrm>
            <a:prstGeom prst="straightConnector1">
              <a:avLst/>
            </a:prstGeom>
            <a:ln w="285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AF439C9-EA84-4837-9429-4D0051D365CD}"/>
                </a:ext>
              </a:extLst>
            </p:cNvPr>
            <p:cNvCxnSpPr>
              <a:cxnSpLocks/>
              <a:stCxn id="12" idx="3"/>
            </p:cNvCxnSpPr>
            <p:nvPr/>
          </p:nvCxnSpPr>
          <p:spPr>
            <a:xfrm flipV="1">
              <a:off x="3882859" y="4188906"/>
              <a:ext cx="2726619" cy="1283950"/>
            </a:xfrm>
            <a:prstGeom prst="straightConnector1">
              <a:avLst/>
            </a:prstGeom>
            <a:ln w="285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89933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627CE-9082-6E64-AB67-FDD48CF98A00}"/>
              </a:ext>
            </a:extLst>
          </p:cNvPr>
          <p:cNvSpPr>
            <a:spLocks noGrp="1"/>
          </p:cNvSpPr>
          <p:nvPr>
            <p:ph sz="half" idx="10"/>
          </p:nvPr>
        </p:nvSpPr>
        <p:spPr>
          <a:xfrm>
            <a:off x="493295" y="431324"/>
            <a:ext cx="11122056" cy="534839"/>
          </a:xfrm>
        </p:spPr>
        <p:txBody>
          <a:bodyPr anchor="t">
            <a:normAutofit/>
          </a:bodyPr>
          <a:lstStyle/>
          <a:p>
            <a:r>
              <a:rPr lang="en-US" dirty="0"/>
              <a:t>Decomposing by business capability VS. by subdomain</a:t>
            </a:r>
          </a:p>
        </p:txBody>
      </p:sp>
      <p:graphicFrame>
        <p:nvGraphicFramePr>
          <p:cNvPr id="5" name="Content Placeholder 1">
            <a:extLst>
              <a:ext uri="{FF2B5EF4-FFF2-40B4-BE49-F238E27FC236}">
                <a16:creationId xmlns:a16="http://schemas.microsoft.com/office/drawing/2014/main" id="{B1CEFA50-7FBF-2CA0-865E-7C58A6904444}"/>
              </a:ext>
            </a:extLst>
          </p:cNvPr>
          <p:cNvGraphicFramePr>
            <a:graphicFrameLocks noGrp="1"/>
          </p:cNvGraphicFramePr>
          <p:nvPr>
            <p:ph sz="half" idx="1"/>
            <p:extLst>
              <p:ext uri="{D42A27DB-BD31-4B8C-83A1-F6EECF244321}">
                <p14:modId xmlns:p14="http://schemas.microsoft.com/office/powerpoint/2010/main" val="345609020"/>
              </p:ext>
            </p:extLst>
          </p:nvPr>
        </p:nvGraphicFramePr>
        <p:xfrm>
          <a:off x="493295" y="1268098"/>
          <a:ext cx="11122056" cy="4877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6381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6" y="1272484"/>
            <a:ext cx="8229686" cy="4877624"/>
          </a:xfrm>
        </p:spPr>
        <p:txBody>
          <a:bodyPr>
            <a:normAutofit/>
          </a:bodyPr>
          <a:lstStyle/>
          <a:p>
            <a:pPr algn="just">
              <a:lnSpc>
                <a:spcPct val="100000"/>
              </a:lnSpc>
            </a:pPr>
            <a:r>
              <a:rPr lang="en-US" sz="2400" dirty="0"/>
              <a:t>This pattern is used to decompose an existing, monolithic application. Since applying all the above design patterns to them will be difficult because breaking them into smaller pieces at the same time it's being used live is a big task.</a:t>
            </a:r>
          </a:p>
          <a:p>
            <a:pPr algn="just">
              <a:lnSpc>
                <a:spcPct val="100000"/>
              </a:lnSpc>
            </a:pPr>
            <a:r>
              <a:rPr lang="en-US" sz="2400" dirty="0"/>
              <a:t>The Strangler pattern creates two separate applications that live side by side in the same URI space. Over time, the newly refactored application “strangles” or replaces the existing monolithic application.</a:t>
            </a:r>
          </a:p>
        </p:txBody>
      </p:sp>
      <p:sp>
        <p:nvSpPr>
          <p:cNvPr id="4" name="Content Placeholder 3"/>
          <p:cNvSpPr>
            <a:spLocks noGrp="1"/>
          </p:cNvSpPr>
          <p:nvPr>
            <p:ph sz="half" idx="10"/>
          </p:nvPr>
        </p:nvSpPr>
        <p:spPr/>
        <p:txBody>
          <a:bodyPr/>
          <a:lstStyle/>
          <a:p>
            <a:r>
              <a:rPr lang="en-IN" dirty="0"/>
              <a:t>3. Strangler Pattern</a:t>
            </a:r>
          </a:p>
        </p:txBody>
      </p:sp>
      <p:grpSp>
        <p:nvGrpSpPr>
          <p:cNvPr id="5" name="Group 4">
            <a:extLst>
              <a:ext uri="{FF2B5EF4-FFF2-40B4-BE49-F238E27FC236}">
                <a16:creationId xmlns:a16="http://schemas.microsoft.com/office/drawing/2014/main" id="{E3626EB6-0E00-C29C-574C-22A6D7CF43C4}"/>
              </a:ext>
            </a:extLst>
          </p:cNvPr>
          <p:cNvGrpSpPr/>
          <p:nvPr/>
        </p:nvGrpSpPr>
        <p:grpSpPr>
          <a:xfrm>
            <a:off x="9332521" y="1260726"/>
            <a:ext cx="2493945" cy="4889382"/>
            <a:chOff x="9615393" y="1488467"/>
            <a:chExt cx="2493945" cy="4889382"/>
          </a:xfrm>
        </p:grpSpPr>
        <p:pic>
          <p:nvPicPr>
            <p:cNvPr id="8" name="Picture 7">
              <a:extLst>
                <a:ext uri="{FF2B5EF4-FFF2-40B4-BE49-F238E27FC236}">
                  <a16:creationId xmlns:a16="http://schemas.microsoft.com/office/drawing/2014/main" id="{BEAF76E1-C72B-4B44-8DCF-2770CA5A19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5393" y="1488467"/>
              <a:ext cx="2493945" cy="4505932"/>
            </a:xfrm>
            <a:prstGeom prst="rect">
              <a:avLst/>
            </a:prstGeom>
          </p:spPr>
        </p:pic>
        <p:sp>
          <p:nvSpPr>
            <p:cNvPr id="2" name="TextBox 1">
              <a:extLst>
                <a:ext uri="{FF2B5EF4-FFF2-40B4-BE49-F238E27FC236}">
                  <a16:creationId xmlns:a16="http://schemas.microsoft.com/office/drawing/2014/main" id="{A34B5A48-060F-040B-08EA-35E0AAF12128}"/>
                </a:ext>
              </a:extLst>
            </p:cNvPr>
            <p:cNvSpPr txBox="1"/>
            <p:nvPr/>
          </p:nvSpPr>
          <p:spPr>
            <a:xfrm>
              <a:off x="10197471" y="6008517"/>
              <a:ext cx="1329788" cy="369332"/>
            </a:xfrm>
            <a:prstGeom prst="rect">
              <a:avLst/>
            </a:prstGeom>
            <a:noFill/>
          </p:spPr>
          <p:txBody>
            <a:bodyPr wrap="none" rtlCol="0">
              <a:spAutoFit/>
            </a:bodyPr>
            <a:lstStyle/>
            <a:p>
              <a:r>
                <a:rPr lang="en-US" b="0" i="0" dirty="0">
                  <a:solidFill>
                    <a:srgbClr val="111111"/>
                  </a:solidFill>
                  <a:effectLst/>
                  <a:highlight>
                    <a:srgbClr val="FFFFFF"/>
                  </a:highlight>
                  <a:latin typeface="-apple-system"/>
                </a:rPr>
                <a:t>Banyan Tree</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5C8656-6482-4452-8E17-309087F8237A}"/>
              </a:ext>
            </a:extLst>
          </p:cNvPr>
          <p:cNvSpPr>
            <a:spLocks noGrp="1"/>
          </p:cNvSpPr>
          <p:nvPr>
            <p:ph sz="half" idx="10"/>
          </p:nvPr>
        </p:nvSpPr>
        <p:spPr/>
        <p:txBody>
          <a:bodyPr/>
          <a:lstStyle/>
          <a:p>
            <a:r>
              <a:rPr lang="en-IN" dirty="0"/>
              <a:t>3.1 Strangler Pattern</a:t>
            </a:r>
          </a:p>
        </p:txBody>
      </p:sp>
      <p:grpSp>
        <p:nvGrpSpPr>
          <p:cNvPr id="48" name="Group 47">
            <a:extLst>
              <a:ext uri="{FF2B5EF4-FFF2-40B4-BE49-F238E27FC236}">
                <a16:creationId xmlns:a16="http://schemas.microsoft.com/office/drawing/2014/main" id="{B7FFB1FB-1AD5-4E58-98D4-AE4854A33D2C}"/>
              </a:ext>
            </a:extLst>
          </p:cNvPr>
          <p:cNvGrpSpPr/>
          <p:nvPr/>
        </p:nvGrpSpPr>
        <p:grpSpPr>
          <a:xfrm>
            <a:off x="2143652" y="4703459"/>
            <a:ext cx="5471371" cy="1518081"/>
            <a:chOff x="1580226" y="4894732"/>
            <a:chExt cx="5471371" cy="1518081"/>
          </a:xfrm>
        </p:grpSpPr>
        <p:sp>
          <p:nvSpPr>
            <p:cNvPr id="6" name="Rectangle 5">
              <a:extLst>
                <a:ext uri="{FF2B5EF4-FFF2-40B4-BE49-F238E27FC236}">
                  <a16:creationId xmlns:a16="http://schemas.microsoft.com/office/drawing/2014/main" id="{FF19AC8C-02AA-4ECA-8FE6-71DECC1EBAEA}"/>
                </a:ext>
              </a:extLst>
            </p:cNvPr>
            <p:cNvSpPr/>
            <p:nvPr/>
          </p:nvSpPr>
          <p:spPr>
            <a:xfrm>
              <a:off x="1580226" y="4894732"/>
              <a:ext cx="870012" cy="151808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7" name="Rectangle 6">
              <a:extLst>
                <a:ext uri="{FF2B5EF4-FFF2-40B4-BE49-F238E27FC236}">
                  <a16:creationId xmlns:a16="http://schemas.microsoft.com/office/drawing/2014/main" id="{85D10F09-4142-4E8A-8F9B-7176F8C8ABC7}"/>
                </a:ext>
              </a:extLst>
            </p:cNvPr>
            <p:cNvSpPr/>
            <p:nvPr/>
          </p:nvSpPr>
          <p:spPr>
            <a:xfrm>
              <a:off x="2762436" y="4894732"/>
              <a:ext cx="870012" cy="11629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8" name="Rectangle 7">
              <a:extLst>
                <a:ext uri="{FF2B5EF4-FFF2-40B4-BE49-F238E27FC236}">
                  <a16:creationId xmlns:a16="http://schemas.microsoft.com/office/drawing/2014/main" id="{E948F437-BBD9-4A15-A06F-92943F9502C9}"/>
                </a:ext>
              </a:extLst>
            </p:cNvPr>
            <p:cNvSpPr/>
            <p:nvPr/>
          </p:nvSpPr>
          <p:spPr>
            <a:xfrm>
              <a:off x="4047970" y="4894732"/>
              <a:ext cx="870012" cy="81674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10" name="Rectangle 9">
              <a:extLst>
                <a:ext uri="{FF2B5EF4-FFF2-40B4-BE49-F238E27FC236}">
                  <a16:creationId xmlns:a16="http://schemas.microsoft.com/office/drawing/2014/main" id="{9C508677-68C4-4232-A323-21091EE69801}"/>
                </a:ext>
              </a:extLst>
            </p:cNvPr>
            <p:cNvSpPr/>
            <p:nvPr/>
          </p:nvSpPr>
          <p:spPr>
            <a:xfrm>
              <a:off x="6181585" y="4894733"/>
              <a:ext cx="870012" cy="39061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34" name="Rectangle 33">
              <a:extLst>
                <a:ext uri="{FF2B5EF4-FFF2-40B4-BE49-F238E27FC236}">
                  <a16:creationId xmlns:a16="http://schemas.microsoft.com/office/drawing/2014/main" id="{5B9BF1E9-A4F4-4AE6-9D55-AFF539832510}"/>
                </a:ext>
              </a:extLst>
            </p:cNvPr>
            <p:cNvSpPr/>
            <p:nvPr/>
          </p:nvSpPr>
          <p:spPr>
            <a:xfrm>
              <a:off x="5114777" y="4894732"/>
              <a:ext cx="870012" cy="390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10000"/>
                      <a:lumOff val="90000"/>
                    </a:schemeClr>
                  </a:solidFill>
                </a:rPr>
                <a:t>……</a:t>
              </a:r>
            </a:p>
          </p:txBody>
        </p:sp>
      </p:grpSp>
      <p:sp>
        <p:nvSpPr>
          <p:cNvPr id="36" name="Arrow: Right 35">
            <a:extLst>
              <a:ext uri="{FF2B5EF4-FFF2-40B4-BE49-F238E27FC236}">
                <a16:creationId xmlns:a16="http://schemas.microsoft.com/office/drawing/2014/main" id="{2A9980A4-BC86-4A17-84A2-20BE555BD22B}"/>
              </a:ext>
            </a:extLst>
          </p:cNvPr>
          <p:cNvSpPr/>
          <p:nvPr/>
        </p:nvSpPr>
        <p:spPr>
          <a:xfrm>
            <a:off x="2143652" y="4191837"/>
            <a:ext cx="7590407" cy="495584"/>
          </a:xfrm>
          <a:prstGeom prst="rightArrow">
            <a:avLst/>
          </a:prstGeom>
          <a:solidFill>
            <a:schemeClr val="bg1">
              <a:lumMod val="8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2">
                    <a:lumMod val="25000"/>
                  </a:schemeClr>
                </a:solidFill>
              </a:rPr>
              <a:t>        Time</a:t>
            </a:r>
          </a:p>
        </p:txBody>
      </p:sp>
      <p:grpSp>
        <p:nvGrpSpPr>
          <p:cNvPr id="47" name="Group 46">
            <a:extLst>
              <a:ext uri="{FF2B5EF4-FFF2-40B4-BE49-F238E27FC236}">
                <a16:creationId xmlns:a16="http://schemas.microsoft.com/office/drawing/2014/main" id="{312D17B3-D30E-435D-B557-E1311BB689B8}"/>
              </a:ext>
            </a:extLst>
          </p:cNvPr>
          <p:cNvGrpSpPr/>
          <p:nvPr/>
        </p:nvGrpSpPr>
        <p:grpSpPr>
          <a:xfrm>
            <a:off x="5706075" y="5908423"/>
            <a:ext cx="3355056" cy="313117"/>
            <a:chOff x="5185613" y="6215054"/>
            <a:chExt cx="3355056" cy="313117"/>
          </a:xfrm>
        </p:grpSpPr>
        <p:sp>
          <p:nvSpPr>
            <p:cNvPr id="38" name="Oval 37">
              <a:extLst>
                <a:ext uri="{FF2B5EF4-FFF2-40B4-BE49-F238E27FC236}">
                  <a16:creationId xmlns:a16="http://schemas.microsoft.com/office/drawing/2014/main" id="{3E8F51A7-5042-4B1C-9BBE-6CD531ABAD28}"/>
                </a:ext>
              </a:extLst>
            </p:cNvPr>
            <p:cNvSpPr/>
            <p:nvPr/>
          </p:nvSpPr>
          <p:spPr>
            <a:xfrm>
              <a:off x="5185613" y="6283613"/>
              <a:ext cx="185192" cy="183271"/>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517FB80-9E5C-4C34-9541-CAD49E977DEA}"/>
                </a:ext>
              </a:extLst>
            </p:cNvPr>
            <p:cNvSpPr txBox="1"/>
            <p:nvPr/>
          </p:nvSpPr>
          <p:spPr>
            <a:xfrm>
              <a:off x="5370436" y="6215054"/>
              <a:ext cx="1537600" cy="307777"/>
            </a:xfrm>
            <a:prstGeom prst="rect">
              <a:avLst/>
            </a:prstGeom>
            <a:noFill/>
          </p:spPr>
          <p:txBody>
            <a:bodyPr wrap="none" rtlCol="0">
              <a:spAutoFit/>
            </a:bodyPr>
            <a:lstStyle/>
            <a:p>
              <a:r>
                <a:rPr lang="en-US" sz="1400" dirty="0">
                  <a:solidFill>
                    <a:schemeClr val="tx2">
                      <a:lumMod val="10000"/>
                      <a:lumOff val="90000"/>
                    </a:schemeClr>
                  </a:solidFill>
                </a:rPr>
                <a:t>Existing Features</a:t>
              </a:r>
            </a:p>
          </p:txBody>
        </p:sp>
        <p:sp>
          <p:nvSpPr>
            <p:cNvPr id="39" name="Oval 38">
              <a:extLst>
                <a:ext uri="{FF2B5EF4-FFF2-40B4-BE49-F238E27FC236}">
                  <a16:creationId xmlns:a16="http://schemas.microsoft.com/office/drawing/2014/main" id="{DBBD7DDC-9694-4617-9DFD-483FA7F33177}"/>
                </a:ext>
              </a:extLst>
            </p:cNvPr>
            <p:cNvSpPr/>
            <p:nvPr/>
          </p:nvSpPr>
          <p:spPr>
            <a:xfrm>
              <a:off x="7051597" y="6282648"/>
              <a:ext cx="185192" cy="18327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38E64B1-89B2-47C3-9961-5D98FFE38602}"/>
                </a:ext>
              </a:extLst>
            </p:cNvPr>
            <p:cNvSpPr txBox="1"/>
            <p:nvPr/>
          </p:nvSpPr>
          <p:spPr>
            <a:xfrm>
              <a:off x="7264358" y="6220394"/>
              <a:ext cx="1276311" cy="307777"/>
            </a:xfrm>
            <a:prstGeom prst="rect">
              <a:avLst/>
            </a:prstGeom>
            <a:noFill/>
          </p:spPr>
          <p:txBody>
            <a:bodyPr wrap="none" rtlCol="0">
              <a:spAutoFit/>
            </a:bodyPr>
            <a:lstStyle/>
            <a:p>
              <a:r>
                <a:rPr lang="en-US" sz="1400" dirty="0">
                  <a:solidFill>
                    <a:schemeClr val="tx2">
                      <a:lumMod val="10000"/>
                      <a:lumOff val="90000"/>
                    </a:schemeClr>
                  </a:solidFill>
                </a:rPr>
                <a:t>New Features</a:t>
              </a:r>
            </a:p>
          </p:txBody>
        </p:sp>
      </p:grpSp>
      <p:grpSp>
        <p:nvGrpSpPr>
          <p:cNvPr id="49" name="Group 48">
            <a:extLst>
              <a:ext uri="{FF2B5EF4-FFF2-40B4-BE49-F238E27FC236}">
                <a16:creationId xmlns:a16="http://schemas.microsoft.com/office/drawing/2014/main" id="{285E20C9-D579-4D11-91FB-48D5466811A5}"/>
              </a:ext>
            </a:extLst>
          </p:cNvPr>
          <p:cNvGrpSpPr/>
          <p:nvPr/>
        </p:nvGrpSpPr>
        <p:grpSpPr>
          <a:xfrm>
            <a:off x="3172971" y="1229712"/>
            <a:ext cx="6063599" cy="3032293"/>
            <a:chOff x="2592128" y="1596715"/>
            <a:chExt cx="6063599" cy="3032293"/>
          </a:xfrm>
        </p:grpSpPr>
        <p:sp>
          <p:nvSpPr>
            <p:cNvPr id="11" name="Rectangle 10">
              <a:extLst>
                <a:ext uri="{FF2B5EF4-FFF2-40B4-BE49-F238E27FC236}">
                  <a16:creationId xmlns:a16="http://schemas.microsoft.com/office/drawing/2014/main" id="{3A607677-997F-4E7E-896F-FC14B6443724}"/>
                </a:ext>
              </a:extLst>
            </p:cNvPr>
            <p:cNvSpPr/>
            <p:nvPr/>
          </p:nvSpPr>
          <p:spPr>
            <a:xfrm>
              <a:off x="2762436"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2" name="Rectangle 11">
              <a:extLst>
                <a:ext uri="{FF2B5EF4-FFF2-40B4-BE49-F238E27FC236}">
                  <a16:creationId xmlns:a16="http://schemas.microsoft.com/office/drawing/2014/main" id="{E47A41BF-5D00-41F5-B78A-C1FAE53F3B99}"/>
                </a:ext>
              </a:extLst>
            </p:cNvPr>
            <p:cNvSpPr/>
            <p:nvPr/>
          </p:nvSpPr>
          <p:spPr>
            <a:xfrm>
              <a:off x="2762436" y="3708642"/>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8" name="Rectangle 17">
              <a:extLst>
                <a:ext uri="{FF2B5EF4-FFF2-40B4-BE49-F238E27FC236}">
                  <a16:creationId xmlns:a16="http://schemas.microsoft.com/office/drawing/2014/main" id="{B10D09D6-A0E0-4251-B837-C22C18711FC7}"/>
                </a:ext>
              </a:extLst>
            </p:cNvPr>
            <p:cNvSpPr/>
            <p:nvPr/>
          </p:nvSpPr>
          <p:spPr>
            <a:xfrm>
              <a:off x="4047970"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9" name="Rectangle 18">
              <a:extLst>
                <a:ext uri="{FF2B5EF4-FFF2-40B4-BE49-F238E27FC236}">
                  <a16:creationId xmlns:a16="http://schemas.microsoft.com/office/drawing/2014/main" id="{42BAF883-268C-4FE3-926C-CBD386733687}"/>
                </a:ext>
              </a:extLst>
            </p:cNvPr>
            <p:cNvSpPr/>
            <p:nvPr/>
          </p:nvSpPr>
          <p:spPr>
            <a:xfrm>
              <a:off x="4047970"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0" name="Rectangle 19">
              <a:extLst>
                <a:ext uri="{FF2B5EF4-FFF2-40B4-BE49-F238E27FC236}">
                  <a16:creationId xmlns:a16="http://schemas.microsoft.com/office/drawing/2014/main" id="{3EFA0E0F-EAFA-4E8B-AA84-F9D39D98F804}"/>
                </a:ext>
              </a:extLst>
            </p:cNvPr>
            <p:cNvSpPr/>
            <p:nvPr/>
          </p:nvSpPr>
          <p:spPr>
            <a:xfrm>
              <a:off x="6154704"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1" name="Rectangle 20">
              <a:extLst>
                <a:ext uri="{FF2B5EF4-FFF2-40B4-BE49-F238E27FC236}">
                  <a16:creationId xmlns:a16="http://schemas.microsoft.com/office/drawing/2014/main" id="{F7A13538-4FE0-4371-9A6B-742C2FAF169C}"/>
                </a:ext>
              </a:extLst>
            </p:cNvPr>
            <p:cNvSpPr/>
            <p:nvPr/>
          </p:nvSpPr>
          <p:spPr>
            <a:xfrm>
              <a:off x="6154704"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2" name="Rectangle 21">
              <a:extLst>
                <a:ext uri="{FF2B5EF4-FFF2-40B4-BE49-F238E27FC236}">
                  <a16:creationId xmlns:a16="http://schemas.microsoft.com/office/drawing/2014/main" id="{9DB5159C-528F-4A6D-A7A4-E63C60D21FFA}"/>
                </a:ext>
              </a:extLst>
            </p:cNvPr>
            <p:cNvSpPr/>
            <p:nvPr/>
          </p:nvSpPr>
          <p:spPr>
            <a:xfrm>
              <a:off x="7591639"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3" name="Rectangle 22">
              <a:extLst>
                <a:ext uri="{FF2B5EF4-FFF2-40B4-BE49-F238E27FC236}">
                  <a16:creationId xmlns:a16="http://schemas.microsoft.com/office/drawing/2014/main" id="{5E52FB2D-99F9-4444-A3BA-0E82C7069FC9}"/>
                </a:ext>
              </a:extLst>
            </p:cNvPr>
            <p:cNvSpPr/>
            <p:nvPr/>
          </p:nvSpPr>
          <p:spPr>
            <a:xfrm>
              <a:off x="7591639"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4" name="Rectangle 23">
              <a:extLst>
                <a:ext uri="{FF2B5EF4-FFF2-40B4-BE49-F238E27FC236}">
                  <a16:creationId xmlns:a16="http://schemas.microsoft.com/office/drawing/2014/main" id="{3C50A693-6BAE-4C52-BEA0-1AA29BCB724A}"/>
                </a:ext>
              </a:extLst>
            </p:cNvPr>
            <p:cNvSpPr/>
            <p:nvPr/>
          </p:nvSpPr>
          <p:spPr>
            <a:xfrm>
              <a:off x="4047970" y="3298790"/>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6" name="Rectangle 25">
              <a:extLst>
                <a:ext uri="{FF2B5EF4-FFF2-40B4-BE49-F238E27FC236}">
                  <a16:creationId xmlns:a16="http://schemas.microsoft.com/office/drawing/2014/main" id="{7FD39A4D-C52C-4779-B739-17309B6A0CE6}"/>
                </a:ext>
              </a:extLst>
            </p:cNvPr>
            <p:cNvSpPr/>
            <p:nvPr/>
          </p:nvSpPr>
          <p:spPr>
            <a:xfrm>
              <a:off x="6154704" y="329879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7" name="Rectangle 26">
              <a:extLst>
                <a:ext uri="{FF2B5EF4-FFF2-40B4-BE49-F238E27FC236}">
                  <a16:creationId xmlns:a16="http://schemas.microsoft.com/office/drawing/2014/main" id="{9B624CC3-30EC-4D8F-B5BC-5274AA68BC99}"/>
                </a:ext>
              </a:extLst>
            </p:cNvPr>
            <p:cNvSpPr/>
            <p:nvPr/>
          </p:nvSpPr>
          <p:spPr>
            <a:xfrm>
              <a:off x="6154704" y="2888940"/>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8" name="Rectangle 27">
              <a:extLst>
                <a:ext uri="{FF2B5EF4-FFF2-40B4-BE49-F238E27FC236}">
                  <a16:creationId xmlns:a16="http://schemas.microsoft.com/office/drawing/2014/main" id="{E497FDFF-2A11-41B4-B0B8-4C0A6FF74F42}"/>
                </a:ext>
              </a:extLst>
            </p:cNvPr>
            <p:cNvSpPr/>
            <p:nvPr/>
          </p:nvSpPr>
          <p:spPr>
            <a:xfrm>
              <a:off x="7591639" y="329879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9" name="Rectangle 28">
              <a:extLst>
                <a:ext uri="{FF2B5EF4-FFF2-40B4-BE49-F238E27FC236}">
                  <a16:creationId xmlns:a16="http://schemas.microsoft.com/office/drawing/2014/main" id="{8E038B48-62C1-42DF-9CB7-EA2FB121D4CF}"/>
                </a:ext>
              </a:extLst>
            </p:cNvPr>
            <p:cNvSpPr/>
            <p:nvPr/>
          </p:nvSpPr>
          <p:spPr>
            <a:xfrm>
              <a:off x="7591639" y="288894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0" name="Rectangle 29">
              <a:extLst>
                <a:ext uri="{FF2B5EF4-FFF2-40B4-BE49-F238E27FC236}">
                  <a16:creationId xmlns:a16="http://schemas.microsoft.com/office/drawing/2014/main" id="{19C2B45F-6B54-4AD2-B205-81076D4D17E7}"/>
                </a:ext>
              </a:extLst>
            </p:cNvPr>
            <p:cNvSpPr/>
            <p:nvPr/>
          </p:nvSpPr>
          <p:spPr>
            <a:xfrm>
              <a:off x="7591639" y="2477879"/>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1" name="Rectangle 30">
              <a:extLst>
                <a:ext uri="{FF2B5EF4-FFF2-40B4-BE49-F238E27FC236}">
                  <a16:creationId xmlns:a16="http://schemas.microsoft.com/office/drawing/2014/main" id="{11AC5FE4-4F3F-4A6F-8250-9D02450F3409}"/>
                </a:ext>
              </a:extLst>
            </p:cNvPr>
            <p:cNvSpPr/>
            <p:nvPr/>
          </p:nvSpPr>
          <p:spPr>
            <a:xfrm>
              <a:off x="7591639" y="2076911"/>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2" name="Rectangle 31">
              <a:extLst>
                <a:ext uri="{FF2B5EF4-FFF2-40B4-BE49-F238E27FC236}">
                  <a16:creationId xmlns:a16="http://schemas.microsoft.com/office/drawing/2014/main" id="{CFF73446-A40B-4B93-9A40-107470224854}"/>
                </a:ext>
              </a:extLst>
            </p:cNvPr>
            <p:cNvSpPr/>
            <p:nvPr/>
          </p:nvSpPr>
          <p:spPr>
            <a:xfrm>
              <a:off x="6154704" y="2480933"/>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3" name="Rectangle 32">
              <a:extLst>
                <a:ext uri="{FF2B5EF4-FFF2-40B4-BE49-F238E27FC236}">
                  <a16:creationId xmlns:a16="http://schemas.microsoft.com/office/drawing/2014/main" id="{7F010409-9AB2-4477-89C7-DAEFBB0EF987}"/>
                </a:ext>
              </a:extLst>
            </p:cNvPr>
            <p:cNvSpPr/>
            <p:nvPr/>
          </p:nvSpPr>
          <p:spPr>
            <a:xfrm>
              <a:off x="7591639" y="1673082"/>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5" name="Rectangle 34">
              <a:extLst>
                <a:ext uri="{FF2B5EF4-FFF2-40B4-BE49-F238E27FC236}">
                  <a16:creationId xmlns:a16="http://schemas.microsoft.com/office/drawing/2014/main" id="{EF8CDA0B-4381-4584-BC86-86F1122CE772}"/>
                </a:ext>
              </a:extLst>
            </p:cNvPr>
            <p:cNvSpPr/>
            <p:nvPr/>
          </p:nvSpPr>
          <p:spPr>
            <a:xfrm>
              <a:off x="5114777" y="4074107"/>
              <a:ext cx="870012" cy="390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10000"/>
                      <a:lumOff val="90000"/>
                    </a:schemeClr>
                  </a:solidFill>
                </a:rPr>
                <a:t>……</a:t>
              </a:r>
            </a:p>
          </p:txBody>
        </p:sp>
        <p:sp>
          <p:nvSpPr>
            <p:cNvPr id="44" name="Rectangle 43">
              <a:extLst>
                <a:ext uri="{FF2B5EF4-FFF2-40B4-BE49-F238E27FC236}">
                  <a16:creationId xmlns:a16="http://schemas.microsoft.com/office/drawing/2014/main" id="{1FBF1998-3157-4C9E-8022-452024F10ABD}"/>
                </a:ext>
              </a:extLst>
            </p:cNvPr>
            <p:cNvSpPr/>
            <p:nvPr/>
          </p:nvSpPr>
          <p:spPr>
            <a:xfrm>
              <a:off x="2592128" y="1596715"/>
              <a:ext cx="6063599" cy="3032293"/>
            </a:xfrm>
            <a:prstGeom prst="rect">
              <a:avLst/>
            </a:prstGeom>
            <a:noFill/>
            <a:ln w="19050">
              <a:solidFill>
                <a:schemeClr val="tx2">
                  <a:lumMod val="10000"/>
                  <a:lumOff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AC52B7D6-8CD4-4B38-B933-74D6FD0583DC}"/>
                </a:ext>
              </a:extLst>
            </p:cNvPr>
            <p:cNvSpPr txBox="1"/>
            <p:nvPr/>
          </p:nvSpPr>
          <p:spPr>
            <a:xfrm>
              <a:off x="2683238" y="1663839"/>
              <a:ext cx="1819729" cy="307777"/>
            </a:xfrm>
            <a:prstGeom prst="rect">
              <a:avLst/>
            </a:prstGeom>
            <a:noFill/>
          </p:spPr>
          <p:txBody>
            <a:bodyPr wrap="none" rtlCol="0">
              <a:spAutoFit/>
            </a:bodyPr>
            <a:lstStyle/>
            <a:p>
              <a:r>
                <a:rPr lang="en-US" sz="1400" dirty="0">
                  <a:solidFill>
                    <a:schemeClr val="tx2">
                      <a:lumMod val="10000"/>
                      <a:lumOff val="90000"/>
                    </a:schemeClr>
                  </a:solidFill>
                </a:rPr>
                <a:t>Strangler Application</a:t>
              </a:r>
            </a:p>
          </p:txBody>
        </p:sp>
      </p:grpSp>
    </p:spTree>
    <p:extLst>
      <p:ext uri="{BB962C8B-B14F-4D97-AF65-F5344CB8AC3E}">
        <p14:creationId xmlns:p14="http://schemas.microsoft.com/office/powerpoint/2010/main" val="330730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marL="0" indent="0" algn="just">
              <a:lnSpc>
                <a:spcPct val="110000"/>
              </a:lnSpc>
              <a:buNone/>
            </a:pPr>
            <a:r>
              <a:rPr lang="en-US" b="1" dirty="0"/>
              <a:t>Problem:</a:t>
            </a:r>
            <a:r>
              <a:rPr lang="en-US" dirty="0"/>
              <a:t> When an application is broken down into smaller microservices, there are a few concerns that need to be addressed: </a:t>
            </a:r>
          </a:p>
          <a:p>
            <a:pPr lvl="1">
              <a:lnSpc>
                <a:spcPct val="110000"/>
              </a:lnSpc>
            </a:pPr>
            <a:r>
              <a:rPr lang="en-US" dirty="0"/>
              <a:t>There are multiple calls for multiple microservices by different channels</a:t>
            </a:r>
          </a:p>
          <a:p>
            <a:pPr lvl="1">
              <a:lnSpc>
                <a:spcPct val="110000"/>
              </a:lnSpc>
            </a:pPr>
            <a:r>
              <a:rPr lang="en-US" dirty="0"/>
              <a:t>There is a need for handling different types of Protocols</a:t>
            </a:r>
          </a:p>
          <a:p>
            <a:pPr lvl="1">
              <a:lnSpc>
                <a:spcPct val="110000"/>
              </a:lnSpc>
            </a:pPr>
            <a:r>
              <a:rPr lang="en-US" dirty="0"/>
              <a:t>Different consumers might need a different format of the responses</a:t>
            </a:r>
            <a:endParaRPr lang="en-US" sz="2400" dirty="0"/>
          </a:p>
          <a:p>
            <a:pPr marL="0" lvl="0" indent="0" algn="just">
              <a:lnSpc>
                <a:spcPct val="110000"/>
              </a:lnSpc>
              <a:buNone/>
            </a:pPr>
            <a:r>
              <a:rPr lang="en-US" b="1" dirty="0"/>
              <a:t>Solution:</a:t>
            </a:r>
            <a:r>
              <a:rPr lang="en-US" dirty="0"/>
              <a:t> Following patterns to rescue the above concerns:</a:t>
            </a:r>
            <a:endParaRPr lang="en-IN" dirty="0"/>
          </a:p>
          <a:p>
            <a:pPr lvl="1">
              <a:lnSpc>
                <a:spcPct val="110000"/>
              </a:lnSpc>
            </a:pPr>
            <a:r>
              <a:rPr lang="en-IN" dirty="0"/>
              <a:t>API Gateway Pattern</a:t>
            </a:r>
          </a:p>
          <a:p>
            <a:pPr lvl="1">
              <a:lnSpc>
                <a:spcPct val="110000"/>
              </a:lnSpc>
            </a:pPr>
            <a:r>
              <a:rPr lang="en-IN" dirty="0"/>
              <a:t>Aggregator Pattern</a:t>
            </a:r>
          </a:p>
          <a:p>
            <a:pPr lvl="1">
              <a:lnSpc>
                <a:spcPct val="110000"/>
              </a:lnSpc>
            </a:pPr>
            <a:r>
              <a:rPr lang="en-IN" dirty="0"/>
              <a:t>Client-Side UI Composition Pattern</a:t>
            </a:r>
          </a:p>
          <a:p>
            <a:pPr lvl="1">
              <a:lnSpc>
                <a:spcPct val="110000"/>
              </a:lnSpc>
            </a:pPr>
            <a:r>
              <a:rPr lang="en-US" dirty="0"/>
              <a:t>Backend for Frontend (BFF) Pattern</a:t>
            </a:r>
          </a:p>
        </p:txBody>
      </p:sp>
      <p:sp>
        <p:nvSpPr>
          <p:cNvPr id="4" name="Content Placeholder 3"/>
          <p:cNvSpPr>
            <a:spLocks noGrp="1"/>
          </p:cNvSpPr>
          <p:nvPr>
            <p:ph sz="half" idx="10"/>
          </p:nvPr>
        </p:nvSpPr>
        <p:spPr/>
        <p:txBody>
          <a:bodyPr/>
          <a:lstStyle/>
          <a:p>
            <a:r>
              <a:rPr lang="en-IN" dirty="0"/>
              <a:t>Integration Patterns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0"/>
          </p:nvPr>
        </p:nvSpPr>
        <p:spPr/>
        <p:txBody>
          <a:bodyPr/>
          <a:lstStyle/>
          <a:p>
            <a:r>
              <a:rPr lang="en-IN" dirty="0"/>
              <a:t>1. API Gateway Pattern</a:t>
            </a:r>
          </a:p>
        </p:txBody>
      </p:sp>
      <p:sp>
        <p:nvSpPr>
          <p:cNvPr id="3" name="Content Placeholder 2"/>
          <p:cNvSpPr>
            <a:spLocks noGrp="1"/>
          </p:cNvSpPr>
          <p:nvPr>
            <p:ph sz="half" idx="1"/>
          </p:nvPr>
        </p:nvSpPr>
        <p:spPr/>
        <p:txBody>
          <a:bodyPr>
            <a:noAutofit/>
          </a:bodyPr>
          <a:lstStyle/>
          <a:p>
            <a:pPr algn="just">
              <a:lnSpc>
                <a:spcPct val="100000"/>
              </a:lnSpc>
            </a:pPr>
            <a:r>
              <a:rPr lang="en-US" sz="2800" dirty="0"/>
              <a:t>An API Gateway is a single point of entry for any microservice calls. </a:t>
            </a:r>
          </a:p>
          <a:p>
            <a:pPr algn="just">
              <a:lnSpc>
                <a:spcPct val="100000"/>
              </a:lnSpc>
            </a:pPr>
            <a:r>
              <a:rPr lang="en-US" sz="2800" dirty="0"/>
              <a:t>Work as a proxy service to route a request to the backend microservices.</a:t>
            </a:r>
          </a:p>
          <a:p>
            <a:pPr algn="just">
              <a:lnSpc>
                <a:spcPct val="100000"/>
              </a:lnSpc>
            </a:pPr>
            <a:r>
              <a:rPr lang="en-US" sz="2800" dirty="0"/>
              <a:t>Aggregate the results to send back to the consumer.</a:t>
            </a:r>
          </a:p>
          <a:p>
            <a:pPr algn="just">
              <a:lnSpc>
                <a:spcPct val="100000"/>
              </a:lnSpc>
            </a:pPr>
            <a:r>
              <a:rPr lang="en-US" sz="2800" dirty="0"/>
              <a:t>Offload the authentication/authorization responsibility of the microservice.</a:t>
            </a:r>
          </a:p>
        </p:txBody>
      </p:sp>
      <p:grpSp>
        <p:nvGrpSpPr>
          <p:cNvPr id="62" name="Group 61">
            <a:extLst>
              <a:ext uri="{FF2B5EF4-FFF2-40B4-BE49-F238E27FC236}">
                <a16:creationId xmlns:a16="http://schemas.microsoft.com/office/drawing/2014/main" id="{68DF842B-4ECE-4F5F-BCB5-1E747876D063}"/>
              </a:ext>
            </a:extLst>
          </p:cNvPr>
          <p:cNvGrpSpPr/>
          <p:nvPr/>
        </p:nvGrpSpPr>
        <p:grpSpPr>
          <a:xfrm>
            <a:off x="1015486" y="4064854"/>
            <a:ext cx="7197352" cy="2395957"/>
            <a:chOff x="624868" y="4345386"/>
            <a:chExt cx="7197352" cy="2395957"/>
          </a:xfrm>
        </p:grpSpPr>
        <p:grpSp>
          <p:nvGrpSpPr>
            <p:cNvPr id="8" name="Group 7">
              <a:extLst>
                <a:ext uri="{FF2B5EF4-FFF2-40B4-BE49-F238E27FC236}">
                  <a16:creationId xmlns:a16="http://schemas.microsoft.com/office/drawing/2014/main" id="{0ACD628A-5694-477A-9975-6A343E59222B}"/>
                </a:ext>
              </a:extLst>
            </p:cNvPr>
            <p:cNvGrpSpPr/>
            <p:nvPr/>
          </p:nvGrpSpPr>
          <p:grpSpPr>
            <a:xfrm>
              <a:off x="4621572" y="4671583"/>
              <a:ext cx="1320483" cy="1663384"/>
              <a:chOff x="7337538" y="3066613"/>
              <a:chExt cx="1320483" cy="1663384"/>
            </a:xfrm>
          </p:grpSpPr>
          <p:cxnSp>
            <p:nvCxnSpPr>
              <p:cNvPr id="9" name="Straight Arrow Connector 8">
                <a:extLst>
                  <a:ext uri="{FF2B5EF4-FFF2-40B4-BE49-F238E27FC236}">
                    <a16:creationId xmlns:a16="http://schemas.microsoft.com/office/drawing/2014/main" id="{235E341C-4356-4B5B-89EB-B7EFA5F9F799}"/>
                  </a:ext>
                </a:extLst>
              </p:cNvPr>
              <p:cNvCxnSpPr>
                <a:cxnSpLocks/>
                <a:stCxn id="14" idx="3"/>
                <a:endCxn id="29" idx="1"/>
              </p:cNvCxnSpPr>
              <p:nvPr/>
            </p:nvCxnSpPr>
            <p:spPr>
              <a:xfrm flipV="1">
                <a:off x="7337538" y="3066613"/>
                <a:ext cx="1320235" cy="828883"/>
              </a:xfrm>
              <a:prstGeom prst="straightConnector1">
                <a:avLst/>
              </a:prstGeom>
              <a:ln w="38100">
                <a:solidFill>
                  <a:schemeClr val="tx2">
                    <a:lumMod val="10000"/>
                    <a:lumOff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C885BA-9545-4CA6-9994-844B912D67D1}"/>
                  </a:ext>
                </a:extLst>
              </p:cNvPr>
              <p:cNvCxnSpPr>
                <a:cxnSpLocks/>
                <a:stCxn id="14" idx="3"/>
                <a:endCxn id="32" idx="1"/>
              </p:cNvCxnSpPr>
              <p:nvPr/>
            </p:nvCxnSpPr>
            <p:spPr>
              <a:xfrm flipV="1">
                <a:off x="7337538" y="3876413"/>
                <a:ext cx="1320235" cy="19083"/>
              </a:xfrm>
              <a:prstGeom prst="straightConnector1">
                <a:avLst/>
              </a:prstGeom>
              <a:ln w="38100">
                <a:solidFill>
                  <a:schemeClr val="tx2">
                    <a:lumMod val="10000"/>
                    <a:lumOff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7680A45-22F0-45D7-A5BF-49E792FE0E08}"/>
                  </a:ext>
                </a:extLst>
              </p:cNvPr>
              <p:cNvCxnSpPr>
                <a:cxnSpLocks/>
                <a:stCxn id="14" idx="3"/>
                <a:endCxn id="35" idx="1"/>
              </p:cNvCxnSpPr>
              <p:nvPr/>
            </p:nvCxnSpPr>
            <p:spPr>
              <a:xfrm>
                <a:off x="7337538" y="3895496"/>
                <a:ext cx="1320483" cy="834501"/>
              </a:xfrm>
              <a:prstGeom prst="straightConnector1">
                <a:avLst/>
              </a:prstGeom>
              <a:ln w="38100">
                <a:solidFill>
                  <a:schemeClr val="tx2">
                    <a:lumMod val="10000"/>
                    <a:lumOff val="9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 name="Group 11">
              <a:extLst>
                <a:ext uri="{FF2B5EF4-FFF2-40B4-BE49-F238E27FC236}">
                  <a16:creationId xmlns:a16="http://schemas.microsoft.com/office/drawing/2014/main" id="{F9589473-FB64-4050-AAE0-01D921E82EF5}"/>
                </a:ext>
              </a:extLst>
            </p:cNvPr>
            <p:cNvGrpSpPr/>
            <p:nvPr/>
          </p:nvGrpSpPr>
          <p:grpSpPr>
            <a:xfrm>
              <a:off x="3230093" y="4647293"/>
              <a:ext cx="1511527" cy="1600027"/>
              <a:chOff x="5269311" y="2610330"/>
              <a:chExt cx="1511527" cy="1600027"/>
            </a:xfrm>
          </p:grpSpPr>
          <p:sp>
            <p:nvSpPr>
              <p:cNvPr id="13" name="Rectangle 12">
                <a:extLst>
                  <a:ext uri="{FF2B5EF4-FFF2-40B4-BE49-F238E27FC236}">
                    <a16:creationId xmlns:a16="http://schemas.microsoft.com/office/drawing/2014/main" id="{D6D385F1-C38F-4CA1-A71D-BC5BF2AB7461}"/>
                  </a:ext>
                </a:extLst>
              </p:cNvPr>
              <p:cNvSpPr/>
              <p:nvPr/>
            </p:nvSpPr>
            <p:spPr>
              <a:xfrm>
                <a:off x="5389359" y="2610330"/>
                <a:ext cx="1391479" cy="1493709"/>
              </a:xfrm>
              <a:prstGeom prst="rect">
                <a:avLst/>
              </a:prstGeom>
              <a:solidFill>
                <a:schemeClr val="tx2">
                  <a:lumMod val="75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endParaRPr>
              </a:p>
            </p:txBody>
          </p:sp>
          <p:sp>
            <p:nvSpPr>
              <p:cNvPr id="14" name="Rectangle 13">
                <a:extLst>
                  <a:ext uri="{FF2B5EF4-FFF2-40B4-BE49-F238E27FC236}">
                    <a16:creationId xmlns:a16="http://schemas.microsoft.com/office/drawing/2014/main" id="{60E2A643-AB26-4C8B-9A6C-10B48863C546}"/>
                  </a:ext>
                </a:extLst>
              </p:cNvPr>
              <p:cNvSpPr/>
              <p:nvPr/>
            </p:nvSpPr>
            <p:spPr>
              <a:xfrm>
                <a:off x="5269311" y="2716648"/>
                <a:ext cx="1391479" cy="1493709"/>
              </a:xfrm>
              <a:prstGeom prst="rect">
                <a:avLst/>
              </a:prstGeom>
              <a:solidFill>
                <a:schemeClr val="tx2">
                  <a:lumMod val="75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API Gateway</a:t>
                </a:r>
              </a:p>
              <a:p>
                <a:pPr algn="ctr"/>
                <a:endParaRPr lang="en-IN" dirty="0">
                  <a:solidFill>
                    <a:schemeClr val="bg1"/>
                  </a:solidFill>
                </a:endParaRPr>
              </a:p>
            </p:txBody>
          </p:sp>
        </p:grpSp>
        <p:cxnSp>
          <p:nvCxnSpPr>
            <p:cNvPr id="20" name="Straight Arrow Connector 19">
              <a:extLst>
                <a:ext uri="{FF2B5EF4-FFF2-40B4-BE49-F238E27FC236}">
                  <a16:creationId xmlns:a16="http://schemas.microsoft.com/office/drawing/2014/main" id="{837E3D37-6D00-4ECC-8E60-F282013DC0BD}"/>
                </a:ext>
              </a:extLst>
            </p:cNvPr>
            <p:cNvCxnSpPr>
              <a:cxnSpLocks/>
            </p:cNvCxnSpPr>
            <p:nvPr/>
          </p:nvCxnSpPr>
          <p:spPr>
            <a:xfrm flipH="1">
              <a:off x="1945351" y="5602916"/>
              <a:ext cx="1284743" cy="0"/>
            </a:xfrm>
            <a:prstGeom prst="straightConnector1">
              <a:avLst/>
            </a:prstGeom>
            <a:ln w="38100">
              <a:solidFill>
                <a:schemeClr val="tx2">
                  <a:lumMod val="10000"/>
                  <a:lumOff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08F8691-F19B-4AD0-AC67-E9B1192F8CAE}"/>
                </a:ext>
              </a:extLst>
            </p:cNvPr>
            <p:cNvCxnSpPr>
              <a:cxnSpLocks/>
            </p:cNvCxnSpPr>
            <p:nvPr/>
          </p:nvCxnSpPr>
          <p:spPr>
            <a:xfrm>
              <a:off x="1945351" y="5343766"/>
              <a:ext cx="1284742" cy="1"/>
            </a:xfrm>
            <a:prstGeom prst="straightConnector1">
              <a:avLst/>
            </a:prstGeom>
            <a:ln w="38100">
              <a:solidFill>
                <a:schemeClr val="tx2">
                  <a:lumMod val="10000"/>
                  <a:lumOff val="9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4479BB9B-E98B-484D-818B-7AB8DFF69E4D}"/>
                </a:ext>
              </a:extLst>
            </p:cNvPr>
            <p:cNvGrpSpPr/>
            <p:nvPr/>
          </p:nvGrpSpPr>
          <p:grpSpPr>
            <a:xfrm>
              <a:off x="5941807" y="4345386"/>
              <a:ext cx="1879501" cy="729621"/>
              <a:chOff x="8657773" y="2876740"/>
              <a:chExt cx="1879501" cy="930349"/>
            </a:xfrm>
          </p:grpSpPr>
          <p:sp>
            <p:nvSpPr>
              <p:cNvPr id="29" name="Rectangle 28">
                <a:extLst>
                  <a:ext uri="{FF2B5EF4-FFF2-40B4-BE49-F238E27FC236}">
                    <a16:creationId xmlns:a16="http://schemas.microsoft.com/office/drawing/2014/main" id="{B5235E0E-EC9B-4BFD-A0BD-99C8113FEDD4}"/>
                  </a:ext>
                </a:extLst>
              </p:cNvPr>
              <p:cNvSpPr/>
              <p:nvPr/>
            </p:nvSpPr>
            <p:spPr>
              <a:xfrm>
                <a:off x="8657773" y="2876740"/>
                <a:ext cx="1700724" cy="831874"/>
              </a:xfrm>
              <a:prstGeom prst="rect">
                <a:avLst/>
              </a:prstGeom>
              <a:solidFill>
                <a:srgbClr val="146BD8"/>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Catalog Microservice</a:t>
                </a:r>
              </a:p>
            </p:txBody>
          </p:sp>
          <p:sp>
            <p:nvSpPr>
              <p:cNvPr id="30" name="Cylinder 29">
                <a:extLst>
                  <a:ext uri="{FF2B5EF4-FFF2-40B4-BE49-F238E27FC236}">
                    <a16:creationId xmlns:a16="http://schemas.microsoft.com/office/drawing/2014/main" id="{D39C644F-18E6-4690-BB1D-03D5F6E990E3}"/>
                  </a:ext>
                </a:extLst>
              </p:cNvPr>
              <p:cNvSpPr/>
              <p:nvPr/>
            </p:nvSpPr>
            <p:spPr>
              <a:xfrm>
                <a:off x="10196504" y="3451688"/>
                <a:ext cx="340770" cy="355401"/>
              </a:xfrm>
              <a:prstGeom prst="can">
                <a:avLst/>
              </a:prstGeom>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31" name="Group 30">
              <a:extLst>
                <a:ext uri="{FF2B5EF4-FFF2-40B4-BE49-F238E27FC236}">
                  <a16:creationId xmlns:a16="http://schemas.microsoft.com/office/drawing/2014/main" id="{C6709CFF-6251-40C8-85BD-7DC0CE0BAE6E}"/>
                </a:ext>
              </a:extLst>
            </p:cNvPr>
            <p:cNvGrpSpPr/>
            <p:nvPr/>
          </p:nvGrpSpPr>
          <p:grpSpPr>
            <a:xfrm>
              <a:off x="5941807" y="5155187"/>
              <a:ext cx="1879501" cy="726450"/>
              <a:chOff x="8658685" y="3322089"/>
              <a:chExt cx="1879501" cy="926306"/>
            </a:xfrm>
          </p:grpSpPr>
          <p:sp>
            <p:nvSpPr>
              <p:cNvPr id="32" name="Rectangle 31">
                <a:extLst>
                  <a:ext uri="{FF2B5EF4-FFF2-40B4-BE49-F238E27FC236}">
                    <a16:creationId xmlns:a16="http://schemas.microsoft.com/office/drawing/2014/main" id="{76603962-E2A1-44B7-BD69-A82A1ECD1CA5}"/>
                  </a:ext>
                </a:extLst>
              </p:cNvPr>
              <p:cNvSpPr/>
              <p:nvPr/>
            </p:nvSpPr>
            <p:spPr>
              <a:xfrm>
                <a:off x="8658685" y="3322089"/>
                <a:ext cx="1700724" cy="831874"/>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Authentication Microservice</a:t>
                </a:r>
              </a:p>
            </p:txBody>
          </p:sp>
          <p:sp>
            <p:nvSpPr>
              <p:cNvPr id="33" name="Cylinder 32">
                <a:extLst>
                  <a:ext uri="{FF2B5EF4-FFF2-40B4-BE49-F238E27FC236}">
                    <a16:creationId xmlns:a16="http://schemas.microsoft.com/office/drawing/2014/main" id="{279DF324-10DB-447D-A26C-93C157CB0532}"/>
                  </a:ext>
                </a:extLst>
              </p:cNvPr>
              <p:cNvSpPr/>
              <p:nvPr/>
            </p:nvSpPr>
            <p:spPr>
              <a:xfrm>
                <a:off x="10197416" y="3892994"/>
                <a:ext cx="340770" cy="355401"/>
              </a:xfrm>
              <a:prstGeom prst="can">
                <a:avLst/>
              </a:prstGeom>
              <a:solidFill>
                <a:srgbClr val="7030A0"/>
              </a:solidFill>
              <a:ln>
                <a:solidFill>
                  <a:srgbClr val="BA8BD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4" name="Group 33">
              <a:extLst>
                <a:ext uri="{FF2B5EF4-FFF2-40B4-BE49-F238E27FC236}">
                  <a16:creationId xmlns:a16="http://schemas.microsoft.com/office/drawing/2014/main" id="{D6108641-996E-41FA-BA68-1B8896E9F2A0}"/>
                </a:ext>
              </a:extLst>
            </p:cNvPr>
            <p:cNvGrpSpPr/>
            <p:nvPr/>
          </p:nvGrpSpPr>
          <p:grpSpPr>
            <a:xfrm>
              <a:off x="5942055" y="6008770"/>
              <a:ext cx="1880165" cy="732573"/>
              <a:chOff x="8658021" y="4403800"/>
              <a:chExt cx="1880165" cy="934113"/>
            </a:xfrm>
          </p:grpSpPr>
          <p:sp>
            <p:nvSpPr>
              <p:cNvPr id="35" name="Rectangle 34">
                <a:extLst>
                  <a:ext uri="{FF2B5EF4-FFF2-40B4-BE49-F238E27FC236}">
                    <a16:creationId xmlns:a16="http://schemas.microsoft.com/office/drawing/2014/main" id="{8158D673-1B52-4F05-9D28-6E425C580797}"/>
                  </a:ext>
                </a:extLst>
              </p:cNvPr>
              <p:cNvSpPr/>
              <p:nvPr/>
            </p:nvSpPr>
            <p:spPr>
              <a:xfrm>
                <a:off x="8658021" y="4403800"/>
                <a:ext cx="1700724" cy="831874"/>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Order Microservice</a:t>
                </a:r>
              </a:p>
            </p:txBody>
          </p:sp>
          <p:sp>
            <p:nvSpPr>
              <p:cNvPr id="36" name="Cylinder 35">
                <a:extLst>
                  <a:ext uri="{FF2B5EF4-FFF2-40B4-BE49-F238E27FC236}">
                    <a16:creationId xmlns:a16="http://schemas.microsoft.com/office/drawing/2014/main" id="{A2EC3C3A-D695-417B-B099-A2E437091756}"/>
                  </a:ext>
                </a:extLst>
              </p:cNvPr>
              <p:cNvSpPr/>
              <p:nvPr/>
            </p:nvSpPr>
            <p:spPr>
              <a:xfrm>
                <a:off x="10197416" y="4982512"/>
                <a:ext cx="340770" cy="355401"/>
              </a:xfrm>
              <a:prstGeom prst="can">
                <a:avLst/>
              </a:prstGeom>
              <a:solidFill>
                <a:srgbClr val="00206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55" name="TextBox 54">
              <a:extLst>
                <a:ext uri="{FF2B5EF4-FFF2-40B4-BE49-F238E27FC236}">
                  <a16:creationId xmlns:a16="http://schemas.microsoft.com/office/drawing/2014/main" id="{99AE851C-3F9C-408B-94D8-9FC5E786239E}"/>
                </a:ext>
              </a:extLst>
            </p:cNvPr>
            <p:cNvSpPr txBox="1"/>
            <p:nvPr/>
          </p:nvSpPr>
          <p:spPr>
            <a:xfrm>
              <a:off x="4969969" y="5187320"/>
              <a:ext cx="880369" cy="338554"/>
            </a:xfrm>
            <a:prstGeom prst="rect">
              <a:avLst/>
            </a:prstGeom>
            <a:noFill/>
          </p:spPr>
          <p:txBody>
            <a:bodyPr wrap="none" rtlCol="0">
              <a:spAutoFit/>
            </a:bodyPr>
            <a:lstStyle/>
            <a:p>
              <a:r>
                <a:rPr lang="en-US" sz="1600" dirty="0">
                  <a:solidFill>
                    <a:schemeClr val="tx2">
                      <a:lumMod val="10000"/>
                      <a:lumOff val="90000"/>
                    </a:schemeClr>
                  </a:solidFill>
                </a:rPr>
                <a:t>Routing</a:t>
              </a:r>
            </a:p>
          </p:txBody>
        </p:sp>
        <p:sp>
          <p:nvSpPr>
            <p:cNvPr id="56" name="TextBox 55">
              <a:extLst>
                <a:ext uri="{FF2B5EF4-FFF2-40B4-BE49-F238E27FC236}">
                  <a16:creationId xmlns:a16="http://schemas.microsoft.com/office/drawing/2014/main" id="{9CAE2AC6-1266-4345-8DBA-27DC7B67BA52}"/>
                </a:ext>
              </a:extLst>
            </p:cNvPr>
            <p:cNvSpPr txBox="1"/>
            <p:nvPr/>
          </p:nvSpPr>
          <p:spPr>
            <a:xfrm>
              <a:off x="3238216" y="5636865"/>
              <a:ext cx="1425390" cy="461665"/>
            </a:xfrm>
            <a:prstGeom prst="rect">
              <a:avLst/>
            </a:prstGeom>
            <a:noFill/>
          </p:spPr>
          <p:txBody>
            <a:bodyPr wrap="none" rtlCol="0">
              <a:spAutoFit/>
            </a:bodyPr>
            <a:lstStyle/>
            <a:p>
              <a:r>
                <a:rPr lang="en-US" sz="1200" dirty="0">
                  <a:solidFill>
                    <a:schemeClr val="bg1"/>
                  </a:solidFill>
                </a:rPr>
                <a:t>(Authentication, </a:t>
              </a:r>
            </a:p>
            <a:p>
              <a:r>
                <a:rPr lang="en-US" sz="1200" dirty="0">
                  <a:solidFill>
                    <a:schemeClr val="bg1"/>
                  </a:solidFill>
                </a:rPr>
                <a:t>response caching)</a:t>
              </a:r>
            </a:p>
          </p:txBody>
        </p:sp>
        <p:pic>
          <p:nvPicPr>
            <p:cNvPr id="59" name="Picture 58">
              <a:extLst>
                <a:ext uri="{FF2B5EF4-FFF2-40B4-BE49-F238E27FC236}">
                  <a16:creationId xmlns:a16="http://schemas.microsoft.com/office/drawing/2014/main" id="{0681EA21-28F5-401C-94AD-72760C9E7E63}"/>
                </a:ext>
              </a:extLst>
            </p:cNvPr>
            <p:cNvPicPr>
              <a:picLocks noChangeAspect="1"/>
            </p:cNvPicPr>
            <p:nvPr/>
          </p:nvPicPr>
          <p:blipFill rotWithShape="1">
            <a:blip r:embed="rId2" cstate="print">
              <a:duotone>
                <a:schemeClr val="accent4">
                  <a:shade val="45000"/>
                  <a:satMod val="135000"/>
                </a:schemeClr>
                <a:prstClr val="white"/>
              </a:duotone>
              <a:alphaModFix/>
              <a:extLst>
                <a:ext uri="{BEBA8EAE-BF5A-486C-A8C5-ECC9F3942E4B}">
                  <a14:imgProps xmlns:a14="http://schemas.microsoft.com/office/drawing/2010/main">
                    <a14:imgLayer r:embed="rId3">
                      <a14:imgEffect>
                        <a14:brightnessContrast bright="100000" contrast="-7000"/>
                      </a14:imgEffect>
                    </a14:imgLayer>
                  </a14:imgProps>
                </a:ext>
                <a:ext uri="{28A0092B-C50C-407E-A947-70E740481C1C}">
                  <a14:useLocalDpi xmlns:a14="http://schemas.microsoft.com/office/drawing/2010/main" val="0"/>
                </a:ext>
              </a:extLst>
            </a:blip>
            <a:srcRect t="12366" b="8959"/>
            <a:stretch/>
          </p:blipFill>
          <p:spPr>
            <a:xfrm>
              <a:off x="624868" y="4981250"/>
              <a:ext cx="1285031" cy="1010990"/>
            </a:xfrm>
            <a:prstGeom prst="rect">
              <a:avLst/>
            </a:prstGeom>
            <a:solidFill>
              <a:schemeClr val="accent1">
                <a:lumMod val="75000"/>
              </a:schemeClr>
            </a:solidFill>
          </p:spPr>
        </p:pic>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fade">
                                      <p:cBhvr>
                                        <p:cTn id="27"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9F07A7C-EAEF-4B99-834D-41C31ED69E41}"/>
              </a:ext>
            </a:extLst>
          </p:cNvPr>
          <p:cNvSpPr>
            <a:spLocks noGrp="1"/>
          </p:cNvSpPr>
          <p:nvPr>
            <p:ph sz="half" idx="10"/>
          </p:nvPr>
        </p:nvSpPr>
        <p:spPr/>
        <p:txBody>
          <a:bodyPr/>
          <a:lstStyle/>
          <a:p>
            <a:r>
              <a:rPr lang="en-IN" dirty="0"/>
              <a:t>Microservices API Gateways</a:t>
            </a:r>
          </a:p>
        </p:txBody>
      </p:sp>
      <p:grpSp>
        <p:nvGrpSpPr>
          <p:cNvPr id="3" name="Group 2">
            <a:extLst>
              <a:ext uri="{FF2B5EF4-FFF2-40B4-BE49-F238E27FC236}">
                <a16:creationId xmlns:a16="http://schemas.microsoft.com/office/drawing/2014/main" id="{1E41AB88-563C-4547-BC5A-19870604134E}"/>
              </a:ext>
            </a:extLst>
          </p:cNvPr>
          <p:cNvGrpSpPr/>
          <p:nvPr/>
        </p:nvGrpSpPr>
        <p:grpSpPr>
          <a:xfrm>
            <a:off x="6278689" y="2446124"/>
            <a:ext cx="2225243" cy="2189091"/>
            <a:chOff x="1177655" y="2456238"/>
            <a:chExt cx="2819764" cy="2776476"/>
          </a:xfrm>
        </p:grpSpPr>
        <p:pic>
          <p:nvPicPr>
            <p:cNvPr id="1026" name="Picture 2" descr="Image result for azure api gateway logo">
              <a:extLst>
                <a:ext uri="{FF2B5EF4-FFF2-40B4-BE49-F238E27FC236}">
                  <a16:creationId xmlns:a16="http://schemas.microsoft.com/office/drawing/2014/main" id="{E32C474F-5C91-470F-B15C-6776C88869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484" t="10586" r="4621" b="10586"/>
            <a:stretch/>
          </p:blipFill>
          <p:spPr bwMode="auto">
            <a:xfrm>
              <a:off x="1408517" y="2456238"/>
              <a:ext cx="2588902" cy="229570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3B31E44-DC08-446E-B375-308609F64E3F}"/>
                </a:ext>
              </a:extLst>
            </p:cNvPr>
            <p:cNvSpPr txBox="1"/>
            <p:nvPr/>
          </p:nvSpPr>
          <p:spPr>
            <a:xfrm>
              <a:off x="1177655" y="4863382"/>
              <a:ext cx="2441374" cy="369332"/>
            </a:xfrm>
            <a:prstGeom prst="rect">
              <a:avLst/>
            </a:prstGeom>
            <a:noFill/>
          </p:spPr>
          <p:txBody>
            <a:bodyPr wrap="none" rtlCol="0">
              <a:spAutoFit/>
            </a:bodyPr>
            <a:lstStyle/>
            <a:p>
              <a:r>
                <a:rPr lang="en-IN" dirty="0"/>
                <a:t>Azure API Management</a:t>
              </a:r>
            </a:p>
          </p:txBody>
        </p:sp>
      </p:grpSp>
      <p:grpSp>
        <p:nvGrpSpPr>
          <p:cNvPr id="5" name="Group 4">
            <a:extLst>
              <a:ext uri="{FF2B5EF4-FFF2-40B4-BE49-F238E27FC236}">
                <a16:creationId xmlns:a16="http://schemas.microsoft.com/office/drawing/2014/main" id="{ABEB7AFB-F1BF-4ECD-AF2C-31BAB67CCEC9}"/>
              </a:ext>
            </a:extLst>
          </p:cNvPr>
          <p:cNvGrpSpPr/>
          <p:nvPr/>
        </p:nvGrpSpPr>
        <p:grpSpPr>
          <a:xfrm>
            <a:off x="789354" y="2409358"/>
            <a:ext cx="2171105" cy="2303992"/>
            <a:chOff x="6676720" y="2456237"/>
            <a:chExt cx="2751162" cy="2922208"/>
          </a:xfrm>
        </p:grpSpPr>
        <p:pic>
          <p:nvPicPr>
            <p:cNvPr id="1028" name="Picture 4" descr="Image result for ocelot logo png">
              <a:extLst>
                <a:ext uri="{FF2B5EF4-FFF2-40B4-BE49-F238E27FC236}">
                  <a16:creationId xmlns:a16="http://schemas.microsoft.com/office/drawing/2014/main" id="{7812C474-33D9-48E7-9523-04FE473BF8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2838" y="2456237"/>
              <a:ext cx="2342722" cy="23427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B29B99-6E8A-4882-918C-8F51C72833DB}"/>
                </a:ext>
              </a:extLst>
            </p:cNvPr>
            <p:cNvSpPr txBox="1"/>
            <p:nvPr/>
          </p:nvSpPr>
          <p:spPr>
            <a:xfrm>
              <a:off x="6676720" y="4910012"/>
              <a:ext cx="2751162" cy="468433"/>
            </a:xfrm>
            <a:prstGeom prst="rect">
              <a:avLst/>
            </a:prstGeom>
            <a:noFill/>
          </p:spPr>
          <p:txBody>
            <a:bodyPr wrap="square" rtlCol="0">
              <a:spAutoFit/>
            </a:bodyPr>
            <a:lstStyle/>
            <a:p>
              <a:r>
                <a:rPr lang="en-IN" dirty="0"/>
                <a:t>Ocelot API Gateway</a:t>
              </a:r>
            </a:p>
          </p:txBody>
        </p:sp>
      </p:grpSp>
      <p:grpSp>
        <p:nvGrpSpPr>
          <p:cNvPr id="14" name="Group 13">
            <a:extLst>
              <a:ext uri="{FF2B5EF4-FFF2-40B4-BE49-F238E27FC236}">
                <a16:creationId xmlns:a16="http://schemas.microsoft.com/office/drawing/2014/main" id="{5DAAFED2-EFF9-432E-B358-09A0418E2410}"/>
              </a:ext>
            </a:extLst>
          </p:cNvPr>
          <p:cNvGrpSpPr/>
          <p:nvPr/>
        </p:nvGrpSpPr>
        <p:grpSpPr>
          <a:xfrm>
            <a:off x="3103179" y="2413572"/>
            <a:ext cx="2751778" cy="2299778"/>
            <a:chOff x="7524054" y="2420851"/>
            <a:chExt cx="2751778" cy="2299778"/>
          </a:xfrm>
        </p:grpSpPr>
        <p:pic>
          <p:nvPicPr>
            <p:cNvPr id="2050" name="Picture 2">
              <a:extLst>
                <a:ext uri="{FF2B5EF4-FFF2-40B4-BE49-F238E27FC236}">
                  <a16:creationId xmlns:a16="http://schemas.microsoft.com/office/drawing/2014/main" id="{5CDA124E-E2CC-42A4-9F0F-043A16BB8C79}"/>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8153781" y="2420851"/>
              <a:ext cx="1648993" cy="186781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9CC5DE4-35F4-4E89-A451-B3A9BC504A42}"/>
                </a:ext>
              </a:extLst>
            </p:cNvPr>
            <p:cNvSpPr txBox="1"/>
            <p:nvPr/>
          </p:nvSpPr>
          <p:spPr>
            <a:xfrm>
              <a:off x="7524054" y="4351297"/>
              <a:ext cx="2751778" cy="369332"/>
            </a:xfrm>
            <a:prstGeom prst="rect">
              <a:avLst/>
            </a:prstGeom>
            <a:noFill/>
          </p:spPr>
          <p:txBody>
            <a:bodyPr wrap="square" rtlCol="0">
              <a:spAutoFit/>
            </a:bodyPr>
            <a:lstStyle/>
            <a:p>
              <a:r>
                <a:rPr lang="en-US" dirty="0"/>
                <a:t>NGINX Ingress Controller</a:t>
              </a:r>
              <a:endParaRPr lang="en-IN" dirty="0"/>
            </a:p>
          </p:txBody>
        </p:sp>
      </p:grpSp>
      <p:grpSp>
        <p:nvGrpSpPr>
          <p:cNvPr id="8" name="Group 7"/>
          <p:cNvGrpSpPr/>
          <p:nvPr/>
        </p:nvGrpSpPr>
        <p:grpSpPr>
          <a:xfrm>
            <a:off x="9421218" y="2639384"/>
            <a:ext cx="2292807" cy="2073966"/>
            <a:chOff x="9322544" y="2639384"/>
            <a:chExt cx="2292807" cy="2073966"/>
          </a:xfrm>
        </p:grpSpPr>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621626" y="2639384"/>
              <a:ext cx="1616771" cy="1616771"/>
            </a:xfrm>
            <a:prstGeom prst="rect">
              <a:avLst/>
            </a:prstGeom>
          </p:spPr>
        </p:pic>
        <p:sp>
          <p:nvSpPr>
            <p:cNvPr id="13" name="TextBox 12">
              <a:extLst>
                <a:ext uri="{FF2B5EF4-FFF2-40B4-BE49-F238E27FC236}">
                  <a16:creationId xmlns:a16="http://schemas.microsoft.com/office/drawing/2014/main" id="{43B31E44-DC08-446E-B375-308609F64E3F}"/>
                </a:ext>
              </a:extLst>
            </p:cNvPr>
            <p:cNvSpPr txBox="1"/>
            <p:nvPr/>
          </p:nvSpPr>
          <p:spPr>
            <a:xfrm>
              <a:off x="9322544" y="4344018"/>
              <a:ext cx="2292807" cy="369332"/>
            </a:xfrm>
            <a:prstGeom prst="rect">
              <a:avLst/>
            </a:prstGeom>
            <a:noFill/>
          </p:spPr>
          <p:txBody>
            <a:bodyPr wrap="none" rtlCol="0">
              <a:spAutoFit/>
            </a:bodyPr>
            <a:lstStyle/>
            <a:p>
              <a:r>
                <a:rPr lang="en-IN" dirty="0"/>
                <a:t>AWS API Management</a:t>
              </a:r>
            </a:p>
          </p:txBody>
        </p:sp>
      </p:grpSp>
      <p:grpSp>
        <p:nvGrpSpPr>
          <p:cNvPr id="15" name="Group 14">
            <a:extLst>
              <a:ext uri="{FF2B5EF4-FFF2-40B4-BE49-F238E27FC236}">
                <a16:creationId xmlns:a16="http://schemas.microsoft.com/office/drawing/2014/main" id="{2BC92EA3-434C-42D2-B839-1B5AEE6CA7E8}"/>
              </a:ext>
            </a:extLst>
          </p:cNvPr>
          <p:cNvGrpSpPr/>
          <p:nvPr/>
        </p:nvGrpSpPr>
        <p:grpSpPr>
          <a:xfrm>
            <a:off x="1447512" y="4935913"/>
            <a:ext cx="3311333" cy="1051166"/>
            <a:chOff x="1447512" y="5151733"/>
            <a:chExt cx="3311333" cy="1051166"/>
          </a:xfrm>
        </p:grpSpPr>
        <p:sp>
          <p:nvSpPr>
            <p:cNvPr id="16" name="Right Bracket 15">
              <a:extLst>
                <a:ext uri="{FF2B5EF4-FFF2-40B4-BE49-F238E27FC236}">
                  <a16:creationId xmlns:a16="http://schemas.microsoft.com/office/drawing/2014/main" id="{ED76675D-8F9C-419A-9636-D291E8C98191}"/>
                </a:ext>
              </a:extLst>
            </p:cNvPr>
            <p:cNvSpPr/>
            <p:nvPr/>
          </p:nvSpPr>
          <p:spPr>
            <a:xfrm rot="5400000">
              <a:off x="2862014" y="3737231"/>
              <a:ext cx="482330" cy="3311333"/>
            </a:xfrm>
            <a:prstGeom prst="rightBracket">
              <a:avLst/>
            </a:prstGeom>
            <a:ln w="38100">
              <a:solidFill>
                <a:srgbClr val="146BD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7" name="TextBox 16">
              <a:extLst>
                <a:ext uri="{FF2B5EF4-FFF2-40B4-BE49-F238E27FC236}">
                  <a16:creationId xmlns:a16="http://schemas.microsoft.com/office/drawing/2014/main" id="{9B0F5B58-23B2-429A-A41C-0A9A4642AA87}"/>
                </a:ext>
              </a:extLst>
            </p:cNvPr>
            <p:cNvSpPr txBox="1"/>
            <p:nvPr/>
          </p:nvSpPr>
          <p:spPr>
            <a:xfrm>
              <a:off x="2266294" y="5833567"/>
              <a:ext cx="1935145" cy="369332"/>
            </a:xfrm>
            <a:prstGeom prst="rect">
              <a:avLst/>
            </a:prstGeom>
            <a:noFill/>
          </p:spPr>
          <p:txBody>
            <a:bodyPr wrap="none" rtlCol="0">
              <a:spAutoFit/>
            </a:bodyPr>
            <a:lstStyle/>
            <a:p>
              <a:r>
                <a:rPr lang="en-IN" dirty="0"/>
                <a:t>Free: Open Source</a:t>
              </a:r>
            </a:p>
          </p:txBody>
        </p:sp>
      </p:grpSp>
      <p:grpSp>
        <p:nvGrpSpPr>
          <p:cNvPr id="18" name="Group 17">
            <a:extLst>
              <a:ext uri="{FF2B5EF4-FFF2-40B4-BE49-F238E27FC236}">
                <a16:creationId xmlns:a16="http://schemas.microsoft.com/office/drawing/2014/main" id="{2BC92EA3-434C-42D2-B839-1B5AEE6CA7E8}"/>
              </a:ext>
            </a:extLst>
          </p:cNvPr>
          <p:cNvGrpSpPr/>
          <p:nvPr/>
        </p:nvGrpSpPr>
        <p:grpSpPr>
          <a:xfrm>
            <a:off x="7242006" y="4935912"/>
            <a:ext cx="3311333" cy="1069836"/>
            <a:chOff x="1447512" y="5151733"/>
            <a:chExt cx="3311333" cy="1069836"/>
          </a:xfrm>
        </p:grpSpPr>
        <p:sp>
          <p:nvSpPr>
            <p:cNvPr id="19" name="Right Bracket 18">
              <a:extLst>
                <a:ext uri="{FF2B5EF4-FFF2-40B4-BE49-F238E27FC236}">
                  <a16:creationId xmlns:a16="http://schemas.microsoft.com/office/drawing/2014/main" id="{ED76675D-8F9C-419A-9636-D291E8C98191}"/>
                </a:ext>
              </a:extLst>
            </p:cNvPr>
            <p:cNvSpPr/>
            <p:nvPr/>
          </p:nvSpPr>
          <p:spPr>
            <a:xfrm rot="5400000">
              <a:off x="2862014" y="3737231"/>
              <a:ext cx="482330" cy="3311333"/>
            </a:xfrm>
            <a:prstGeom prst="rightBracket">
              <a:avLst/>
            </a:prstGeom>
            <a:ln w="38100">
              <a:solidFill>
                <a:srgbClr val="146BD8"/>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0" name="TextBox 19">
              <a:extLst>
                <a:ext uri="{FF2B5EF4-FFF2-40B4-BE49-F238E27FC236}">
                  <a16:creationId xmlns:a16="http://schemas.microsoft.com/office/drawing/2014/main" id="{9B0F5B58-23B2-429A-A41C-0A9A4642AA87}"/>
                </a:ext>
              </a:extLst>
            </p:cNvPr>
            <p:cNvSpPr txBox="1"/>
            <p:nvPr/>
          </p:nvSpPr>
          <p:spPr>
            <a:xfrm>
              <a:off x="2320457" y="5852237"/>
              <a:ext cx="1663917" cy="369332"/>
            </a:xfrm>
            <a:prstGeom prst="rect">
              <a:avLst/>
            </a:prstGeom>
            <a:noFill/>
          </p:spPr>
          <p:txBody>
            <a:bodyPr wrap="none" rtlCol="0">
              <a:spAutoFit/>
            </a:bodyPr>
            <a:lstStyle/>
            <a:p>
              <a:r>
                <a:rPr lang="en-IN" dirty="0"/>
                <a:t>Cloud Managed</a:t>
              </a:r>
            </a:p>
          </p:txBody>
        </p:sp>
      </p:grpSp>
    </p:spTree>
    <p:extLst>
      <p:ext uri="{BB962C8B-B14F-4D97-AF65-F5344CB8AC3E}">
        <p14:creationId xmlns:p14="http://schemas.microsoft.com/office/powerpoint/2010/main" val="415031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lnSpc>
                <a:spcPct val="110000"/>
              </a:lnSpc>
            </a:pPr>
            <a:r>
              <a:rPr lang="en-US" dirty="0"/>
              <a:t>Aggregator patterns help your how to collaborate the data returned by each service.</a:t>
            </a:r>
          </a:p>
          <a:p>
            <a:pPr algn="just">
              <a:lnSpc>
                <a:spcPct val="110000"/>
              </a:lnSpc>
            </a:pPr>
            <a:r>
              <a:rPr lang="en-US" dirty="0"/>
              <a:t>Aggregation can be done in two ways:</a:t>
            </a:r>
          </a:p>
          <a:p>
            <a:pPr lvl="1" algn="just">
              <a:lnSpc>
                <a:spcPct val="110000"/>
              </a:lnSpc>
            </a:pPr>
            <a:r>
              <a:rPr lang="en-US" dirty="0"/>
              <a:t>A </a:t>
            </a:r>
            <a:r>
              <a:rPr lang="en-US" b="1" dirty="0"/>
              <a:t>composite microservice </a:t>
            </a:r>
            <a:r>
              <a:rPr lang="en-US" dirty="0"/>
              <a:t>will make calls to all the required microservices, consolidate the data, and transform the data before sending it back.</a:t>
            </a:r>
          </a:p>
          <a:p>
            <a:pPr lvl="1" algn="just">
              <a:lnSpc>
                <a:spcPct val="110000"/>
              </a:lnSpc>
            </a:pPr>
            <a:r>
              <a:rPr lang="en-US" dirty="0"/>
              <a:t>An </a:t>
            </a:r>
            <a:r>
              <a:rPr lang="en-US" b="1" dirty="0"/>
              <a:t>API Gateway</a:t>
            </a:r>
            <a:r>
              <a:rPr lang="en-US" dirty="0"/>
              <a:t> can also partition the request to multiple microservices and aggregate the data before sending it to the consumer.</a:t>
            </a:r>
          </a:p>
        </p:txBody>
      </p:sp>
      <p:sp>
        <p:nvSpPr>
          <p:cNvPr id="4" name="Content Placeholder 3"/>
          <p:cNvSpPr>
            <a:spLocks noGrp="1"/>
          </p:cNvSpPr>
          <p:nvPr>
            <p:ph sz="half" idx="10"/>
          </p:nvPr>
        </p:nvSpPr>
        <p:spPr/>
        <p:txBody>
          <a:bodyPr/>
          <a:lstStyle/>
          <a:p>
            <a:r>
              <a:rPr lang="en-IN" dirty="0"/>
              <a:t>2. Aggregator Pattern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pPr algn="just">
              <a:lnSpc>
                <a:spcPct val="100000"/>
              </a:lnSpc>
            </a:pPr>
            <a:r>
              <a:rPr lang="en-US" dirty="0"/>
              <a:t>With microservices, the UI has to be designed as a skeleton with multiple sections/regions of the screen/page. </a:t>
            </a:r>
          </a:p>
          <a:p>
            <a:pPr algn="just">
              <a:lnSpc>
                <a:spcPct val="100000"/>
              </a:lnSpc>
            </a:pPr>
            <a:r>
              <a:rPr lang="en-US" dirty="0"/>
              <a:t>Each section will make a call to an individual backend microservice to pull the data. That is called composing UI components specific to the service. </a:t>
            </a:r>
          </a:p>
          <a:p>
            <a:pPr algn="just">
              <a:lnSpc>
                <a:spcPct val="100000"/>
              </a:lnSpc>
            </a:pPr>
            <a:r>
              <a:rPr lang="en-US" dirty="0"/>
              <a:t>Frameworks like Angular and React help to do that easily. These screens are known as Single Page Applications (SPA). </a:t>
            </a:r>
          </a:p>
          <a:p>
            <a:pPr algn="just">
              <a:lnSpc>
                <a:spcPct val="100000"/>
              </a:lnSpc>
            </a:pPr>
            <a:r>
              <a:rPr lang="en-US" dirty="0"/>
              <a:t>This enables the app to refresh a particular region of the screen instead of the whole page.</a:t>
            </a:r>
          </a:p>
        </p:txBody>
      </p:sp>
      <p:sp>
        <p:nvSpPr>
          <p:cNvPr id="4" name="Content Placeholder 3"/>
          <p:cNvSpPr>
            <a:spLocks noGrp="1"/>
          </p:cNvSpPr>
          <p:nvPr>
            <p:ph sz="half" idx="10"/>
          </p:nvPr>
        </p:nvSpPr>
        <p:spPr/>
        <p:txBody>
          <a:bodyPr/>
          <a:lstStyle/>
          <a:p>
            <a:r>
              <a:rPr lang="en-IN" dirty="0"/>
              <a:t>3. Client-Side UI Composition Pattern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4F3B8D-4A39-785D-9782-2B26BC507848}"/>
              </a:ext>
            </a:extLst>
          </p:cNvPr>
          <p:cNvSpPr>
            <a:spLocks noGrp="1"/>
          </p:cNvSpPr>
          <p:nvPr>
            <p:ph sz="half" idx="1"/>
          </p:nvPr>
        </p:nvSpPr>
        <p:spPr/>
        <p:txBody>
          <a:bodyPr>
            <a:normAutofit lnSpcReduction="10000"/>
          </a:bodyPr>
          <a:lstStyle/>
          <a:p>
            <a:pPr algn="just"/>
            <a:r>
              <a:rPr lang="en-US" dirty="0"/>
              <a:t>Creates a specialized backend service for each type of client (e.g., mobile, web, desktop). </a:t>
            </a:r>
          </a:p>
          <a:p>
            <a:pPr algn="just"/>
            <a:r>
              <a:rPr lang="en-US" dirty="0"/>
              <a:t>Instead of having a single API Gateway, each client gets its own dedicated backend, which provides an optimized API tailored to the client’s specific needs.</a:t>
            </a:r>
          </a:p>
          <a:p>
            <a:pPr algn="just"/>
            <a:r>
              <a:rPr lang="en-US" dirty="0"/>
              <a:t>Minimizes over-fetching or under-fetching of data by customizing the backend logic for each client type.</a:t>
            </a:r>
          </a:p>
          <a:p>
            <a:pPr algn="just"/>
            <a:r>
              <a:rPr lang="en-US" dirty="0"/>
              <a:t>Useful when you need to optimize the API for specific devices, such as mobile apps with limited bandwidth or web apps with more complex UI but have different data requirements, response formats, or processing logic.</a:t>
            </a:r>
          </a:p>
        </p:txBody>
      </p:sp>
      <p:sp>
        <p:nvSpPr>
          <p:cNvPr id="3" name="Content Placeholder 2">
            <a:extLst>
              <a:ext uri="{FF2B5EF4-FFF2-40B4-BE49-F238E27FC236}">
                <a16:creationId xmlns:a16="http://schemas.microsoft.com/office/drawing/2014/main" id="{F23264A0-CFA8-7DF9-8DC8-5301634E29A8}"/>
              </a:ext>
            </a:extLst>
          </p:cNvPr>
          <p:cNvSpPr>
            <a:spLocks noGrp="1"/>
          </p:cNvSpPr>
          <p:nvPr>
            <p:ph sz="half" idx="10"/>
          </p:nvPr>
        </p:nvSpPr>
        <p:spPr/>
        <p:txBody>
          <a:bodyPr/>
          <a:lstStyle/>
          <a:p>
            <a:r>
              <a:rPr lang="en-US" dirty="0"/>
              <a:t>4. Backend for Frontend (BFF) </a:t>
            </a:r>
          </a:p>
        </p:txBody>
      </p:sp>
    </p:spTree>
    <p:extLst>
      <p:ext uri="{BB962C8B-B14F-4D97-AF65-F5344CB8AC3E}">
        <p14:creationId xmlns:p14="http://schemas.microsoft.com/office/powerpoint/2010/main" val="3879036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8305D39-3B06-1622-EDA8-8595969D9510}"/>
              </a:ext>
            </a:extLst>
          </p:cNvPr>
          <p:cNvSpPr>
            <a:spLocks noGrp="1"/>
          </p:cNvSpPr>
          <p:nvPr>
            <p:ph sz="half" idx="10"/>
          </p:nvPr>
        </p:nvSpPr>
        <p:spPr/>
        <p:txBody>
          <a:bodyPr/>
          <a:lstStyle/>
          <a:p>
            <a:r>
              <a:rPr lang="en-US" dirty="0"/>
              <a:t>Backend for Frontend (BFF)</a:t>
            </a:r>
          </a:p>
        </p:txBody>
      </p:sp>
      <p:pic>
        <p:nvPicPr>
          <p:cNvPr id="4" name="Google Shape;208;p13">
            <a:extLst>
              <a:ext uri="{FF2B5EF4-FFF2-40B4-BE49-F238E27FC236}">
                <a16:creationId xmlns:a16="http://schemas.microsoft.com/office/drawing/2014/main" id="{F8015F47-DC95-DCFF-96D6-BE2EACC19722}"/>
              </a:ext>
            </a:extLst>
          </p:cNvPr>
          <p:cNvPicPr preferRelativeResize="0"/>
          <p:nvPr/>
        </p:nvPicPr>
        <p:blipFill rotWithShape="1">
          <a:blip r:embed="rId2">
            <a:alphaModFix/>
          </a:blip>
          <a:srcRect t="11291"/>
          <a:stretch/>
        </p:blipFill>
        <p:spPr>
          <a:xfrm>
            <a:off x="1160443" y="1222310"/>
            <a:ext cx="8972602" cy="4301412"/>
          </a:xfrm>
          <a:prstGeom prst="rect">
            <a:avLst/>
          </a:prstGeom>
          <a:noFill/>
          <a:ln>
            <a:noFill/>
          </a:ln>
        </p:spPr>
      </p:pic>
    </p:spTree>
    <p:extLst>
      <p:ext uri="{BB962C8B-B14F-4D97-AF65-F5344CB8AC3E}">
        <p14:creationId xmlns:p14="http://schemas.microsoft.com/office/powerpoint/2010/main" val="3456190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03EB6E2-5C96-0645-3711-4BC38CD58055}"/>
              </a:ext>
            </a:extLst>
          </p:cNvPr>
          <p:cNvGraphicFramePr>
            <a:graphicFrameLocks noGrp="1"/>
          </p:cNvGraphicFramePr>
          <p:nvPr>
            <p:ph sz="half" idx="1"/>
            <p:extLst>
              <p:ext uri="{D42A27DB-BD31-4B8C-83A1-F6EECF244321}">
                <p14:modId xmlns:p14="http://schemas.microsoft.com/office/powerpoint/2010/main" val="3088628290"/>
              </p:ext>
            </p:extLst>
          </p:nvPr>
        </p:nvGraphicFramePr>
        <p:xfrm>
          <a:off x="600364" y="1222232"/>
          <a:ext cx="11014987" cy="4864532"/>
        </p:xfrm>
        <a:graphic>
          <a:graphicData uri="http://schemas.openxmlformats.org/drawingml/2006/table">
            <a:tbl>
              <a:tblPr>
                <a:tableStyleId>{ED083AE6-46FA-4A59-8FB0-9F97EB10719F}</a:tableStyleId>
              </a:tblPr>
              <a:tblGrid>
                <a:gridCol w="2447636">
                  <a:extLst>
                    <a:ext uri="{9D8B030D-6E8A-4147-A177-3AD203B41FA5}">
                      <a16:colId xmlns:a16="http://schemas.microsoft.com/office/drawing/2014/main" val="1822910715"/>
                    </a:ext>
                  </a:extLst>
                </a:gridCol>
                <a:gridCol w="4729018">
                  <a:extLst>
                    <a:ext uri="{9D8B030D-6E8A-4147-A177-3AD203B41FA5}">
                      <a16:colId xmlns:a16="http://schemas.microsoft.com/office/drawing/2014/main" val="2807936038"/>
                    </a:ext>
                  </a:extLst>
                </a:gridCol>
                <a:gridCol w="3838333">
                  <a:extLst>
                    <a:ext uri="{9D8B030D-6E8A-4147-A177-3AD203B41FA5}">
                      <a16:colId xmlns:a16="http://schemas.microsoft.com/office/drawing/2014/main" val="1133789566"/>
                    </a:ext>
                  </a:extLst>
                </a:gridCol>
              </a:tblGrid>
              <a:tr h="347484">
                <a:tc>
                  <a:txBody>
                    <a:bodyPr/>
                    <a:lstStyle/>
                    <a:p>
                      <a:r>
                        <a:rPr lang="en-US" sz="1700" b="1">
                          <a:solidFill>
                            <a:schemeClr val="bg1"/>
                          </a:solidFill>
                        </a:rPr>
                        <a:t>Aspect</a:t>
                      </a:r>
                      <a:endParaRPr lang="en-US" sz="1700">
                        <a:solidFill>
                          <a:schemeClr val="bg1"/>
                        </a:solidFill>
                      </a:endParaRPr>
                    </a:p>
                  </a:txBody>
                  <a:tcPr marL="87086" marR="87086" marT="43543" marB="43543" anchor="ctr">
                    <a:solidFill>
                      <a:schemeClr val="accent1"/>
                    </a:solidFill>
                  </a:tcPr>
                </a:tc>
                <a:tc>
                  <a:txBody>
                    <a:bodyPr/>
                    <a:lstStyle/>
                    <a:p>
                      <a:r>
                        <a:rPr lang="en-US" sz="1700" b="1">
                          <a:solidFill>
                            <a:schemeClr val="bg1"/>
                          </a:solidFill>
                        </a:rPr>
                        <a:t>API Gateway</a:t>
                      </a:r>
                      <a:endParaRPr lang="en-US" sz="1700">
                        <a:solidFill>
                          <a:schemeClr val="bg1"/>
                        </a:solidFill>
                      </a:endParaRPr>
                    </a:p>
                  </a:txBody>
                  <a:tcPr marL="87086" marR="87086" marT="43543" marB="43543" anchor="ctr">
                    <a:solidFill>
                      <a:schemeClr val="accent1"/>
                    </a:solidFill>
                  </a:tcPr>
                </a:tc>
                <a:tc>
                  <a:txBody>
                    <a:bodyPr/>
                    <a:lstStyle/>
                    <a:p>
                      <a:r>
                        <a:rPr lang="en-US" sz="1700" b="1" dirty="0">
                          <a:solidFill>
                            <a:schemeClr val="bg1"/>
                          </a:solidFill>
                        </a:rPr>
                        <a:t>Backend for Frontend (BFF)</a:t>
                      </a:r>
                      <a:endParaRPr lang="en-US" sz="1700" dirty="0">
                        <a:solidFill>
                          <a:schemeClr val="bg1"/>
                        </a:solidFill>
                      </a:endParaRPr>
                    </a:p>
                  </a:txBody>
                  <a:tcPr marL="87086" marR="87086" marT="43543" marB="43543" anchor="ctr">
                    <a:solidFill>
                      <a:schemeClr val="accent1"/>
                    </a:solidFill>
                  </a:tcPr>
                </a:tc>
                <a:extLst>
                  <a:ext uri="{0D108BD9-81ED-4DB2-BD59-A6C34878D82A}">
                    <a16:rowId xmlns:a16="http://schemas.microsoft.com/office/drawing/2014/main" val="256927013"/>
                  </a:ext>
                </a:extLst>
              </a:tr>
              <a:tr h="608064">
                <a:tc>
                  <a:txBody>
                    <a:bodyPr/>
                    <a:lstStyle/>
                    <a:p>
                      <a:r>
                        <a:rPr lang="en-US" sz="1700" b="1" dirty="0">
                          <a:solidFill>
                            <a:schemeClr val="bg1"/>
                          </a:solidFill>
                        </a:rPr>
                        <a:t>Purpose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Single entry point for all clients and services.</a:t>
                      </a:r>
                    </a:p>
                  </a:txBody>
                  <a:tcPr marL="87086" marR="87086" marT="43543" marB="43543" anchor="ctr"/>
                </a:tc>
                <a:tc>
                  <a:txBody>
                    <a:bodyPr/>
                    <a:lstStyle/>
                    <a:p>
                      <a:r>
                        <a:rPr lang="en-US" sz="1700" dirty="0">
                          <a:solidFill>
                            <a:schemeClr val="bg1"/>
                          </a:solidFill>
                        </a:rPr>
                        <a:t>Separate backends tailored to each client (e.g., mobile, web).</a:t>
                      </a:r>
                    </a:p>
                  </a:txBody>
                  <a:tcPr marL="87086" marR="87086" marT="43543" marB="43543" anchor="ctr"/>
                </a:tc>
                <a:extLst>
                  <a:ext uri="{0D108BD9-81ED-4DB2-BD59-A6C34878D82A}">
                    <a16:rowId xmlns:a16="http://schemas.microsoft.com/office/drawing/2014/main" val="214734882"/>
                  </a:ext>
                </a:extLst>
              </a:tr>
              <a:tr h="608064">
                <a:tc>
                  <a:txBody>
                    <a:bodyPr/>
                    <a:lstStyle/>
                    <a:p>
                      <a:r>
                        <a:rPr lang="en-US" sz="1700" b="1" dirty="0">
                          <a:solidFill>
                            <a:schemeClr val="bg1"/>
                          </a:solidFill>
                        </a:rPr>
                        <a:t>Client Optimization</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One-size-fits-all for all clients.</a:t>
                      </a:r>
                    </a:p>
                  </a:txBody>
                  <a:tcPr marL="87086" marR="87086" marT="43543" marB="43543" anchor="ctr"/>
                </a:tc>
                <a:tc>
                  <a:txBody>
                    <a:bodyPr/>
                    <a:lstStyle/>
                    <a:p>
                      <a:r>
                        <a:rPr lang="en-US" sz="1700">
                          <a:solidFill>
                            <a:schemeClr val="bg1"/>
                          </a:solidFill>
                        </a:rPr>
                        <a:t>Optimized for each client type (e.g., mobile, web, desktop).</a:t>
                      </a:r>
                    </a:p>
                  </a:txBody>
                  <a:tcPr marL="87086" marR="87086" marT="43543" marB="43543" anchor="ctr"/>
                </a:tc>
                <a:extLst>
                  <a:ext uri="{0D108BD9-81ED-4DB2-BD59-A6C34878D82A}">
                    <a16:rowId xmlns:a16="http://schemas.microsoft.com/office/drawing/2014/main" val="818396983"/>
                  </a:ext>
                </a:extLst>
              </a:tr>
              <a:tr h="608064">
                <a:tc>
                  <a:txBody>
                    <a:bodyPr/>
                    <a:lstStyle/>
                    <a:p>
                      <a:r>
                        <a:rPr lang="en-US" sz="1700" b="1">
                          <a:solidFill>
                            <a:schemeClr val="bg1"/>
                          </a:solidFill>
                        </a:rPr>
                        <a:t>Cross-Cutting Concerns</a:t>
                      </a:r>
                      <a:endParaRPr lang="en-US" sz="170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Centralized (security, logging, rate-limiting, etc.).</a:t>
                      </a:r>
                    </a:p>
                  </a:txBody>
                  <a:tcPr marL="87086" marR="87086" marT="43543" marB="43543" anchor="ctr"/>
                </a:tc>
                <a:tc>
                  <a:txBody>
                    <a:bodyPr/>
                    <a:lstStyle/>
                    <a:p>
                      <a:r>
                        <a:rPr lang="en-US" sz="1700" dirty="0">
                          <a:solidFill>
                            <a:schemeClr val="bg1"/>
                          </a:solidFill>
                        </a:rPr>
                        <a:t>Handled individually in each BFF.</a:t>
                      </a:r>
                    </a:p>
                  </a:txBody>
                  <a:tcPr marL="87086" marR="87086" marT="43543" marB="43543" anchor="ctr"/>
                </a:tc>
                <a:extLst>
                  <a:ext uri="{0D108BD9-81ED-4DB2-BD59-A6C34878D82A}">
                    <a16:rowId xmlns:a16="http://schemas.microsoft.com/office/drawing/2014/main" val="2754736017"/>
                  </a:ext>
                </a:extLst>
              </a:tr>
              <a:tr h="608064">
                <a:tc>
                  <a:txBody>
                    <a:bodyPr/>
                    <a:lstStyle/>
                    <a:p>
                      <a:r>
                        <a:rPr lang="en-US" sz="1700" b="1" dirty="0">
                          <a:solidFill>
                            <a:schemeClr val="bg1"/>
                          </a:solidFill>
                        </a:rPr>
                        <a:t>Complexity</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dirty="0">
                          <a:solidFill>
                            <a:schemeClr val="bg1"/>
                          </a:solidFill>
                        </a:rPr>
                        <a:t>Simpler for the client, but may become a monolith.</a:t>
                      </a:r>
                    </a:p>
                  </a:txBody>
                  <a:tcPr marL="87086" marR="87086" marT="43543" marB="43543" anchor="ctr"/>
                </a:tc>
                <a:tc>
                  <a:txBody>
                    <a:bodyPr/>
                    <a:lstStyle/>
                    <a:p>
                      <a:r>
                        <a:rPr lang="en-US" sz="1700" dirty="0">
                          <a:solidFill>
                            <a:schemeClr val="bg1"/>
                          </a:solidFill>
                        </a:rPr>
                        <a:t>More complex due to multiple BFFs, but more modular.</a:t>
                      </a:r>
                    </a:p>
                  </a:txBody>
                  <a:tcPr marL="87086" marR="87086" marT="43543" marB="43543" anchor="ctr"/>
                </a:tc>
                <a:extLst>
                  <a:ext uri="{0D108BD9-81ED-4DB2-BD59-A6C34878D82A}">
                    <a16:rowId xmlns:a16="http://schemas.microsoft.com/office/drawing/2014/main" val="4049090266"/>
                  </a:ext>
                </a:extLst>
              </a:tr>
              <a:tr h="608064">
                <a:tc>
                  <a:txBody>
                    <a:bodyPr/>
                    <a:lstStyle/>
                    <a:p>
                      <a:r>
                        <a:rPr lang="en-US" sz="1700" b="1" dirty="0">
                          <a:solidFill>
                            <a:schemeClr val="bg1"/>
                          </a:solidFill>
                        </a:rPr>
                        <a:t>Performance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Can introduce latency due to additional processing.</a:t>
                      </a:r>
                    </a:p>
                  </a:txBody>
                  <a:tcPr marL="87086" marR="87086" marT="43543" marB="43543" anchor="ctr"/>
                </a:tc>
                <a:tc>
                  <a:txBody>
                    <a:bodyPr/>
                    <a:lstStyle/>
                    <a:p>
                      <a:r>
                        <a:rPr lang="en-US" sz="1700">
                          <a:solidFill>
                            <a:schemeClr val="bg1"/>
                          </a:solidFill>
                        </a:rPr>
                        <a:t>More efficient for clients (tailored APIs reduce overhead).</a:t>
                      </a:r>
                    </a:p>
                  </a:txBody>
                  <a:tcPr marL="87086" marR="87086" marT="43543" marB="43543" anchor="ctr"/>
                </a:tc>
                <a:extLst>
                  <a:ext uri="{0D108BD9-81ED-4DB2-BD59-A6C34878D82A}">
                    <a16:rowId xmlns:a16="http://schemas.microsoft.com/office/drawing/2014/main" val="1627053022"/>
                  </a:ext>
                </a:extLst>
              </a:tr>
              <a:tr h="868664">
                <a:tc>
                  <a:txBody>
                    <a:bodyPr/>
                    <a:lstStyle/>
                    <a:p>
                      <a:r>
                        <a:rPr lang="en-US" sz="1700" b="1">
                          <a:solidFill>
                            <a:schemeClr val="bg1"/>
                          </a:solidFill>
                        </a:rPr>
                        <a:t>Maintainability</a:t>
                      </a:r>
                      <a:endParaRPr lang="en-US" sz="1700">
                        <a:solidFill>
                          <a:schemeClr val="bg1"/>
                        </a:solidFill>
                      </a:endParaRPr>
                    </a:p>
                  </a:txBody>
                  <a:tcPr marL="87086" marR="87086" marT="43543" marB="43543" anchor="ctr">
                    <a:solidFill>
                      <a:schemeClr val="accent1">
                        <a:lumMod val="50000"/>
                      </a:schemeClr>
                    </a:solidFill>
                  </a:tcPr>
                </a:tc>
                <a:tc>
                  <a:txBody>
                    <a:bodyPr/>
                    <a:lstStyle/>
                    <a:p>
                      <a:r>
                        <a:rPr lang="en-US" sz="1700" dirty="0">
                          <a:solidFill>
                            <a:schemeClr val="bg1"/>
                          </a:solidFill>
                        </a:rPr>
                        <a:t>Easier to manage as there is a single entry point.</a:t>
                      </a:r>
                    </a:p>
                  </a:txBody>
                  <a:tcPr marL="87086" marR="87086" marT="43543" marB="43543" anchor="ctr"/>
                </a:tc>
                <a:tc>
                  <a:txBody>
                    <a:bodyPr/>
                    <a:lstStyle/>
                    <a:p>
                      <a:r>
                        <a:rPr lang="en-US" sz="1700" dirty="0">
                          <a:solidFill>
                            <a:schemeClr val="bg1"/>
                          </a:solidFill>
                        </a:rPr>
                        <a:t>More components to manage and maintain (one BFF per client).</a:t>
                      </a:r>
                    </a:p>
                  </a:txBody>
                  <a:tcPr marL="87086" marR="87086" marT="43543" marB="43543" anchor="ctr"/>
                </a:tc>
                <a:extLst>
                  <a:ext uri="{0D108BD9-81ED-4DB2-BD59-A6C34878D82A}">
                    <a16:rowId xmlns:a16="http://schemas.microsoft.com/office/drawing/2014/main" val="968815549"/>
                  </a:ext>
                </a:extLst>
              </a:tr>
              <a:tr h="608064">
                <a:tc>
                  <a:txBody>
                    <a:bodyPr/>
                    <a:lstStyle/>
                    <a:p>
                      <a:r>
                        <a:rPr lang="en-US" sz="1700" b="1" dirty="0">
                          <a:solidFill>
                            <a:schemeClr val="bg1"/>
                          </a:solidFill>
                        </a:rPr>
                        <a:t>Use Case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Best for systems where clients have similar needs.</a:t>
                      </a:r>
                    </a:p>
                  </a:txBody>
                  <a:tcPr marL="87086" marR="87086" marT="43543" marB="43543" anchor="ctr"/>
                </a:tc>
                <a:tc>
                  <a:txBody>
                    <a:bodyPr/>
                    <a:lstStyle/>
                    <a:p>
                      <a:r>
                        <a:rPr lang="en-US" sz="1700" dirty="0">
                          <a:solidFill>
                            <a:schemeClr val="bg1"/>
                          </a:solidFill>
                        </a:rPr>
                        <a:t>Best for systems with diverse client needs and data handling.</a:t>
                      </a:r>
                    </a:p>
                  </a:txBody>
                  <a:tcPr marL="87086" marR="87086" marT="43543" marB="43543" anchor="ctr"/>
                </a:tc>
                <a:extLst>
                  <a:ext uri="{0D108BD9-81ED-4DB2-BD59-A6C34878D82A}">
                    <a16:rowId xmlns:a16="http://schemas.microsoft.com/office/drawing/2014/main" val="4247884255"/>
                  </a:ext>
                </a:extLst>
              </a:tr>
            </a:tbl>
          </a:graphicData>
        </a:graphic>
      </p:graphicFrame>
      <p:sp>
        <p:nvSpPr>
          <p:cNvPr id="3" name="Content Placeholder 2">
            <a:extLst>
              <a:ext uri="{FF2B5EF4-FFF2-40B4-BE49-F238E27FC236}">
                <a16:creationId xmlns:a16="http://schemas.microsoft.com/office/drawing/2014/main" id="{604DDAB7-F0C8-203D-08FD-BF97B6F5D228}"/>
              </a:ext>
            </a:extLst>
          </p:cNvPr>
          <p:cNvSpPr>
            <a:spLocks noGrp="1"/>
          </p:cNvSpPr>
          <p:nvPr>
            <p:ph sz="half" idx="10"/>
          </p:nvPr>
        </p:nvSpPr>
        <p:spPr/>
        <p:txBody>
          <a:bodyPr/>
          <a:lstStyle/>
          <a:p>
            <a:r>
              <a:rPr lang="en-US" dirty="0"/>
              <a:t>API Gateway vs. Backend for Frontend (BFF)</a:t>
            </a:r>
          </a:p>
        </p:txBody>
      </p:sp>
    </p:spTree>
    <p:extLst>
      <p:ext uri="{BB962C8B-B14F-4D97-AF65-F5344CB8AC3E}">
        <p14:creationId xmlns:p14="http://schemas.microsoft.com/office/powerpoint/2010/main" val="3721536424"/>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2604</TotalTime>
  <Words>1378</Words>
  <Application>Microsoft Office PowerPoint</Application>
  <PresentationFormat>Widescreen</PresentationFormat>
  <Paragraphs>191</Paragraphs>
  <Slides>17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-apple-system</vt:lpstr>
      <vt:lpstr>Arial</vt:lpstr>
      <vt:lpstr>Calibri</vt:lpstr>
      <vt:lpstr>Calibri Light</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Shailendra Chauhan</cp:lastModifiedBy>
  <cp:revision>1599</cp:revision>
  <dcterms:created xsi:type="dcterms:W3CDTF">2015-04-26T09:42:00Z</dcterms:created>
  <dcterms:modified xsi:type="dcterms:W3CDTF">2025-02-16T06:30:17Z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1033-11.2.0.9684</vt:lpwstr>
  </property>
</Properties>
</file>