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9" r:id="rId1"/>
  </p:sldMasterIdLst>
  <p:notesMasterIdLst>
    <p:notesMasterId r:id="rId19"/>
  </p:notesMasterIdLst>
  <p:sldIdLst>
    <p:sldId id="256" r:id="rId2"/>
    <p:sldId id="273" r:id="rId3"/>
    <p:sldId id="257" r:id="rId4"/>
    <p:sldId id="258" r:id="rId5"/>
    <p:sldId id="259" r:id="rId6"/>
    <p:sldId id="260" r:id="rId7"/>
    <p:sldId id="261" r:id="rId8"/>
    <p:sldId id="262" r:id="rId9"/>
    <p:sldId id="263" r:id="rId10"/>
    <p:sldId id="264" r:id="rId11"/>
    <p:sldId id="265" r:id="rId12"/>
    <p:sldId id="266" r:id="rId13"/>
    <p:sldId id="267" r:id="rId14"/>
    <p:sldId id="268" r:id="rId15"/>
    <p:sldId id="275"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hfKr6iVqTSxq41QTiC9Z1KYlGVK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122" d="100"/>
          <a:sy n="122" d="100"/>
        </p:scale>
        <p:origin x="1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lendra Chauhan" userId="a7d3133f-e197-4b90-bf63-99a63a264234" providerId="ADAL" clId="{8CD2D9A1-51D3-444A-950C-A22F4EF3AE6F}"/>
    <pc:docChg chg="addSld modSld">
      <pc:chgData name="Shailendra Chauhan" userId="a7d3133f-e197-4b90-bf63-99a63a264234" providerId="ADAL" clId="{8CD2D9A1-51D3-444A-950C-A22F4EF3AE6F}" dt="2024-03-01T14:50:30.862" v="1" actId="2711"/>
      <pc:docMkLst>
        <pc:docMk/>
      </pc:docMkLst>
      <pc:sldChg chg="modSp mod">
        <pc:chgData name="Shailendra Chauhan" userId="a7d3133f-e197-4b90-bf63-99a63a264234" providerId="ADAL" clId="{8CD2D9A1-51D3-444A-950C-A22F4EF3AE6F}" dt="2024-03-01T14:50:30.862" v="1" actId="2711"/>
        <pc:sldMkLst>
          <pc:docMk/>
          <pc:sldMk cId="0" sldId="256"/>
        </pc:sldMkLst>
      </pc:sldChg>
      <pc:sldChg chg="add">
        <pc:chgData name="Shailendra Chauhan" userId="a7d3133f-e197-4b90-bf63-99a63a264234" providerId="ADAL" clId="{8CD2D9A1-51D3-444A-950C-A22F4EF3AE6F}" dt="2024-03-01T14:50:23.076" v="0"/>
        <pc:sldMkLst>
          <pc:docMk/>
          <pc:sldMk cId="0" sldId="273"/>
        </pc:sldMkLst>
      </pc:sldChg>
    </pc:docChg>
  </pc:docChgLst>
  <pc:docChgLst>
    <pc:chgData name="Shailendra Chauhan" userId="a7d3133f-e197-4b90-bf63-99a63a264234" providerId="ADAL" clId="{95B99BFF-A9BB-4F11-AA1F-225CA6374926}"/>
    <pc:docChg chg="custSel addSld delSld modSld modMainMaster">
      <pc:chgData name="Shailendra Chauhan" userId="a7d3133f-e197-4b90-bf63-99a63a264234" providerId="ADAL" clId="{95B99BFF-A9BB-4F11-AA1F-225CA6374926}" dt="2024-07-12T13:28:42.731" v="197" actId="20577"/>
      <pc:docMkLst>
        <pc:docMk/>
      </pc:docMkLst>
      <pc:sldChg chg="modSp mod modClrScheme chgLayout">
        <pc:chgData name="Shailendra Chauhan" userId="a7d3133f-e197-4b90-bf63-99a63a264234" providerId="ADAL" clId="{95B99BFF-A9BB-4F11-AA1F-225CA6374926}" dt="2024-07-06T07:36:08.955" v="192" actId="12"/>
        <pc:sldMkLst>
          <pc:docMk/>
          <pc:sldMk cId="0" sldId="256"/>
        </pc:sldMkLst>
      </pc:sldChg>
      <pc:sldChg chg="modSp mod modClrScheme chgLayout">
        <pc:chgData name="Shailendra Chauhan" userId="a7d3133f-e197-4b90-bf63-99a63a264234" providerId="ADAL" clId="{95B99BFF-A9BB-4F11-AA1F-225CA6374926}" dt="2024-07-06T07:27:50.530" v="23"/>
        <pc:sldMkLst>
          <pc:docMk/>
          <pc:sldMk cId="0" sldId="257"/>
        </pc:sldMkLst>
      </pc:sldChg>
      <pc:sldChg chg="modSp mod modClrScheme chgLayout">
        <pc:chgData name="Shailendra Chauhan" userId="a7d3133f-e197-4b90-bf63-99a63a264234" providerId="ADAL" clId="{95B99BFF-A9BB-4F11-AA1F-225CA6374926}" dt="2024-07-06T07:27:50.530" v="23"/>
        <pc:sldMkLst>
          <pc:docMk/>
          <pc:sldMk cId="0" sldId="258"/>
        </pc:sldMkLst>
      </pc:sldChg>
      <pc:sldChg chg="modSp mod modClrScheme chgLayout">
        <pc:chgData name="Shailendra Chauhan" userId="a7d3133f-e197-4b90-bf63-99a63a264234" providerId="ADAL" clId="{95B99BFF-A9BB-4F11-AA1F-225CA6374926}" dt="2024-07-06T07:29:27.659" v="47" actId="700"/>
        <pc:sldMkLst>
          <pc:docMk/>
          <pc:sldMk cId="0" sldId="259"/>
        </pc:sldMkLst>
      </pc:sldChg>
      <pc:sldChg chg="modSp mod modClrScheme chgLayout">
        <pc:chgData name="Shailendra Chauhan" userId="a7d3133f-e197-4b90-bf63-99a63a264234" providerId="ADAL" clId="{95B99BFF-A9BB-4F11-AA1F-225CA6374926}" dt="2024-07-06T07:29:35.003" v="49" actId="1076"/>
        <pc:sldMkLst>
          <pc:docMk/>
          <pc:sldMk cId="0" sldId="260"/>
        </pc:sldMkLst>
      </pc:sldChg>
      <pc:sldChg chg="modSp mod modClrScheme chgLayout">
        <pc:chgData name="Shailendra Chauhan" userId="a7d3133f-e197-4b90-bf63-99a63a264234" providerId="ADAL" clId="{95B99BFF-A9BB-4F11-AA1F-225CA6374926}" dt="2024-07-06T07:29:41.107" v="50" actId="700"/>
        <pc:sldMkLst>
          <pc:docMk/>
          <pc:sldMk cId="0" sldId="261"/>
        </pc:sldMkLst>
      </pc:sldChg>
      <pc:sldChg chg="modSp mod modClrScheme chgLayout">
        <pc:chgData name="Shailendra Chauhan" userId="a7d3133f-e197-4b90-bf63-99a63a264234" providerId="ADAL" clId="{95B99BFF-A9BB-4F11-AA1F-225CA6374926}" dt="2024-07-06T07:29:53.381" v="51" actId="700"/>
        <pc:sldMkLst>
          <pc:docMk/>
          <pc:sldMk cId="0" sldId="262"/>
        </pc:sldMkLst>
      </pc:sldChg>
      <pc:sldChg chg="modSp mod modClrScheme chgLayout">
        <pc:chgData name="Shailendra Chauhan" userId="a7d3133f-e197-4b90-bf63-99a63a264234" providerId="ADAL" clId="{95B99BFF-A9BB-4F11-AA1F-225CA6374926}" dt="2024-07-06T07:30:10.112" v="52" actId="700"/>
        <pc:sldMkLst>
          <pc:docMk/>
          <pc:sldMk cId="0" sldId="263"/>
        </pc:sldMkLst>
      </pc:sldChg>
      <pc:sldChg chg="modSp mod modClrScheme chgLayout">
        <pc:chgData name="Shailendra Chauhan" userId="a7d3133f-e197-4b90-bf63-99a63a264234" providerId="ADAL" clId="{95B99BFF-A9BB-4F11-AA1F-225CA6374926}" dt="2024-07-06T07:30:26.118" v="53" actId="700"/>
        <pc:sldMkLst>
          <pc:docMk/>
          <pc:sldMk cId="0" sldId="264"/>
        </pc:sldMkLst>
      </pc:sldChg>
      <pc:sldChg chg="modSp mod modClrScheme chgLayout">
        <pc:chgData name="Shailendra Chauhan" userId="a7d3133f-e197-4b90-bf63-99a63a264234" providerId="ADAL" clId="{95B99BFF-A9BB-4F11-AA1F-225CA6374926}" dt="2024-07-06T07:31:03.059" v="56" actId="255"/>
        <pc:sldMkLst>
          <pc:docMk/>
          <pc:sldMk cId="0" sldId="265"/>
        </pc:sldMkLst>
      </pc:sldChg>
      <pc:sldChg chg="modSp mod modClrScheme chgLayout">
        <pc:chgData name="Shailendra Chauhan" userId="a7d3133f-e197-4b90-bf63-99a63a264234" providerId="ADAL" clId="{95B99BFF-A9BB-4F11-AA1F-225CA6374926}" dt="2024-07-06T07:31:09.619" v="57" actId="700"/>
        <pc:sldMkLst>
          <pc:docMk/>
          <pc:sldMk cId="0" sldId="266"/>
        </pc:sldMkLst>
      </pc:sldChg>
      <pc:sldChg chg="modSp mod modClrScheme chgLayout">
        <pc:chgData name="Shailendra Chauhan" userId="a7d3133f-e197-4b90-bf63-99a63a264234" providerId="ADAL" clId="{95B99BFF-A9BB-4F11-AA1F-225CA6374926}" dt="2024-07-06T07:31:21.759" v="58" actId="700"/>
        <pc:sldMkLst>
          <pc:docMk/>
          <pc:sldMk cId="0" sldId="267"/>
        </pc:sldMkLst>
      </pc:sldChg>
      <pc:sldChg chg="addSp modSp mod modClrScheme chgLayout">
        <pc:chgData name="Shailendra Chauhan" userId="a7d3133f-e197-4b90-bf63-99a63a264234" providerId="ADAL" clId="{95B99BFF-A9BB-4F11-AA1F-225CA6374926}" dt="2024-07-06T07:33:18.528" v="112" actId="20577"/>
        <pc:sldMkLst>
          <pc:docMk/>
          <pc:sldMk cId="0" sldId="268"/>
        </pc:sldMkLst>
      </pc:sldChg>
      <pc:sldChg chg="modSp del mod modClrScheme chgLayout">
        <pc:chgData name="Shailendra Chauhan" userId="a7d3133f-e197-4b90-bf63-99a63a264234" providerId="ADAL" clId="{95B99BFF-A9BB-4F11-AA1F-225CA6374926}" dt="2024-07-06T07:34:07.740" v="133" actId="2696"/>
        <pc:sldMkLst>
          <pc:docMk/>
          <pc:sldMk cId="0" sldId="269"/>
        </pc:sldMkLst>
      </pc:sldChg>
      <pc:sldChg chg="modSp del">
        <pc:chgData name="Shailendra Chauhan" userId="a7d3133f-e197-4b90-bf63-99a63a264234" providerId="ADAL" clId="{95B99BFF-A9BB-4F11-AA1F-225CA6374926}" dt="2024-07-06T07:35:17.005" v="170" actId="2696"/>
        <pc:sldMkLst>
          <pc:docMk/>
          <pc:sldMk cId="0" sldId="270"/>
        </pc:sldMkLst>
      </pc:sldChg>
      <pc:sldChg chg="modSp mod modClrScheme chgLayout">
        <pc:chgData name="Shailendra Chauhan" userId="a7d3133f-e197-4b90-bf63-99a63a264234" providerId="ADAL" clId="{95B99BFF-A9BB-4F11-AA1F-225CA6374926}" dt="2024-07-06T07:35:26.240" v="172" actId="12"/>
        <pc:sldMkLst>
          <pc:docMk/>
          <pc:sldMk cId="0" sldId="271"/>
        </pc:sldMkLst>
      </pc:sldChg>
      <pc:sldChg chg="modSp mod modClrScheme chgLayout">
        <pc:chgData name="Shailendra Chauhan" userId="a7d3133f-e197-4b90-bf63-99a63a264234" providerId="ADAL" clId="{95B99BFF-A9BB-4F11-AA1F-225CA6374926}" dt="2024-07-06T07:35:43.814" v="189" actId="1036"/>
        <pc:sldMkLst>
          <pc:docMk/>
          <pc:sldMk cId="0" sldId="272"/>
        </pc:sldMkLst>
      </pc:sldChg>
      <pc:sldChg chg="modSp mod modClrScheme chgLayout">
        <pc:chgData name="Shailendra Chauhan" userId="a7d3133f-e197-4b90-bf63-99a63a264234" providerId="ADAL" clId="{95B99BFF-A9BB-4F11-AA1F-225CA6374926}" dt="2024-07-12T13:28:42.731" v="197" actId="20577"/>
        <pc:sldMkLst>
          <pc:docMk/>
          <pc:sldMk cId="0" sldId="273"/>
        </pc:sldMkLst>
      </pc:sldChg>
      <pc:sldChg chg="addSp modSp new mod">
        <pc:chgData name="Shailendra Chauhan" userId="a7d3133f-e197-4b90-bf63-99a63a264234" providerId="ADAL" clId="{95B99BFF-A9BB-4F11-AA1F-225CA6374926}" dt="2024-07-06T07:34:13.280" v="137" actId="20577"/>
        <pc:sldMkLst>
          <pc:docMk/>
          <pc:sldMk cId="3472998651" sldId="274"/>
        </pc:sldMkLst>
      </pc:sldChg>
      <pc:sldChg chg="addSp modSp new mod">
        <pc:chgData name="Shailendra Chauhan" userId="a7d3133f-e197-4b90-bf63-99a63a264234" providerId="ADAL" clId="{95B99BFF-A9BB-4F11-AA1F-225CA6374926}" dt="2024-07-06T07:35:12.826" v="169" actId="313"/>
        <pc:sldMkLst>
          <pc:docMk/>
          <pc:sldMk cId="2918792343" sldId="275"/>
        </pc:sldMkLst>
      </pc:sldChg>
      <pc:sldMasterChg chg="delSldLayout modSldLayout">
        <pc:chgData name="Shailendra Chauhan" userId="a7d3133f-e197-4b90-bf63-99a63a264234" providerId="ADAL" clId="{95B99BFF-A9BB-4F11-AA1F-225CA6374926}" dt="2024-07-06T07:35:54.406" v="191" actId="2696"/>
        <pc:sldMasterMkLst>
          <pc:docMk/>
          <pc:sldMasterMk cId="667184692" sldId="2147483669"/>
        </pc:sldMasterMkLst>
        <pc:sldLayoutChg chg="delSp del">
          <pc:chgData name="Shailendra Chauhan" userId="a7d3133f-e197-4b90-bf63-99a63a264234" providerId="ADAL" clId="{95B99BFF-A9BB-4F11-AA1F-225CA6374926}" dt="2024-07-06T07:26:25.494" v="21" actId="2696"/>
          <pc:sldLayoutMkLst>
            <pc:docMk/>
            <pc:sldMasterMk cId="667184692" sldId="2147483669"/>
            <pc:sldLayoutMk cId="1900061816" sldId="2147483695"/>
          </pc:sldLayoutMkLst>
        </pc:sldLayoutChg>
        <pc:sldLayoutChg chg="delSp del">
          <pc:chgData name="Shailendra Chauhan" userId="a7d3133f-e197-4b90-bf63-99a63a264234" providerId="ADAL" clId="{95B99BFF-A9BB-4F11-AA1F-225CA6374926}" dt="2024-07-06T07:26:24.466" v="20" actId="2696"/>
          <pc:sldLayoutMkLst>
            <pc:docMk/>
            <pc:sldMasterMk cId="667184692" sldId="2147483669"/>
            <pc:sldLayoutMk cId="2496638112" sldId="2147483696"/>
          </pc:sldLayoutMkLst>
        </pc:sldLayoutChg>
        <pc:sldLayoutChg chg="delSp del">
          <pc:chgData name="Shailendra Chauhan" userId="a7d3133f-e197-4b90-bf63-99a63a264234" providerId="ADAL" clId="{95B99BFF-A9BB-4F11-AA1F-225CA6374926}" dt="2024-07-06T07:35:54.406" v="191" actId="2696"/>
          <pc:sldLayoutMkLst>
            <pc:docMk/>
            <pc:sldMasterMk cId="667184692" sldId="2147483669"/>
            <pc:sldLayoutMk cId="837306652" sldId="2147483697"/>
          </pc:sldLayoutMkLst>
        </pc:sldLayoutChg>
        <pc:sldLayoutChg chg="delSp del">
          <pc:chgData name="Shailendra Chauhan" userId="a7d3133f-e197-4b90-bf63-99a63a264234" providerId="ADAL" clId="{95B99BFF-A9BB-4F11-AA1F-225CA6374926}" dt="2024-07-06T07:26:22.490" v="19" actId="2696"/>
          <pc:sldLayoutMkLst>
            <pc:docMk/>
            <pc:sldMasterMk cId="667184692" sldId="2147483669"/>
            <pc:sldLayoutMk cId="3769833425" sldId="2147483698"/>
          </pc:sldLayoutMkLst>
        </pc:sldLayoutChg>
        <pc:sldLayoutChg chg="delSp del">
          <pc:chgData name="Shailendra Chauhan" userId="a7d3133f-e197-4b90-bf63-99a63a264234" providerId="ADAL" clId="{95B99BFF-A9BB-4F11-AA1F-225CA6374926}" dt="2024-07-06T07:35:51.401" v="190" actId="2696"/>
          <pc:sldLayoutMkLst>
            <pc:docMk/>
            <pc:sldMasterMk cId="667184692" sldId="2147483669"/>
            <pc:sldLayoutMk cId="807048007" sldId="2147483699"/>
          </pc:sldLayoutMkLst>
        </pc:sldLayoutChg>
        <pc:sldLayoutChg chg="del">
          <pc:chgData name="Shailendra Chauhan" userId="a7d3133f-e197-4b90-bf63-99a63a264234" providerId="ADAL" clId="{95B99BFF-A9BB-4F11-AA1F-225CA6374926}" dt="2024-07-06T07:35:17.005" v="170" actId="2696"/>
          <pc:sldLayoutMkLst>
            <pc:docMk/>
            <pc:sldMasterMk cId="667184692" sldId="2147483669"/>
            <pc:sldLayoutMk cId="2002588989" sldId="2147483700"/>
          </pc:sldLayoutMkLst>
        </pc:sldLayoutChg>
      </pc:sldMasterChg>
    </pc:docChg>
  </pc:docChgLst>
  <pc:docChgLst>
    <pc:chgData name="Shailendra Chauhan" userId="a7d3133f-e197-4b90-bf63-99a63a264234" providerId="ADAL" clId="{9ABC52E8-71FE-4A8C-9530-82EFC7F3A50A}"/>
    <pc:docChg chg="modSld">
      <pc:chgData name="Shailendra Chauhan" userId="a7d3133f-e197-4b90-bf63-99a63a264234" providerId="ADAL" clId="{9ABC52E8-71FE-4A8C-9530-82EFC7F3A50A}" dt="2024-10-27T12:39:14.145" v="34" actId="20577"/>
      <pc:docMkLst>
        <pc:docMk/>
      </pc:docMkLst>
      <pc:sldChg chg="modSp">
        <pc:chgData name="Shailendra Chauhan" userId="a7d3133f-e197-4b90-bf63-99a63a264234" providerId="ADAL" clId="{9ABC52E8-71FE-4A8C-9530-82EFC7F3A50A}" dt="2024-10-27T12:39:14.145" v="34" actId="20577"/>
        <pc:sldMkLst>
          <pc:docMk/>
          <pc:sldMk cId="0" sldId="273"/>
        </pc:sldMkLst>
      </pc:sldChg>
    </pc:docChg>
  </pc:docChgLst>
  <pc:docChgLst>
    <pc:chgData name="Shailendra Chauhan" userId="a7d3133f-e197-4b90-bf63-99a63a264234" providerId="ADAL" clId="{9B7BDC4D-1925-4583-B176-D652F22E0542}"/>
    <pc:docChg chg="undo custSel modSld">
      <pc:chgData name="Shailendra Chauhan" userId="a7d3133f-e197-4b90-bf63-99a63a264234" providerId="ADAL" clId="{9B7BDC4D-1925-4583-B176-D652F22E0542}" dt="2024-03-30T14:08:48.298" v="61" actId="2711"/>
      <pc:docMkLst>
        <pc:docMk/>
      </pc:docMkLst>
      <pc:sldChg chg="modSp mod">
        <pc:chgData name="Shailendra Chauhan" userId="a7d3133f-e197-4b90-bf63-99a63a264234" providerId="ADAL" clId="{9B7BDC4D-1925-4583-B176-D652F22E0542}" dt="2024-03-17T09:29:33.309" v="53" actId="20577"/>
        <pc:sldMkLst>
          <pc:docMk/>
          <pc:sldMk cId="0" sldId="256"/>
        </pc:sldMkLst>
      </pc:sldChg>
      <pc:sldChg chg="modSp">
        <pc:chgData name="Shailendra Chauhan" userId="a7d3133f-e197-4b90-bf63-99a63a264234" providerId="ADAL" clId="{9B7BDC4D-1925-4583-B176-D652F22E0542}" dt="2024-03-30T14:08:48.298" v="61" actId="2711"/>
        <pc:sldMkLst>
          <pc:docMk/>
          <pc:sldMk cId="0" sldId="258"/>
        </pc:sldMkLst>
      </pc:sldChg>
      <pc:sldChg chg="modSp">
        <pc:chgData name="Shailendra Chauhan" userId="a7d3133f-e197-4b90-bf63-99a63a264234" providerId="ADAL" clId="{9B7BDC4D-1925-4583-B176-D652F22E0542}" dt="2024-03-30T14:08:41.694" v="60" actId="2711"/>
        <pc:sldMkLst>
          <pc:docMk/>
          <pc:sldMk cId="0" sldId="261"/>
        </pc:sldMkLst>
      </pc:sldChg>
      <pc:sldChg chg="modSp">
        <pc:chgData name="Shailendra Chauhan" userId="a7d3133f-e197-4b90-bf63-99a63a264234" providerId="ADAL" clId="{9B7BDC4D-1925-4583-B176-D652F22E0542}" dt="2024-03-30T14:08:29.232" v="59" actId="2711"/>
        <pc:sldMkLst>
          <pc:docMk/>
          <pc:sldMk cId="0" sldId="262"/>
        </pc:sldMkLst>
      </pc:sldChg>
      <pc:sldChg chg="modSp">
        <pc:chgData name="Shailendra Chauhan" userId="a7d3133f-e197-4b90-bf63-99a63a264234" providerId="ADAL" clId="{9B7BDC4D-1925-4583-B176-D652F22E0542}" dt="2024-03-30T14:08:21.172" v="58" actId="2711"/>
        <pc:sldMkLst>
          <pc:docMk/>
          <pc:sldMk cId="0" sldId="263"/>
        </pc:sldMkLst>
      </pc:sldChg>
      <pc:sldChg chg="modSp">
        <pc:chgData name="Shailendra Chauhan" userId="a7d3133f-e197-4b90-bf63-99a63a264234" providerId="ADAL" clId="{9B7BDC4D-1925-4583-B176-D652F22E0542}" dt="2024-03-30T14:08:15.068" v="57" actId="2711"/>
        <pc:sldMkLst>
          <pc:docMk/>
          <pc:sldMk cId="0" sldId="264"/>
        </pc:sldMkLst>
      </pc:sldChg>
      <pc:sldChg chg="modSp">
        <pc:chgData name="Shailendra Chauhan" userId="a7d3133f-e197-4b90-bf63-99a63a264234" providerId="ADAL" clId="{9B7BDC4D-1925-4583-B176-D652F22E0542}" dt="2024-03-30T14:08:09.375" v="56" actId="2711"/>
        <pc:sldMkLst>
          <pc:docMk/>
          <pc:sldMk cId="0" sldId="265"/>
        </pc:sldMkLst>
      </pc:sldChg>
      <pc:sldChg chg="modSp">
        <pc:chgData name="Shailendra Chauhan" userId="a7d3133f-e197-4b90-bf63-99a63a264234" providerId="ADAL" clId="{9B7BDC4D-1925-4583-B176-D652F22E0542}" dt="2024-03-30T14:08:03.246" v="55" actId="2711"/>
        <pc:sldMkLst>
          <pc:docMk/>
          <pc:sldMk cId="0" sldId="266"/>
        </pc:sldMkLst>
      </pc:sldChg>
      <pc:sldChg chg="modSp mod">
        <pc:chgData name="Shailendra Chauhan" userId="a7d3133f-e197-4b90-bf63-99a63a264234" providerId="ADAL" clId="{9B7BDC4D-1925-4583-B176-D652F22E0542}" dt="2024-03-30T14:07:53.308" v="54" actId="2711"/>
        <pc:sldMkLst>
          <pc:docMk/>
          <pc:sldMk cId="0" sldId="271"/>
        </pc:sldMkLst>
      </pc:sldChg>
    </pc:docChg>
  </pc:docChgLst>
  <pc:docChgLst>
    <pc:chgData name="Shailendra Chauhan" userId="a7d3133f-e197-4b90-bf63-99a63a264234" providerId="ADAL" clId="{B4E7C510-4D5E-4877-83C6-C150962D77C7}"/>
    <pc:docChg chg="undo custSel modSld">
      <pc:chgData name="Shailendra Chauhan" userId="a7d3133f-e197-4b90-bf63-99a63a264234" providerId="ADAL" clId="{B4E7C510-4D5E-4877-83C6-C150962D77C7}" dt="2025-02-08T08:30:41.580" v="137" actId="700"/>
      <pc:docMkLst>
        <pc:docMk/>
      </pc:docMkLst>
      <pc:sldChg chg="addSp delSp modSp mod setBg modClrScheme modAnim chgLayout">
        <pc:chgData name="Shailendra Chauhan" userId="a7d3133f-e197-4b90-bf63-99a63a264234" providerId="ADAL" clId="{B4E7C510-4D5E-4877-83C6-C150962D77C7}" dt="2025-02-08T08:30:15.867" v="135" actId="1035"/>
        <pc:sldMkLst>
          <pc:docMk/>
          <pc:sldMk cId="0" sldId="257"/>
        </pc:sldMkLst>
      </pc:sldChg>
      <pc:sldChg chg="modSp mod modClrScheme chgLayout">
        <pc:chgData name="Shailendra Chauhan" userId="a7d3133f-e197-4b90-bf63-99a63a264234" providerId="ADAL" clId="{B4E7C510-4D5E-4877-83C6-C150962D77C7}" dt="2025-02-08T08:30:41.580" v="137" actId="700"/>
        <pc:sldMkLst>
          <pc:docMk/>
          <pc:sldMk cId="0" sldId="259"/>
        </pc:sldMkLst>
      </pc:sldChg>
      <pc:sldChg chg="modSp mod setBg modClrScheme chgLayout">
        <pc:chgData name="Shailendra Chauhan" userId="a7d3133f-e197-4b90-bf63-99a63a264234" providerId="ADAL" clId="{B4E7C510-4D5E-4877-83C6-C150962D77C7}" dt="2025-02-08T08:25:55.686" v="2" actId="208"/>
        <pc:sldMkLst>
          <pc:docMk/>
          <pc:sldMk cId="0" sldId="272"/>
        </pc:sldMkLst>
      </pc:sldChg>
    </pc:docChg>
  </pc:docChgLst>
  <pc:docChgLst>
    <pc:chgData name="Shailendra Chauhan" userId="a7d3133f-e197-4b90-bf63-99a63a264234" providerId="ADAL" clId="{7FD0A1D7-8C13-4DD1-9B87-8F7195A481A9}"/>
    <pc:docChg chg="delSld">
      <pc:chgData name="Shailendra Chauhan" userId="a7d3133f-e197-4b90-bf63-99a63a264234" providerId="ADAL" clId="{7FD0A1D7-8C13-4DD1-9B87-8F7195A481A9}" dt="2025-06-03T05:58:19.741" v="0" actId="2696"/>
      <pc:docMkLst>
        <pc:docMk/>
      </pc:docMkLst>
      <pc:sldChg chg="del">
        <pc:chgData name="Shailendra Chauhan" userId="a7d3133f-e197-4b90-bf63-99a63a264234" providerId="ADAL" clId="{7FD0A1D7-8C13-4DD1-9B87-8F7195A481A9}" dt="2025-06-03T05:58:19.741" v="0" actId="2696"/>
        <pc:sldMkLst>
          <pc:docMk/>
          <pc:sldMk cId="3472998651" sldId="2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medium.com/@madhukaudantha/microservice-architecture-and-design-patterns-for-microservices-e0e5013fd58a" TargetMode="External"/><Relationship Id="rId2" Type="http://schemas.openxmlformats.org/officeDocument/2006/relationships/slide" Target="../slides/slide17.xml"/><Relationship Id="rId1" Type="http://schemas.openxmlformats.org/officeDocument/2006/relationships/notesMaster" Target="../notesMasters/notesMaster1.xml"/><Relationship Id="rId5" Type="http://schemas.openxmlformats.org/officeDocument/2006/relationships/hyperlink" Target="https://docs.microsoft.com/en-us/dotnet/architecture/microservices/microservice-ddd-cqrs-patterns/microservice-domain-model" TargetMode="External"/><Relationship Id="rId4" Type="http://schemas.openxmlformats.org/officeDocument/2006/relationships/hyperlink" Target="https://dzone.com/articles/design-patterns-for-microservices"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Now, let's look at how a virtual machine (VM) is different from a container.</a:t>
            </a:r>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While containers may sound like a VM, the two are distinct technologies. With VMs each virtual machine includes the application, the necessary binaries and libraries and the </a:t>
            </a:r>
            <a:r>
              <a:rPr lang="en-US" sz="1200" b="1" i="0">
                <a:solidFill>
                  <a:schemeClr val="dk1"/>
                </a:solidFill>
                <a:latin typeface="Calibri"/>
                <a:ea typeface="Calibri"/>
                <a:cs typeface="Calibri"/>
                <a:sym typeface="Calibri"/>
              </a:rPr>
              <a:t>entire guest operating system.</a:t>
            </a:r>
            <a:endParaRPr sz="1200" b="0" i="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Whereas, Containers include the application, all of its dependencies, but share the kernel with other containers and are not tied to any specific infrastructure, other than having the Docker engine installed on its host – allowing containers to run on almost any computer, infrastructure and cloud.</a:t>
            </a: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r>
              <a:rPr lang="en-US" sz="1200" b="0" i="1">
                <a:solidFill>
                  <a:schemeClr val="dk1"/>
                </a:solidFill>
                <a:latin typeface="Calibri"/>
                <a:ea typeface="Calibri"/>
                <a:cs typeface="Calibri"/>
                <a:sym typeface="Calibri"/>
              </a:rPr>
              <a:t>Note - at this time, Windows and Linux containers require that they run on their respective kernel base, therefore, Windows containers cannot run on Linux hosts and vice versa.</a:t>
            </a:r>
            <a:endParaRPr/>
          </a:p>
        </p:txBody>
      </p:sp>
      <p:sp>
        <p:nvSpPr>
          <p:cNvPr id="120" name="Google Shape;12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Service Oriented – Services communicate with each other over the network</a:t>
            </a:r>
            <a:endParaRPr/>
          </a:p>
          <a:p>
            <a:pPr marL="0" lvl="0" indent="0" algn="l" rtl="0">
              <a:spcBef>
                <a:spcPts val="0"/>
              </a:spcBef>
              <a:spcAft>
                <a:spcPts val="0"/>
              </a:spcAft>
              <a:buNone/>
            </a:pPr>
            <a:r>
              <a:rPr lang="en-US"/>
              <a:t>Loosely coupled elements – You can update the service independently and updating one service doesn’t require changing in any other service</a:t>
            </a:r>
            <a:endParaRPr/>
          </a:p>
          <a:p>
            <a:pPr marL="0" lvl="0" indent="0" algn="l" rtl="0">
              <a:spcBef>
                <a:spcPts val="0"/>
              </a:spcBef>
              <a:spcAft>
                <a:spcPts val="0"/>
              </a:spcAft>
              <a:buNone/>
            </a:pPr>
            <a:r>
              <a:rPr lang="en-US"/>
              <a:t>Bounded Context – Self Contained; you can update the code without knowing  anything about the internals of other microservices</a:t>
            </a:r>
            <a:endParaRPr/>
          </a:p>
          <a:p>
            <a:pPr marL="0" lvl="0" indent="0" algn="l" rtl="0">
              <a:spcBef>
                <a:spcPts val="0"/>
              </a:spcBef>
              <a:spcAft>
                <a:spcPts val="0"/>
              </a:spcAft>
              <a:buNone/>
            </a:pPr>
            <a:endParaRPr/>
          </a:p>
        </p:txBody>
      </p:sp>
      <p:sp>
        <p:nvSpPr>
          <p:cNvPr id="131" name="Google Shape;13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The main point to SOA (as compared to standard N-Tier architecture) is re-usability of the underlying services. This is where the aforementioned loose coupling comes in very handy - your web services are generic enough and independent enough to be used in many different applications.</a:t>
            </a:r>
            <a:endParaRPr/>
          </a:p>
        </p:txBody>
      </p:sp>
      <p:sp>
        <p:nvSpPr>
          <p:cNvPr id="138" name="Google Shape;138;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i="0">
                <a:solidFill>
                  <a:schemeClr val="dk1"/>
                </a:solidFill>
                <a:latin typeface="Calibri"/>
                <a:ea typeface="Calibri"/>
                <a:cs typeface="Calibri"/>
                <a:sym typeface="Calibri"/>
              </a:rPr>
              <a:t>Self-healing</a:t>
            </a:r>
            <a:r>
              <a:rPr lang="en-US" sz="1200" b="0" i="0">
                <a:solidFill>
                  <a:schemeClr val="dk1"/>
                </a:solidFill>
                <a:latin typeface="Calibri"/>
                <a:ea typeface="Calibri"/>
                <a:cs typeface="Calibri"/>
                <a:sym typeface="Calibri"/>
              </a:rPr>
              <a:t> refers to the process of recovery (generally from psychological disturbances, trauma, etc.), motivated by and directed by the patient, guided often only by instinct. Such a process encounters mixed fortunes due to its amateur nature, although self-motivation is a major asset.</a:t>
            </a:r>
            <a:endParaRPr/>
          </a:p>
        </p:txBody>
      </p:sp>
      <p:sp>
        <p:nvSpPr>
          <p:cNvPr id="179" name="Google Shape;17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u="sng">
                <a:solidFill>
                  <a:schemeClr val="hlink"/>
                </a:solidFill>
                <a:hlinkClick r:id="rId3"/>
              </a:rPr>
              <a:t>https://medium.com/@madhukaudantha/microservice-architecture-and-design-patterns-for-microservices-e0e5013fd58a</a:t>
            </a:r>
            <a:endParaRPr/>
          </a:p>
          <a:p>
            <a:pPr marL="0" lvl="0" indent="0" algn="l" rtl="0">
              <a:spcBef>
                <a:spcPts val="0"/>
              </a:spcBef>
              <a:spcAft>
                <a:spcPts val="0"/>
              </a:spcAft>
              <a:buNone/>
            </a:pPr>
            <a:r>
              <a:rPr lang="en-US" u="sng">
                <a:solidFill>
                  <a:schemeClr val="hlink"/>
                </a:solidFill>
                <a:hlinkClick r:id="rId4"/>
              </a:rPr>
              <a:t>https://dzone.com/articles/design-patterns-for-microservices</a:t>
            </a:r>
            <a:endParaRPr/>
          </a:p>
          <a:p>
            <a:pPr marL="0" lvl="0" indent="0" algn="l" rtl="0">
              <a:spcBef>
                <a:spcPts val="0"/>
              </a:spcBef>
              <a:spcAft>
                <a:spcPts val="0"/>
              </a:spcAft>
              <a:buNone/>
            </a:pPr>
            <a:r>
              <a:rPr lang="en-US" u="sng">
                <a:solidFill>
                  <a:schemeClr val="hlink"/>
                </a:solidFill>
                <a:hlinkClick r:id="rId5"/>
              </a:rPr>
              <a:t>https://docs.microsoft.com/en-us/dotnet/architecture/microservices/microservice-ddd-cqrs-patterns/microservice-domain-model</a:t>
            </a:r>
            <a:endParaRPr/>
          </a:p>
        </p:txBody>
      </p:sp>
      <p:sp>
        <p:nvSpPr>
          <p:cNvPr id="228" name="Google Shape;22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dirty="0"/>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249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8329562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5700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7197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677900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1010589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850855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57038557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5860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Heading and Content - Light Them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1318147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ouble Heading and Content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719591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eading, Content and Image Horizontal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4355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eading, Content and Image Vertical - Light Them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2315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Heading and Image - Light Them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1878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Light">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dirty="0"/>
              <a:t>First Level</a:t>
            </a:r>
          </a:p>
          <a:p>
            <a:pPr lvl="1"/>
            <a:r>
              <a:rPr lang="en-US" dirty="0"/>
              <a:t>Second Level</a:t>
            </a:r>
          </a:p>
          <a:p>
            <a:pPr lvl="2"/>
            <a:r>
              <a:rPr lang="en-US" dirty="0"/>
              <a:t>Third Level</a:t>
            </a:r>
          </a:p>
          <a:p>
            <a:pPr lvl="0"/>
            <a:endParaRPr lang="en-US" dirty="0"/>
          </a:p>
          <a:p>
            <a:pPr lvl="0"/>
            <a:endParaRPr lang="en-US" dirty="0"/>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194545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Vertical Heading and Large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35519952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Vertical Heading and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 Text</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29973147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2570308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2846205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1399860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170853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284229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39793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dirty="0"/>
              <a:t>Heading Text</a:t>
            </a:r>
            <a:endParaRPr lang="en-US" dirty="0">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571556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dirty="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473938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667184692"/>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 id="2147483690" r:id="rId21"/>
    <p:sldLayoutId id="2147483691" r:id="rId22"/>
    <p:sldLayoutId id="2147483692" r:id="rId23"/>
    <p:sldLayoutId id="2147483693" r:id="rId24"/>
    <p:sldLayoutId id="2147483694" r:id="rId2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5" name="Google Shape;115;p1"/>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Evolution of Computing</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Introduction to Microservices</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Microservices Principles</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Advantages of Microservices</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Challenges of Microservices</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N-Layer App to Microservices</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Microservices Patterns</a:t>
            </a:r>
          </a:p>
          <a:p>
            <a:pPr marL="228600" lvl="0" indent="-228600" algn="l" rtl="0">
              <a:lnSpc>
                <a:spcPct val="100000"/>
              </a:lnSpc>
              <a:spcBef>
                <a:spcPts val="1000"/>
              </a:spcBef>
              <a:spcAft>
                <a:spcPts val="0"/>
              </a:spcAft>
              <a:buClrTx/>
              <a:buSzPts val="2800"/>
              <a:buChar char="•"/>
            </a:pPr>
            <a:r>
              <a:rPr lang="en-US" dirty="0">
                <a:latin typeface="Calibri Light" panose="020F0302020204030204" pitchFamily="34" charset="0"/>
                <a:ea typeface="Calibri Light" panose="020F0302020204030204" pitchFamily="34" charset="0"/>
                <a:cs typeface="Calibri Light" panose="020F0302020204030204" pitchFamily="34" charset="0"/>
              </a:rPr>
              <a:t>Hands-On</a:t>
            </a:r>
            <a:endParaRPr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16" name="Google Shape;116;p1"/>
          <p:cNvSpPr txBox="1">
            <a:spLocks noGrp="1"/>
          </p:cNvSpPr>
          <p:nvPr>
            <p:ph sz="half" idx="10"/>
          </p:nvPr>
        </p:nvSpPr>
        <p:spPr>
          <a:prstGeom prst="rect">
            <a:avLst/>
          </a:prstGeom>
          <a:noFill/>
          <a:ln>
            <a:noFill/>
          </a:ln>
        </p:spPr>
        <p:txBody>
          <a:bodyPr spcFirstLastPara="1" wrap="square" lIns="91425" tIns="45700" rIns="91425" bIns="45700" anchor="t" anchorCtr="0">
            <a:normAutofit fontScale="92500"/>
          </a:bodyPr>
          <a:lstStyle/>
          <a:p>
            <a:pPr marL="0" lvl="0" indent="0" algn="l" rtl="0">
              <a:lnSpc>
                <a:spcPct val="90000"/>
              </a:lnSpc>
              <a:spcBef>
                <a:spcPts val="0"/>
              </a:spcBef>
              <a:spcAft>
                <a:spcPts val="0"/>
              </a:spcAft>
              <a:buClr>
                <a:srgbClr val="0070C0"/>
              </a:buClr>
              <a:buSzPts val="3600"/>
              <a:buFont typeface="Calibri"/>
              <a:buNone/>
            </a:pPr>
            <a:r>
              <a:rPr lang="en-US" dirty="0"/>
              <a:t>Building Microservices with .NET</a:t>
            </a:r>
            <a:endParaRPr dirty="0"/>
          </a:p>
        </p:txBody>
      </p:sp>
      <p:sp>
        <p:nvSpPr>
          <p:cNvPr id="114" name="Google Shape;114;p1"/>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4400"/>
              <a:buFont typeface="Calibri"/>
              <a:buNone/>
            </a:pPr>
            <a:r>
              <a:rPr lang="en-US"/>
              <a:t>Agenda</a:t>
            </a:r>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Tx/>
              <a:buSzPts val="2400"/>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Founder &amp; CEO at </a:t>
            </a:r>
            <a:r>
              <a:rPr lang="en-US" sz="2400" dirty="0" err="1">
                <a:latin typeface="Calibri Light" panose="020F0302020204030204" pitchFamily="34" charset="0"/>
                <a:ea typeface="Calibri Light" panose="020F0302020204030204" pitchFamily="34" charset="0"/>
                <a:cs typeface="Calibri Light" panose="020F0302020204030204" pitchFamily="34" charset="0"/>
              </a:rPr>
              <a:t>ScholarHat</a:t>
            </a:r>
            <a:endParaRPr sz="2400"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400"/>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Speaker and Technical Consultant</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400"/>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9</a:t>
            </a:r>
            <a:r>
              <a:rPr lang="en-US" sz="2400" baseline="30000" dirty="0">
                <a:latin typeface="Calibri Light" panose="020F0302020204030204" pitchFamily="34" charset="0"/>
                <a:ea typeface="Calibri Light" panose="020F0302020204030204" pitchFamily="34" charset="0"/>
                <a:cs typeface="Calibri Light" panose="020F0302020204030204" pitchFamily="34" charset="0"/>
              </a:rPr>
              <a:t>th</a:t>
            </a:r>
            <a:r>
              <a:rPr lang="en-US" sz="2400" dirty="0">
                <a:latin typeface="Calibri Light" panose="020F0302020204030204" pitchFamily="34" charset="0"/>
                <a:ea typeface="Calibri Light" panose="020F0302020204030204" pitchFamily="34" charset="0"/>
                <a:cs typeface="Calibri Light" panose="020F0302020204030204" pitchFamily="34" charset="0"/>
              </a:rPr>
              <a:t> Times Microsoft MVP (2016-2024)</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400"/>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Corporate Trainer for IBM</a:t>
            </a:r>
            <a:r>
              <a:rPr lang="en-US" sz="2400">
                <a:latin typeface="Calibri Light" panose="020F0302020204030204" pitchFamily="34" charset="0"/>
                <a:ea typeface="Calibri Light" panose="020F0302020204030204" pitchFamily="34" charset="0"/>
                <a:cs typeface="Calibri Light" panose="020F0302020204030204" pitchFamily="34" charset="0"/>
              </a:rPr>
              <a:t>, Cognizant, Dell, TCS etc.</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400"/>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Microsoft Certified Azure Professional</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400"/>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Trained 1Lakh+ Students Across the World</a:t>
            </a:r>
            <a:endParaRPr sz="2400"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400"/>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Author of 15 eBooks on Interview Q&amp;A</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400"/>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Author of 500+ Articles</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400"/>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Mentor of 30+ Video Based Courses</a:t>
            </a:r>
            <a:endParaRPr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35" name="Google Shape;135;p2"/>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4000"/>
              <a:buFont typeface="Calibri"/>
              <a:buNone/>
            </a:pPr>
            <a:r>
              <a:rPr lang="en-US"/>
              <a:t>About Mentor</a:t>
            </a:r>
            <a:endParaRPr/>
          </a:p>
        </p:txBody>
      </p:sp>
      <p:grpSp>
        <p:nvGrpSpPr>
          <p:cNvPr id="136" name="Google Shape;136;p2"/>
          <p:cNvGrpSpPr/>
          <p:nvPr/>
        </p:nvGrpSpPr>
        <p:grpSpPr>
          <a:xfrm>
            <a:off x="8151827" y="326464"/>
            <a:ext cx="3546878" cy="1357081"/>
            <a:chOff x="8380585" y="177777"/>
            <a:chExt cx="3570157" cy="1407823"/>
          </a:xfrm>
        </p:grpSpPr>
        <p:pic>
          <p:nvPicPr>
            <p:cNvPr id="137" name="Google Shape;137;p2"/>
            <p:cNvPicPr preferRelativeResize="0"/>
            <p:nvPr/>
          </p:nvPicPr>
          <p:blipFill rotWithShape="1">
            <a:blip r:embed="rId3">
              <a:alphaModFix/>
            </a:blip>
            <a:srcRect/>
            <a:stretch/>
          </p:blipFill>
          <p:spPr>
            <a:xfrm>
              <a:off x="8380585" y="197224"/>
              <a:ext cx="828372" cy="1311430"/>
            </a:xfrm>
            <a:prstGeom prst="rect">
              <a:avLst/>
            </a:prstGeom>
            <a:noFill/>
            <a:ln>
              <a:noFill/>
            </a:ln>
          </p:spPr>
        </p:pic>
        <p:pic>
          <p:nvPicPr>
            <p:cNvPr id="138" name="Google Shape;138;p2"/>
            <p:cNvPicPr preferRelativeResize="0"/>
            <p:nvPr/>
          </p:nvPicPr>
          <p:blipFill rotWithShape="1">
            <a:blip r:embed="rId4">
              <a:alphaModFix/>
            </a:blip>
            <a:srcRect/>
            <a:stretch/>
          </p:blipFill>
          <p:spPr>
            <a:xfrm>
              <a:off x="9283216" y="177777"/>
              <a:ext cx="1407823" cy="1407823"/>
            </a:xfrm>
            <a:prstGeom prst="rect">
              <a:avLst/>
            </a:prstGeom>
            <a:noFill/>
            <a:ln>
              <a:noFill/>
            </a:ln>
          </p:spPr>
        </p:pic>
        <p:pic>
          <p:nvPicPr>
            <p:cNvPr id="139" name="Google Shape;139;p2"/>
            <p:cNvPicPr preferRelativeResize="0"/>
            <p:nvPr/>
          </p:nvPicPr>
          <p:blipFill rotWithShape="1">
            <a:blip r:embed="rId5">
              <a:alphaModFix/>
            </a:blip>
            <a:srcRect/>
            <a:stretch/>
          </p:blipFill>
          <p:spPr>
            <a:xfrm>
              <a:off x="10655290" y="177777"/>
              <a:ext cx="1295452" cy="1407823"/>
            </a:xfrm>
            <a:prstGeom prst="rect">
              <a:avLst/>
            </a:prstGeom>
            <a:noFill/>
            <a:ln>
              <a:noFill/>
            </a:ln>
          </p:spPr>
        </p:pic>
      </p:grpSp>
      <p:pic>
        <p:nvPicPr>
          <p:cNvPr id="140" name="Google Shape;140;p2"/>
          <p:cNvPicPr preferRelativeResize="0"/>
          <p:nvPr/>
        </p:nvPicPr>
        <p:blipFill rotWithShape="1">
          <a:blip r:embed="rId6">
            <a:alphaModFix/>
          </a:blip>
          <a:srcRect l="1770" t="-2745" r="-3915" b="2743"/>
          <a:stretch/>
        </p:blipFill>
        <p:spPr>
          <a:xfrm>
            <a:off x="8051629" y="1734335"/>
            <a:ext cx="4497421" cy="5123665"/>
          </a:xfrm>
          <a:prstGeom prst="rect">
            <a:avLst/>
          </a:prstGeom>
          <a:noFill/>
          <a:ln>
            <a:noFill/>
          </a:ln>
          <a:effectLst>
            <a:outerShdw blurRad="292100" dist="139700" dir="2700000" algn="tl" rotWithShape="0">
              <a:srgbClr val="333333">
                <a:alpha val="6431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fade">
                                      <p:cBhvr>
                                        <p:cTn id="7" dur="500"/>
                                        <p:tgtEl>
                                          <p:spTgt spid="1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6"/>
                                        </p:tgtEl>
                                        <p:attrNameLst>
                                          <p:attrName>style.visibility</p:attrName>
                                        </p:attrNameLst>
                                      </p:cBhvr>
                                      <p:to>
                                        <p:strVal val="visible"/>
                                      </p:to>
                                    </p:set>
                                    <p:animEffect transition="in" filter="fade">
                                      <p:cBhvr>
                                        <p:cTn id="12" dur="500"/>
                                        <p:tgtEl>
                                          <p:spTgt spid="136"/>
                                        </p:tgtEl>
                                      </p:cBhvr>
                                    </p:animEffect>
                                  </p:childTnLst>
                                </p:cTn>
                              </p:par>
                              <p:par>
                                <p:cTn id="13" presetID="10" presetClass="entr" presetSubtype="0" fill="hold" nodeType="withEffect">
                                  <p:stCondLst>
                                    <p:cond delay="0"/>
                                  </p:stCondLst>
                                  <p:childTnLst>
                                    <p:set>
                                      <p:cBhvr>
                                        <p:cTn id="14" dur="1" fill="hold">
                                          <p:stCondLst>
                                            <p:cond delay="0"/>
                                          </p:stCondLst>
                                        </p:cTn>
                                        <p:tgtEl>
                                          <p:spTgt spid="134">
                                            <p:txEl>
                                              <p:pRg st="0" end="0"/>
                                            </p:txEl>
                                          </p:spTgt>
                                        </p:tgtEl>
                                        <p:attrNameLst>
                                          <p:attrName>style.visibility</p:attrName>
                                        </p:attrNameLst>
                                      </p:cBhvr>
                                      <p:to>
                                        <p:strVal val="visible"/>
                                      </p:to>
                                    </p:set>
                                    <p:animEffect transition="in" filter="fade">
                                      <p:cBhvr>
                                        <p:cTn id="15" dur="500"/>
                                        <p:tgtEl>
                                          <p:spTgt spid="134">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34">
                                            <p:txEl>
                                              <p:pRg st="1" end="1"/>
                                            </p:txEl>
                                          </p:spTgt>
                                        </p:tgtEl>
                                        <p:attrNameLst>
                                          <p:attrName>style.visibility</p:attrName>
                                        </p:attrNameLst>
                                      </p:cBhvr>
                                      <p:to>
                                        <p:strVal val="visible"/>
                                      </p:to>
                                    </p:set>
                                    <p:animEffect transition="in" filter="fade">
                                      <p:cBhvr>
                                        <p:cTn id="18" dur="500"/>
                                        <p:tgtEl>
                                          <p:spTgt spid="134">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34">
                                            <p:txEl>
                                              <p:pRg st="2" end="2"/>
                                            </p:txEl>
                                          </p:spTgt>
                                        </p:tgtEl>
                                        <p:attrNameLst>
                                          <p:attrName>style.visibility</p:attrName>
                                        </p:attrNameLst>
                                      </p:cBhvr>
                                      <p:to>
                                        <p:strVal val="visible"/>
                                      </p:to>
                                    </p:set>
                                    <p:animEffect transition="in" filter="fade">
                                      <p:cBhvr>
                                        <p:cTn id="21" dur="500"/>
                                        <p:tgtEl>
                                          <p:spTgt spid="134">
                                            <p:txEl>
                                              <p:pRg st="2" end="2"/>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34">
                                            <p:txEl>
                                              <p:pRg st="3" end="3"/>
                                            </p:txEl>
                                          </p:spTgt>
                                        </p:tgtEl>
                                        <p:attrNameLst>
                                          <p:attrName>style.visibility</p:attrName>
                                        </p:attrNameLst>
                                      </p:cBhvr>
                                      <p:to>
                                        <p:strVal val="visible"/>
                                      </p:to>
                                    </p:set>
                                    <p:animEffect transition="in" filter="fade">
                                      <p:cBhvr>
                                        <p:cTn id="24" dur="500"/>
                                        <p:tgtEl>
                                          <p:spTgt spid="134">
                                            <p:txEl>
                                              <p:pRg st="3" end="3"/>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134">
                                            <p:txEl>
                                              <p:pRg st="4" end="4"/>
                                            </p:txEl>
                                          </p:spTgt>
                                        </p:tgtEl>
                                        <p:attrNameLst>
                                          <p:attrName>style.visibility</p:attrName>
                                        </p:attrNameLst>
                                      </p:cBhvr>
                                      <p:to>
                                        <p:strVal val="visible"/>
                                      </p:to>
                                    </p:set>
                                    <p:animEffect transition="in" filter="fade">
                                      <p:cBhvr>
                                        <p:cTn id="27" dur="500"/>
                                        <p:tgtEl>
                                          <p:spTgt spid="134">
                                            <p:txEl>
                                              <p:pRg st="4" end="4"/>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34">
                                            <p:txEl>
                                              <p:pRg st="5" end="5"/>
                                            </p:txEl>
                                          </p:spTgt>
                                        </p:tgtEl>
                                        <p:attrNameLst>
                                          <p:attrName>style.visibility</p:attrName>
                                        </p:attrNameLst>
                                      </p:cBhvr>
                                      <p:to>
                                        <p:strVal val="visible"/>
                                      </p:to>
                                    </p:set>
                                    <p:animEffect transition="in" filter="fade">
                                      <p:cBhvr>
                                        <p:cTn id="30" dur="500"/>
                                        <p:tgtEl>
                                          <p:spTgt spid="134">
                                            <p:txEl>
                                              <p:pRg st="5" end="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34">
                                            <p:txEl>
                                              <p:pRg st="6" end="6"/>
                                            </p:txEl>
                                          </p:spTgt>
                                        </p:tgtEl>
                                        <p:attrNameLst>
                                          <p:attrName>style.visibility</p:attrName>
                                        </p:attrNameLst>
                                      </p:cBhvr>
                                      <p:to>
                                        <p:strVal val="visible"/>
                                      </p:to>
                                    </p:set>
                                    <p:animEffect transition="in" filter="fade">
                                      <p:cBhvr>
                                        <p:cTn id="33" dur="500"/>
                                        <p:tgtEl>
                                          <p:spTgt spid="134">
                                            <p:txEl>
                                              <p:pRg st="6" end="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34">
                                            <p:txEl>
                                              <p:pRg st="7" end="7"/>
                                            </p:txEl>
                                          </p:spTgt>
                                        </p:tgtEl>
                                        <p:attrNameLst>
                                          <p:attrName>style.visibility</p:attrName>
                                        </p:attrNameLst>
                                      </p:cBhvr>
                                      <p:to>
                                        <p:strVal val="visible"/>
                                      </p:to>
                                    </p:set>
                                    <p:animEffect transition="in" filter="fade">
                                      <p:cBhvr>
                                        <p:cTn id="36" dur="500"/>
                                        <p:tgtEl>
                                          <p:spTgt spid="134">
                                            <p:txEl>
                                              <p:pRg st="7" end="7"/>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134">
                                            <p:txEl>
                                              <p:pRg st="8" end="8"/>
                                            </p:txEl>
                                          </p:spTgt>
                                        </p:tgtEl>
                                        <p:attrNameLst>
                                          <p:attrName>style.visibility</p:attrName>
                                        </p:attrNameLst>
                                      </p:cBhvr>
                                      <p:to>
                                        <p:strVal val="visible"/>
                                      </p:to>
                                    </p:set>
                                    <p:animEffect transition="in" filter="fade">
                                      <p:cBhvr>
                                        <p:cTn id="39" dur="500"/>
                                        <p:tgtEl>
                                          <p:spTgt spid="13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Evolution of Computing</a:t>
            </a:r>
            <a:endParaRPr/>
          </a:p>
        </p:txBody>
      </p:sp>
      <p:pic>
        <p:nvPicPr>
          <p:cNvPr id="123" name="Google Shape;123;p2"/>
          <p:cNvPicPr preferRelativeResize="0"/>
          <p:nvPr/>
        </p:nvPicPr>
        <p:blipFill rotWithShape="1">
          <a:blip r:embed="rId3">
            <a:alphaModFix/>
          </a:blip>
          <a:srcRect l="1840" t="36168" r="2107" b="40739"/>
          <a:stretch/>
        </p:blipFill>
        <p:spPr>
          <a:xfrm>
            <a:off x="602708" y="2856159"/>
            <a:ext cx="11122057" cy="1130300"/>
          </a:xfrm>
          <a:prstGeom prst="rect">
            <a:avLst/>
          </a:prstGeom>
          <a:noFill/>
          <a:ln>
            <a:noFill/>
          </a:ln>
        </p:spPr>
      </p:pic>
      <p:pic>
        <p:nvPicPr>
          <p:cNvPr id="124" name="Google Shape;124;p2"/>
          <p:cNvPicPr preferRelativeResize="0"/>
          <p:nvPr/>
        </p:nvPicPr>
        <p:blipFill rotWithShape="1">
          <a:blip r:embed="rId4">
            <a:alphaModFix/>
          </a:blip>
          <a:srcRect b="3023"/>
          <a:stretch/>
        </p:blipFill>
        <p:spPr>
          <a:xfrm>
            <a:off x="602709" y="3987285"/>
            <a:ext cx="11122056" cy="1803203"/>
          </a:xfrm>
          <a:prstGeom prst="rect">
            <a:avLst/>
          </a:prstGeom>
          <a:noFill/>
          <a:ln>
            <a:noFill/>
          </a:ln>
        </p:spPr>
      </p:pic>
      <p:grpSp>
        <p:nvGrpSpPr>
          <p:cNvPr id="2" name="Group 1">
            <a:extLst>
              <a:ext uri="{FF2B5EF4-FFF2-40B4-BE49-F238E27FC236}">
                <a16:creationId xmlns:a16="http://schemas.microsoft.com/office/drawing/2014/main" id="{802C11B1-B127-7CEE-00B4-8B65C918CE8E}"/>
              </a:ext>
            </a:extLst>
          </p:cNvPr>
          <p:cNvGrpSpPr/>
          <p:nvPr/>
        </p:nvGrpSpPr>
        <p:grpSpPr>
          <a:xfrm>
            <a:off x="602708" y="1367690"/>
            <a:ext cx="11122056" cy="1487542"/>
            <a:chOff x="493294" y="1281723"/>
            <a:chExt cx="11065659" cy="1487542"/>
          </a:xfrm>
        </p:grpSpPr>
        <p:pic>
          <p:nvPicPr>
            <p:cNvPr id="126" name="Google Shape;126;p2"/>
            <p:cNvPicPr preferRelativeResize="0"/>
            <p:nvPr/>
          </p:nvPicPr>
          <p:blipFill rotWithShape="1">
            <a:blip r:embed="rId3">
              <a:alphaModFix/>
            </a:blip>
            <a:srcRect l="1045" t="4100" r="1067" b="63831"/>
            <a:stretch/>
          </p:blipFill>
          <p:spPr>
            <a:xfrm>
              <a:off x="493294" y="1281723"/>
              <a:ext cx="11065659" cy="1487542"/>
            </a:xfrm>
            <a:prstGeom prst="rect">
              <a:avLst/>
            </a:prstGeom>
            <a:noFill/>
            <a:ln>
              <a:noFill/>
            </a:ln>
          </p:spPr>
        </p:pic>
        <p:sp>
          <p:nvSpPr>
            <p:cNvPr id="127" name="Google Shape;127;p2"/>
            <p:cNvSpPr/>
            <p:nvPr/>
          </p:nvSpPr>
          <p:spPr>
            <a:xfrm>
              <a:off x="3970216" y="1930400"/>
              <a:ext cx="1389782" cy="741849"/>
            </a:xfrm>
            <a:prstGeom prst="rect">
              <a:avLst/>
            </a:prstGeom>
            <a:solidFill>
              <a:srgbClr val="41555E"/>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3"/>
                                        </p:tgtEl>
                                        <p:attrNameLst>
                                          <p:attrName>style.visibility</p:attrName>
                                        </p:attrNameLst>
                                      </p:cBhvr>
                                      <p:to>
                                        <p:strVal val="visible"/>
                                      </p:to>
                                    </p:set>
                                    <p:animEffect transition="in" filter="fade">
                                      <p:cBhvr>
                                        <p:cTn id="12" dur="500"/>
                                        <p:tgtEl>
                                          <p:spTgt spid="1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4"/>
                                        </p:tgtEl>
                                        <p:attrNameLst>
                                          <p:attrName>style.visibility</p:attrName>
                                        </p:attrNameLst>
                                      </p:cBhvr>
                                      <p:to>
                                        <p:strVal val="visible"/>
                                      </p:to>
                                    </p:set>
                                    <p:animEffect transition="in" filter="fade">
                                      <p:cBhvr>
                                        <p:cTn id="17"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3"/>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ClrTx/>
              <a:buSzPts val="3200"/>
              <a:buChar char="•"/>
            </a:pPr>
            <a:r>
              <a:rPr lang="en-US" sz="3200" dirty="0">
                <a:latin typeface="Calibri Light" panose="020F0302020204030204" pitchFamily="34" charset="0"/>
                <a:ea typeface="Calibri Light" panose="020F0302020204030204" pitchFamily="34" charset="0"/>
                <a:cs typeface="Calibri Light" panose="020F0302020204030204" pitchFamily="34" charset="0"/>
              </a:rPr>
              <a:t>A Microservice is a small unit that has only one responsibility or single logic which solve a specific problem.</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00000"/>
              </a:lnSpc>
              <a:spcBef>
                <a:spcPts val="1000"/>
              </a:spcBef>
              <a:spcAft>
                <a:spcPts val="0"/>
              </a:spcAft>
              <a:buClrTx/>
              <a:buSzPts val="3200"/>
              <a:buChar char="•"/>
            </a:pPr>
            <a:r>
              <a:rPr lang="en-US" sz="3200" dirty="0">
                <a:latin typeface="Calibri Light" panose="020F0302020204030204" pitchFamily="34" charset="0"/>
                <a:ea typeface="Calibri Light" panose="020F0302020204030204" pitchFamily="34" charset="0"/>
                <a:cs typeface="Calibri Light" panose="020F0302020204030204" pitchFamily="34" charset="0"/>
              </a:rPr>
              <a:t>Microservices are small &amp; independent services that work together to build highly automated, independent and evolving software.</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00000"/>
              </a:lnSpc>
              <a:spcBef>
                <a:spcPts val="1000"/>
              </a:spcBef>
              <a:spcAft>
                <a:spcPts val="0"/>
              </a:spcAft>
              <a:buClrTx/>
              <a:buSzPts val="3200"/>
              <a:buChar char="•"/>
            </a:pPr>
            <a:r>
              <a:rPr lang="en-US" sz="3200" dirty="0">
                <a:latin typeface="Calibri Light" panose="020F0302020204030204" pitchFamily="34" charset="0"/>
                <a:ea typeface="Calibri Light" panose="020F0302020204030204" pitchFamily="34" charset="0"/>
                <a:cs typeface="Calibri Light" panose="020F0302020204030204" pitchFamily="34" charset="0"/>
              </a:rPr>
              <a:t>Each Microservice can be deployed independently.</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00000"/>
              </a:lnSpc>
              <a:spcBef>
                <a:spcPts val="1000"/>
              </a:spcBef>
              <a:spcAft>
                <a:spcPts val="0"/>
              </a:spcAft>
              <a:buClrTx/>
              <a:buSzPts val="3200"/>
              <a:buChar char="•"/>
            </a:pPr>
            <a:r>
              <a:rPr lang="en-US" sz="3200" dirty="0">
                <a:latin typeface="Calibri Light" panose="020F0302020204030204" pitchFamily="34" charset="0"/>
                <a:ea typeface="Calibri Light" panose="020F0302020204030204" pitchFamily="34" charset="0"/>
                <a:cs typeface="Calibri Light" panose="020F0302020204030204" pitchFamily="34" charset="0"/>
              </a:rPr>
              <a:t>All services don't need to share the same technology stack, libraries, or frameworks.</a:t>
            </a:r>
            <a:endParaRPr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34" name="Google Shape;134;p3"/>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Introduction to Microservices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
                                            <p:txEl>
                                              <p:pRg st="0" end="0"/>
                                            </p:txEl>
                                          </p:spTgt>
                                        </p:tgtEl>
                                        <p:attrNameLst>
                                          <p:attrName>style.visibility</p:attrName>
                                        </p:attrNameLst>
                                      </p:cBhvr>
                                      <p:to>
                                        <p:strVal val="visible"/>
                                      </p:to>
                                    </p:set>
                                    <p:animEffect transition="in" filter="fade">
                                      <p:cBhvr>
                                        <p:cTn id="7" dur="500"/>
                                        <p:tgtEl>
                                          <p:spTgt spid="1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3">
                                            <p:txEl>
                                              <p:pRg st="1" end="1"/>
                                            </p:txEl>
                                          </p:spTgt>
                                        </p:tgtEl>
                                        <p:attrNameLst>
                                          <p:attrName>style.visibility</p:attrName>
                                        </p:attrNameLst>
                                      </p:cBhvr>
                                      <p:to>
                                        <p:strVal val="visible"/>
                                      </p:to>
                                    </p:set>
                                    <p:animEffect transition="in" filter="fade">
                                      <p:cBhvr>
                                        <p:cTn id="12" dur="500"/>
                                        <p:tgtEl>
                                          <p:spTgt spid="13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3">
                                            <p:txEl>
                                              <p:pRg st="2" end="2"/>
                                            </p:txEl>
                                          </p:spTgt>
                                        </p:tgtEl>
                                        <p:attrNameLst>
                                          <p:attrName>style.visibility</p:attrName>
                                        </p:attrNameLst>
                                      </p:cBhvr>
                                      <p:to>
                                        <p:strVal val="visible"/>
                                      </p:to>
                                    </p:set>
                                    <p:animEffect transition="in" filter="fade">
                                      <p:cBhvr>
                                        <p:cTn id="17" dur="500"/>
                                        <p:tgtEl>
                                          <p:spTgt spid="13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3">
                                            <p:txEl>
                                              <p:pRg st="3" end="3"/>
                                            </p:txEl>
                                          </p:spTgt>
                                        </p:tgtEl>
                                        <p:attrNameLst>
                                          <p:attrName>style.visibility</p:attrName>
                                        </p:attrNameLst>
                                      </p:cBhvr>
                                      <p:to>
                                        <p:strVal val="visible"/>
                                      </p:to>
                                    </p:set>
                                    <p:animEffect transition="in" filter="fade">
                                      <p:cBhvr>
                                        <p:cTn id="22" dur="500"/>
                                        <p:tgtEl>
                                          <p:spTgt spid="13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4"/>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Monolithic vs. N-Layer vs. SOA vs. Microservices</a:t>
            </a:r>
            <a:endParaRPr/>
          </a:p>
        </p:txBody>
      </p:sp>
      <p:grpSp>
        <p:nvGrpSpPr>
          <p:cNvPr id="141" name="Google Shape;141;p4"/>
          <p:cNvGrpSpPr/>
          <p:nvPr/>
        </p:nvGrpSpPr>
        <p:grpSpPr>
          <a:xfrm>
            <a:off x="855241" y="2159698"/>
            <a:ext cx="2455909" cy="2792993"/>
            <a:chOff x="1905949" y="2102903"/>
            <a:chExt cx="2455909" cy="2792993"/>
          </a:xfrm>
        </p:grpSpPr>
        <p:pic>
          <p:nvPicPr>
            <p:cNvPr id="142" name="Google Shape;142;p4"/>
            <p:cNvPicPr preferRelativeResize="0"/>
            <p:nvPr/>
          </p:nvPicPr>
          <p:blipFill rotWithShape="1">
            <a:blip r:embed="rId3">
              <a:alphaModFix/>
            </a:blip>
            <a:srcRect r="66202" b="31845"/>
            <a:stretch/>
          </p:blipFill>
          <p:spPr>
            <a:xfrm>
              <a:off x="1905949" y="2102903"/>
              <a:ext cx="2455909" cy="2344148"/>
            </a:xfrm>
            <a:prstGeom prst="rect">
              <a:avLst/>
            </a:prstGeom>
            <a:noFill/>
            <a:ln>
              <a:noFill/>
            </a:ln>
          </p:spPr>
        </p:pic>
        <p:sp>
          <p:nvSpPr>
            <p:cNvPr id="143" name="Google Shape;143;p4"/>
            <p:cNvSpPr txBox="1"/>
            <p:nvPr/>
          </p:nvSpPr>
          <p:spPr>
            <a:xfrm>
              <a:off x="1905949" y="4526564"/>
              <a:ext cx="232788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Monolithic: Single Unit</a:t>
              </a:r>
              <a:endParaRPr/>
            </a:p>
          </p:txBody>
        </p:sp>
      </p:grpSp>
      <p:grpSp>
        <p:nvGrpSpPr>
          <p:cNvPr id="144" name="Google Shape;144;p4"/>
          <p:cNvGrpSpPr/>
          <p:nvPr/>
        </p:nvGrpSpPr>
        <p:grpSpPr>
          <a:xfrm>
            <a:off x="4486806" y="2202294"/>
            <a:ext cx="2545677" cy="2750397"/>
            <a:chOff x="4486806" y="2202294"/>
            <a:chExt cx="2545677" cy="2750397"/>
          </a:xfrm>
        </p:grpSpPr>
        <p:pic>
          <p:nvPicPr>
            <p:cNvPr id="145" name="Google Shape;145;p4"/>
            <p:cNvPicPr preferRelativeResize="0"/>
            <p:nvPr/>
          </p:nvPicPr>
          <p:blipFill rotWithShape="1">
            <a:blip r:embed="rId3">
              <a:alphaModFix/>
            </a:blip>
            <a:srcRect l="34423" r="31779" b="34322"/>
            <a:stretch/>
          </p:blipFill>
          <p:spPr>
            <a:xfrm>
              <a:off x="4486806" y="2202294"/>
              <a:ext cx="2455909" cy="2258955"/>
            </a:xfrm>
            <a:prstGeom prst="rect">
              <a:avLst/>
            </a:prstGeom>
            <a:noFill/>
            <a:ln>
              <a:noFill/>
            </a:ln>
          </p:spPr>
        </p:pic>
        <p:sp>
          <p:nvSpPr>
            <p:cNvPr id="146" name="Google Shape;146;p4"/>
            <p:cNvSpPr txBox="1"/>
            <p:nvPr/>
          </p:nvSpPr>
          <p:spPr>
            <a:xfrm>
              <a:off x="4489864" y="4583359"/>
              <a:ext cx="254261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Multi Units: N-Layer/SOA</a:t>
              </a:r>
              <a:endParaRPr/>
            </a:p>
          </p:txBody>
        </p:sp>
      </p:grpSp>
      <p:grpSp>
        <p:nvGrpSpPr>
          <p:cNvPr id="147" name="Google Shape;147;p4"/>
          <p:cNvGrpSpPr/>
          <p:nvPr/>
        </p:nvGrpSpPr>
        <p:grpSpPr>
          <a:xfrm>
            <a:off x="8160292" y="2191679"/>
            <a:ext cx="2837636" cy="2761012"/>
            <a:chOff x="8160292" y="2191679"/>
            <a:chExt cx="2837636" cy="2761012"/>
          </a:xfrm>
        </p:grpSpPr>
        <p:pic>
          <p:nvPicPr>
            <p:cNvPr id="148" name="Google Shape;148;p4"/>
            <p:cNvPicPr preferRelativeResize="0"/>
            <p:nvPr/>
          </p:nvPicPr>
          <p:blipFill rotWithShape="1">
            <a:blip r:embed="rId3">
              <a:alphaModFix/>
            </a:blip>
            <a:srcRect l="68846" b="33167"/>
            <a:stretch/>
          </p:blipFill>
          <p:spPr>
            <a:xfrm>
              <a:off x="8402346" y="2191679"/>
              <a:ext cx="2263760" cy="2298712"/>
            </a:xfrm>
            <a:prstGeom prst="rect">
              <a:avLst/>
            </a:prstGeom>
            <a:noFill/>
            <a:ln>
              <a:noFill/>
            </a:ln>
          </p:spPr>
        </p:pic>
        <p:sp>
          <p:nvSpPr>
            <p:cNvPr id="149" name="Google Shape;149;p4"/>
            <p:cNvSpPr txBox="1"/>
            <p:nvPr/>
          </p:nvSpPr>
          <p:spPr>
            <a:xfrm>
              <a:off x="8160292" y="4583359"/>
              <a:ext cx="28376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Smaller Units: Microservices</a:t>
              </a:r>
              <a:endParaRPr/>
            </a:p>
          </p:txBody>
        </p:sp>
      </p:grpSp>
      <p:sp>
        <p:nvSpPr>
          <p:cNvPr id="150" name="Google Shape;150;p4"/>
          <p:cNvSpPr/>
          <p:nvPr/>
        </p:nvSpPr>
        <p:spPr>
          <a:xfrm>
            <a:off x="3606171" y="3184781"/>
            <a:ext cx="585613" cy="488437"/>
          </a:xfrm>
          <a:prstGeom prst="rightArrow">
            <a:avLst>
              <a:gd name="adj1" fmla="val 50000"/>
              <a:gd name="adj2" fmla="val 50000"/>
            </a:avLst>
          </a:prstGeom>
          <a:solidFill>
            <a:srgbClr val="D0CECE"/>
          </a:solidFill>
          <a:ln w="12700" cap="flat" cmpd="sng">
            <a:solidFill>
              <a:srgbClr val="AEABA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 name="Google Shape;151;p4"/>
          <p:cNvSpPr/>
          <p:nvPr/>
        </p:nvSpPr>
        <p:spPr>
          <a:xfrm>
            <a:off x="7286178" y="3184781"/>
            <a:ext cx="585613" cy="488437"/>
          </a:xfrm>
          <a:prstGeom prst="rightArrow">
            <a:avLst>
              <a:gd name="adj1" fmla="val 50000"/>
              <a:gd name="adj2" fmla="val 50000"/>
            </a:avLst>
          </a:prstGeom>
          <a:solidFill>
            <a:srgbClr val="D0CECE"/>
          </a:solidFill>
          <a:ln w="12700" cap="flat" cmpd="sng">
            <a:solidFill>
              <a:srgbClr val="AEABA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500"/>
                                        <p:tgtEl>
                                          <p:spTgt spid="1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0"/>
                                        </p:tgtEl>
                                        <p:attrNameLst>
                                          <p:attrName>style.visibility</p:attrName>
                                        </p:attrNameLst>
                                      </p:cBhvr>
                                      <p:to>
                                        <p:strVal val="visible"/>
                                      </p:to>
                                    </p:set>
                                    <p:animEffect transition="in" filter="fade">
                                      <p:cBhvr>
                                        <p:cTn id="12" dur="500"/>
                                        <p:tgtEl>
                                          <p:spTgt spid="15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4"/>
                                        </p:tgtEl>
                                        <p:attrNameLst>
                                          <p:attrName>style.visibility</p:attrName>
                                        </p:attrNameLst>
                                      </p:cBhvr>
                                      <p:to>
                                        <p:strVal val="visible"/>
                                      </p:to>
                                    </p:set>
                                    <p:animEffect transition="in" filter="fade">
                                      <p:cBhvr>
                                        <p:cTn id="17" dur="500"/>
                                        <p:tgtEl>
                                          <p:spTgt spid="14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1"/>
                                        </p:tgtEl>
                                        <p:attrNameLst>
                                          <p:attrName>style.visibility</p:attrName>
                                        </p:attrNameLst>
                                      </p:cBhvr>
                                      <p:to>
                                        <p:strVal val="visible"/>
                                      </p:to>
                                    </p:set>
                                    <p:animEffect transition="in" filter="fade">
                                      <p:cBhvr>
                                        <p:cTn id="22" dur="500"/>
                                        <p:tgtEl>
                                          <p:spTgt spid="15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7"/>
                                        </p:tgtEl>
                                        <p:attrNameLst>
                                          <p:attrName>style.visibility</p:attrName>
                                        </p:attrNameLst>
                                      </p:cBhvr>
                                      <p:to>
                                        <p:strVal val="visible"/>
                                      </p:to>
                                    </p:set>
                                    <p:animEffect transition="in" filter="fade">
                                      <p:cBhvr>
                                        <p:cTn id="27" dur="500"/>
                                        <p:tgtEl>
                                          <p:spTgt spid="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5"/>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Microservices Principles</a:t>
            </a:r>
            <a:endParaRPr/>
          </a:p>
        </p:txBody>
      </p:sp>
      <p:pic>
        <p:nvPicPr>
          <p:cNvPr id="157" name="Google Shape;157;p5"/>
          <p:cNvPicPr preferRelativeResize="0"/>
          <p:nvPr/>
        </p:nvPicPr>
        <p:blipFill rotWithShape="1">
          <a:blip r:embed="rId3">
            <a:alphaModFix/>
          </a:blip>
          <a:srcRect t="2789" r="1537" b="1231"/>
          <a:stretch/>
        </p:blipFill>
        <p:spPr>
          <a:xfrm>
            <a:off x="1600869" y="1368354"/>
            <a:ext cx="8003171" cy="465719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6"/>
          <p:cNvSpPr txBox="1">
            <a:spLocks noGrp="1"/>
          </p:cNvSpPr>
          <p:nvPr>
            <p:ph sz="half" idx="1"/>
          </p:nvPr>
        </p:nvSpPr>
        <p:spPr>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ClrTx/>
              <a:buSzPts val="2800"/>
              <a:buChar char="•"/>
            </a:pPr>
            <a:r>
              <a:rPr lang="en-US" sz="2800" b="1" dirty="0">
                <a:latin typeface="Calibri Light" panose="020F0302020204030204" pitchFamily="34" charset="0"/>
                <a:ea typeface="Calibri Light" panose="020F0302020204030204" pitchFamily="34" charset="0"/>
                <a:cs typeface="Calibri Light" panose="020F0302020204030204" pitchFamily="34" charset="0"/>
              </a:rPr>
              <a:t>Modelled around business domain :</a:t>
            </a:r>
            <a:r>
              <a:rPr lang="en-US" sz="2800" dirty="0">
                <a:latin typeface="Calibri Light" panose="020F0302020204030204" pitchFamily="34" charset="0"/>
                <a:ea typeface="Calibri Light" panose="020F0302020204030204" pitchFamily="34" charset="0"/>
                <a:cs typeface="Calibri Light" panose="020F0302020204030204" pitchFamily="34" charset="0"/>
              </a:rPr>
              <a:t> Separate system capability into different domains and each domain will focus on one thing and its associated logic. </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00000"/>
              </a:lnSpc>
              <a:spcBef>
                <a:spcPts val="1000"/>
              </a:spcBef>
              <a:spcAft>
                <a:spcPts val="0"/>
              </a:spcAft>
              <a:buClrTx/>
              <a:buSzPts val="2800"/>
              <a:buChar char="•"/>
            </a:pPr>
            <a:r>
              <a:rPr lang="en-US" sz="2800" b="1" dirty="0">
                <a:latin typeface="Calibri Light" panose="020F0302020204030204" pitchFamily="34" charset="0"/>
                <a:ea typeface="Calibri Light" panose="020F0302020204030204" pitchFamily="34" charset="0"/>
                <a:cs typeface="Calibri Light" panose="020F0302020204030204" pitchFamily="34" charset="0"/>
              </a:rPr>
              <a:t>Culture of Automation :</a:t>
            </a:r>
            <a:r>
              <a:rPr lang="en-US" sz="2800" dirty="0">
                <a:latin typeface="Calibri Light" panose="020F0302020204030204" pitchFamily="34" charset="0"/>
                <a:ea typeface="Calibri Light" panose="020F0302020204030204" pitchFamily="34" charset="0"/>
                <a:cs typeface="Calibri Light" panose="020F0302020204030204" pitchFamily="34" charset="0"/>
              </a:rPr>
              <a:t> Follow the culture of automation by designing it for continues integration and continuous delivery.</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00000"/>
              </a:lnSpc>
              <a:spcBef>
                <a:spcPts val="1000"/>
              </a:spcBef>
              <a:spcAft>
                <a:spcPts val="0"/>
              </a:spcAft>
              <a:buClrTx/>
              <a:buSzPts val="2800"/>
              <a:buChar char="•"/>
            </a:pPr>
            <a:r>
              <a:rPr lang="en-US" sz="2800" b="1" dirty="0">
                <a:latin typeface="Calibri Light" panose="020F0302020204030204" pitchFamily="34" charset="0"/>
                <a:ea typeface="Calibri Light" panose="020F0302020204030204" pitchFamily="34" charset="0"/>
                <a:cs typeface="Calibri Light" panose="020F0302020204030204" pitchFamily="34" charset="0"/>
              </a:rPr>
              <a:t>Hide implementation details :</a:t>
            </a:r>
            <a:r>
              <a:rPr lang="en-US" sz="2800" dirty="0">
                <a:latin typeface="Calibri Light" panose="020F0302020204030204" pitchFamily="34" charset="0"/>
                <a:ea typeface="Calibri Light" panose="020F0302020204030204" pitchFamily="34" charset="0"/>
                <a:cs typeface="Calibri Light" panose="020F0302020204030204" pitchFamily="34" charset="0"/>
              </a:rPr>
              <a:t> Hiding the internal details reduce the coupling and helps to do changes and improvement without affecting the overall architecture.</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00000"/>
              </a:lnSpc>
              <a:spcBef>
                <a:spcPts val="1000"/>
              </a:spcBef>
              <a:spcAft>
                <a:spcPts val="0"/>
              </a:spcAft>
              <a:buClrTx/>
              <a:buSzPts val="2800"/>
              <a:buChar char="•"/>
            </a:pPr>
            <a:r>
              <a:rPr lang="en-US" sz="2800" b="1" dirty="0">
                <a:latin typeface="Calibri Light" panose="020F0302020204030204" pitchFamily="34" charset="0"/>
                <a:ea typeface="Calibri Light" panose="020F0302020204030204" pitchFamily="34" charset="0"/>
                <a:cs typeface="Calibri Light" panose="020F0302020204030204" pitchFamily="34" charset="0"/>
              </a:rPr>
              <a:t>Decentralization :</a:t>
            </a:r>
            <a:r>
              <a:rPr lang="en-US" sz="2800" dirty="0">
                <a:latin typeface="Calibri Light" panose="020F0302020204030204" pitchFamily="34" charset="0"/>
                <a:ea typeface="Calibri Light" panose="020F0302020204030204" pitchFamily="34" charset="0"/>
                <a:cs typeface="Calibri Light" panose="020F0302020204030204" pitchFamily="34" charset="0"/>
              </a:rPr>
              <a:t> There is no centralized database, usually each service is designed to manage its own database.</a:t>
            </a:r>
            <a:endParaRPr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63" name="Google Shape;163;p6"/>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Microservices Principles Contd..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7"/>
          <p:cNvSpPr txBox="1">
            <a:spLocks noGrp="1"/>
          </p:cNvSpPr>
          <p:nvPr>
            <p:ph sz="half" idx="1"/>
          </p:nvPr>
        </p:nvSpPr>
        <p:spPr>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ClrTx/>
              <a:buSzPts val="2800"/>
              <a:buChar char="•"/>
            </a:pPr>
            <a:r>
              <a:rPr lang="en-US" sz="2800" b="1" dirty="0">
                <a:latin typeface="Calibri Light" panose="020F0302020204030204" pitchFamily="34" charset="0"/>
                <a:ea typeface="Calibri Light" panose="020F0302020204030204" pitchFamily="34" charset="0"/>
                <a:cs typeface="Calibri Light" panose="020F0302020204030204" pitchFamily="34" charset="0"/>
              </a:rPr>
              <a:t>Deploy Independently :</a:t>
            </a:r>
            <a:r>
              <a:rPr lang="en-US" sz="2800" dirty="0">
                <a:latin typeface="Calibri Light" panose="020F0302020204030204" pitchFamily="34" charset="0"/>
                <a:ea typeface="Calibri Light" panose="020F0302020204030204" pitchFamily="34" charset="0"/>
                <a:cs typeface="Calibri Light" panose="020F0302020204030204" pitchFamily="34" charset="0"/>
              </a:rPr>
              <a:t> Each service can be  deployed independently.</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00000"/>
              </a:lnSpc>
              <a:spcBef>
                <a:spcPts val="1000"/>
              </a:spcBef>
              <a:spcAft>
                <a:spcPts val="0"/>
              </a:spcAft>
              <a:buClrTx/>
              <a:buSzPts val="2800"/>
              <a:buChar char="•"/>
            </a:pPr>
            <a:r>
              <a:rPr lang="en-US" sz="2800" b="1" dirty="0">
                <a:latin typeface="Calibri Light" panose="020F0302020204030204" pitchFamily="34" charset="0"/>
                <a:ea typeface="Calibri Light" panose="020F0302020204030204" pitchFamily="34" charset="0"/>
                <a:cs typeface="Calibri Light" panose="020F0302020204030204" pitchFamily="34" charset="0"/>
              </a:rPr>
              <a:t>Failure Isolation :</a:t>
            </a:r>
            <a:r>
              <a:rPr lang="en-US" sz="2800" dirty="0">
                <a:latin typeface="Calibri Light" panose="020F0302020204030204" pitchFamily="34" charset="0"/>
                <a:ea typeface="Calibri Light" panose="020F0302020204030204" pitchFamily="34" charset="0"/>
                <a:cs typeface="Calibri Light" panose="020F0302020204030204" pitchFamily="34" charset="0"/>
              </a:rPr>
              <a:t> The impact of a failure is less in microservice architecture compares to monolithic type as it will only affect that particular service and its associates. Other services can keep running. </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00000"/>
              </a:lnSpc>
              <a:spcBef>
                <a:spcPts val="1000"/>
              </a:spcBef>
              <a:spcAft>
                <a:spcPts val="0"/>
              </a:spcAft>
              <a:buClrTx/>
              <a:buSzPts val="2800"/>
              <a:buChar char="•"/>
            </a:pPr>
            <a:r>
              <a:rPr lang="en-US" sz="2800" b="1" dirty="0">
                <a:latin typeface="Calibri Light" panose="020F0302020204030204" pitchFamily="34" charset="0"/>
                <a:ea typeface="Calibri Light" panose="020F0302020204030204" pitchFamily="34" charset="0"/>
                <a:cs typeface="Calibri Light" panose="020F0302020204030204" pitchFamily="34" charset="0"/>
              </a:rPr>
              <a:t>Highly Observable :</a:t>
            </a:r>
            <a:r>
              <a:rPr lang="en-US" sz="2800" dirty="0">
                <a:latin typeface="Calibri Light" panose="020F0302020204030204" pitchFamily="34" charset="0"/>
                <a:ea typeface="Calibri Light" panose="020F0302020204030204" pitchFamily="34" charset="0"/>
                <a:cs typeface="Calibri Light" panose="020F0302020204030204" pitchFamily="34" charset="0"/>
              </a:rPr>
              <a:t> The services should collect as much information to analyze what is happening within each of them like log events and stats.</a:t>
            </a:r>
            <a:endParaRPr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69" name="Google Shape;169;p7"/>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Microservices Principles Contd..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sz="half" idx="1"/>
          </p:nvPr>
        </p:nvSpPr>
        <p:spPr>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ClrTx/>
              <a:buSzPts val="3200"/>
              <a:buFont typeface="Arial"/>
              <a:buChar char="•"/>
            </a:pPr>
            <a:r>
              <a:rPr lang="en-US" sz="3200" dirty="0">
                <a:latin typeface="Calibri Light" panose="020F0302020204030204" pitchFamily="34" charset="0"/>
                <a:ea typeface="Calibri Light" panose="020F0302020204030204" pitchFamily="34" charset="0"/>
                <a:cs typeface="Calibri Light" panose="020F0302020204030204" pitchFamily="34" charset="0"/>
              </a:rPr>
              <a:t>Large applications that require a high release velocity.</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3200"/>
              <a:buFont typeface="Arial"/>
              <a:buChar char="•"/>
            </a:pPr>
            <a:r>
              <a:rPr lang="en-US" sz="3200" dirty="0">
                <a:latin typeface="Calibri Light" panose="020F0302020204030204" pitchFamily="34" charset="0"/>
                <a:ea typeface="Calibri Light" panose="020F0302020204030204" pitchFamily="34" charset="0"/>
                <a:cs typeface="Calibri Light" panose="020F0302020204030204" pitchFamily="34" charset="0"/>
              </a:rPr>
              <a:t>Complex applications that need to be highly scalable.</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3200"/>
              <a:buFont typeface="Arial"/>
              <a:buChar char="•"/>
            </a:pPr>
            <a:r>
              <a:rPr lang="en-US" sz="3200" dirty="0">
                <a:latin typeface="Calibri Light" panose="020F0302020204030204" pitchFamily="34" charset="0"/>
                <a:ea typeface="Calibri Light" panose="020F0302020204030204" pitchFamily="34" charset="0"/>
                <a:cs typeface="Calibri Light" panose="020F0302020204030204" pitchFamily="34" charset="0"/>
              </a:rPr>
              <a:t>Applications with rich domains or many subdomains.</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3200"/>
              <a:buFont typeface="Arial"/>
              <a:buChar char="•"/>
            </a:pPr>
            <a:r>
              <a:rPr lang="en-US" sz="3200" dirty="0">
                <a:latin typeface="Calibri Light" panose="020F0302020204030204" pitchFamily="34" charset="0"/>
                <a:ea typeface="Calibri Light" panose="020F0302020204030204" pitchFamily="34" charset="0"/>
                <a:cs typeface="Calibri Light" panose="020F0302020204030204" pitchFamily="34" charset="0"/>
              </a:rPr>
              <a:t>An organization that consists of small development teams.</a:t>
            </a:r>
            <a:endParaRPr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75" name="Google Shape;175;p8"/>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When to use Microservices Architecture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
                                            <p:txEl>
                                              <p:pRg st="0" end="0"/>
                                            </p:txEl>
                                          </p:spTgt>
                                        </p:tgtEl>
                                        <p:attrNameLst>
                                          <p:attrName>style.visibility</p:attrName>
                                        </p:attrNameLst>
                                      </p:cBhvr>
                                      <p:to>
                                        <p:strVal val="visible"/>
                                      </p:to>
                                    </p:set>
                                    <p:animEffect transition="in" filter="fade">
                                      <p:cBhvr>
                                        <p:cTn id="7" dur="500"/>
                                        <p:tgtEl>
                                          <p:spTgt spid="1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4">
                                            <p:txEl>
                                              <p:pRg st="1" end="1"/>
                                            </p:txEl>
                                          </p:spTgt>
                                        </p:tgtEl>
                                        <p:attrNameLst>
                                          <p:attrName>style.visibility</p:attrName>
                                        </p:attrNameLst>
                                      </p:cBhvr>
                                      <p:to>
                                        <p:strVal val="visible"/>
                                      </p:to>
                                    </p:set>
                                    <p:animEffect transition="in" filter="fade">
                                      <p:cBhvr>
                                        <p:cTn id="12" dur="500"/>
                                        <p:tgtEl>
                                          <p:spTgt spid="1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4">
                                            <p:txEl>
                                              <p:pRg st="2" end="2"/>
                                            </p:txEl>
                                          </p:spTgt>
                                        </p:tgtEl>
                                        <p:attrNameLst>
                                          <p:attrName>style.visibility</p:attrName>
                                        </p:attrNameLst>
                                      </p:cBhvr>
                                      <p:to>
                                        <p:strVal val="visible"/>
                                      </p:to>
                                    </p:set>
                                    <p:animEffect transition="in" filter="fade">
                                      <p:cBhvr>
                                        <p:cTn id="17" dur="500"/>
                                        <p:tgtEl>
                                          <p:spTgt spid="17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4">
                                            <p:txEl>
                                              <p:pRg st="3" end="3"/>
                                            </p:txEl>
                                          </p:spTgt>
                                        </p:tgtEl>
                                        <p:attrNameLst>
                                          <p:attrName>style.visibility</p:attrName>
                                        </p:attrNameLst>
                                      </p:cBhvr>
                                      <p:to>
                                        <p:strVal val="visible"/>
                                      </p:to>
                                    </p:set>
                                    <p:animEffect transition="in" filter="fade">
                                      <p:cBhvr>
                                        <p:cTn id="22" dur="500"/>
                                        <p:tgtEl>
                                          <p:spTgt spid="17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9"/>
          <p:cNvSpPr txBox="1">
            <a:spLocks noGrp="1"/>
          </p:cNvSpPr>
          <p:nvPr>
            <p:ph sz="half" idx="1"/>
          </p:nvPr>
        </p:nvSpPr>
        <p:spPr>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Language independent and framework independent.</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Support Independent development, deployment, and versioning. </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Even you can scale them in seconds without compromising the integrity of an application.</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Better fault isolation keeps other services to work even on failure.</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Zero downtime upgrades.</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Services can be from different servers or different datacenters.</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l" rtl="0">
              <a:lnSpc>
                <a:spcPct val="100000"/>
              </a:lnSpc>
              <a:spcBef>
                <a:spcPts val="100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Supports CI/CD.</a:t>
            </a:r>
            <a:endParaRPr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82" name="Google Shape;182;p9"/>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Advantages of Microservices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0"/>
          <p:cNvSpPr txBox="1">
            <a:spLocks noGrp="1"/>
          </p:cNvSpPr>
          <p:nvPr>
            <p:ph sz="half" idx="1"/>
          </p:nvPr>
        </p:nvSpPr>
        <p:spPr>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ClrTx/>
              <a:buSzPts val="2800"/>
              <a:buChar char="•"/>
            </a:pPr>
            <a:r>
              <a:rPr lang="en-US" sz="2600" b="1" dirty="0">
                <a:latin typeface="Calibri Light" panose="020F0302020204030204" pitchFamily="34" charset="0"/>
                <a:ea typeface="Calibri Light" panose="020F0302020204030204" pitchFamily="34" charset="0"/>
                <a:cs typeface="Calibri Light" panose="020F0302020204030204" pitchFamily="34" charset="0"/>
              </a:rPr>
              <a:t>Complexity -</a:t>
            </a:r>
            <a:r>
              <a:rPr lang="en-US" sz="2600" dirty="0">
                <a:latin typeface="Calibri Light" panose="020F0302020204030204" pitchFamily="34" charset="0"/>
                <a:ea typeface="Calibri Light" panose="020F0302020204030204" pitchFamily="34" charset="0"/>
                <a:cs typeface="Calibri Light" panose="020F0302020204030204" pitchFamily="34" charset="0"/>
              </a:rPr>
              <a:t> A microservices application is more complex as compared to the equivalent monolithic application.</a:t>
            </a:r>
            <a:endParaRPr sz="2600"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00000"/>
              </a:lnSpc>
              <a:spcBef>
                <a:spcPts val="600"/>
              </a:spcBef>
              <a:spcAft>
                <a:spcPts val="0"/>
              </a:spcAft>
              <a:buClrTx/>
              <a:buSzPts val="2800"/>
              <a:buChar char="•"/>
            </a:pPr>
            <a:r>
              <a:rPr lang="en-US" sz="2600" b="1" dirty="0">
                <a:latin typeface="Calibri Light" panose="020F0302020204030204" pitchFamily="34" charset="0"/>
                <a:ea typeface="Calibri Light" panose="020F0302020204030204" pitchFamily="34" charset="0"/>
                <a:cs typeface="Calibri Light" panose="020F0302020204030204" pitchFamily="34" charset="0"/>
              </a:rPr>
              <a:t>Development and testing -</a:t>
            </a:r>
            <a:r>
              <a:rPr lang="en-US" sz="2600" dirty="0">
                <a:latin typeface="Calibri Light" panose="020F0302020204030204" pitchFamily="34" charset="0"/>
                <a:ea typeface="Calibri Light" panose="020F0302020204030204" pitchFamily="34" charset="0"/>
                <a:cs typeface="Calibri Light" panose="020F0302020204030204" pitchFamily="34" charset="0"/>
              </a:rPr>
              <a:t> Building and testing a service that relies on other services need domain understanding and refactoring them can be difficult.</a:t>
            </a:r>
            <a:endParaRPr sz="2600"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00000"/>
              </a:lnSpc>
              <a:spcBef>
                <a:spcPts val="600"/>
              </a:spcBef>
              <a:spcAft>
                <a:spcPts val="0"/>
              </a:spcAft>
              <a:buClrTx/>
              <a:buSzPts val="2800"/>
              <a:buChar char="•"/>
            </a:pPr>
            <a:r>
              <a:rPr lang="en-US" sz="2600" b="1" dirty="0">
                <a:latin typeface="Calibri Light" panose="020F0302020204030204" pitchFamily="34" charset="0"/>
                <a:ea typeface="Calibri Light" panose="020F0302020204030204" pitchFamily="34" charset="0"/>
                <a:cs typeface="Calibri Light" panose="020F0302020204030204" pitchFamily="34" charset="0"/>
              </a:rPr>
              <a:t>Lack of governance</a:t>
            </a:r>
            <a:r>
              <a:rPr lang="en-US" sz="2600" dirty="0">
                <a:latin typeface="Calibri Light" panose="020F0302020204030204" pitchFamily="34" charset="0"/>
                <a:ea typeface="Calibri Light" panose="020F0302020204030204" pitchFamily="34" charset="0"/>
                <a:cs typeface="Calibri Light" panose="020F0302020204030204" pitchFamily="34" charset="0"/>
              </a:rPr>
              <a:t> - The decentralized approach to building microservices has advantages, but it also leads to so many problems like maintenance because of many different languages and frameworks.</a:t>
            </a:r>
            <a:endParaRPr sz="2600"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00000"/>
              </a:lnSpc>
              <a:spcBef>
                <a:spcPts val="600"/>
              </a:spcBef>
              <a:spcAft>
                <a:spcPts val="0"/>
              </a:spcAft>
              <a:buClrTx/>
              <a:buSzPts val="2800"/>
              <a:buChar char="•"/>
            </a:pPr>
            <a:r>
              <a:rPr lang="en-US" sz="2600" b="1" dirty="0">
                <a:latin typeface="Calibri Light" panose="020F0302020204030204" pitchFamily="34" charset="0"/>
                <a:ea typeface="Calibri Light" panose="020F0302020204030204" pitchFamily="34" charset="0"/>
                <a:cs typeface="Calibri Light" panose="020F0302020204030204" pitchFamily="34" charset="0"/>
              </a:rPr>
              <a:t>Network congestion and latency</a:t>
            </a:r>
            <a:r>
              <a:rPr lang="en-US" sz="2600" dirty="0">
                <a:latin typeface="Calibri Light" panose="020F0302020204030204" pitchFamily="34" charset="0"/>
                <a:ea typeface="Calibri Light" panose="020F0302020204030204" pitchFamily="34" charset="0"/>
                <a:cs typeface="Calibri Light" panose="020F0302020204030204" pitchFamily="34" charset="0"/>
              </a:rPr>
              <a:t> - The use of many small, services can result in additional latency because of interservice communication and a long chain of service dependencies. So design APIs carefully and use asynchronous communication patterns.</a:t>
            </a:r>
            <a:endParaRPr sz="26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88" name="Google Shape;188;p10"/>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Challenges of Microservices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7">
                                            <p:txEl>
                                              <p:pRg st="0" end="0"/>
                                            </p:txEl>
                                          </p:spTgt>
                                        </p:tgtEl>
                                        <p:attrNameLst>
                                          <p:attrName>style.visibility</p:attrName>
                                        </p:attrNameLst>
                                      </p:cBhvr>
                                      <p:to>
                                        <p:strVal val="visible"/>
                                      </p:to>
                                    </p:set>
                                    <p:animEffect transition="in" filter="fade">
                                      <p:cBhvr>
                                        <p:cTn id="7" dur="500"/>
                                        <p:tgtEl>
                                          <p:spTgt spid="1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7">
                                            <p:txEl>
                                              <p:pRg st="1" end="1"/>
                                            </p:txEl>
                                          </p:spTgt>
                                        </p:tgtEl>
                                        <p:attrNameLst>
                                          <p:attrName>style.visibility</p:attrName>
                                        </p:attrNameLst>
                                      </p:cBhvr>
                                      <p:to>
                                        <p:strVal val="visible"/>
                                      </p:to>
                                    </p:set>
                                    <p:animEffect transition="in" filter="fade">
                                      <p:cBhvr>
                                        <p:cTn id="12" dur="500"/>
                                        <p:tgtEl>
                                          <p:spTgt spid="1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7">
                                            <p:txEl>
                                              <p:pRg st="2" end="2"/>
                                            </p:txEl>
                                          </p:spTgt>
                                        </p:tgtEl>
                                        <p:attrNameLst>
                                          <p:attrName>style.visibility</p:attrName>
                                        </p:attrNameLst>
                                      </p:cBhvr>
                                      <p:to>
                                        <p:strVal val="visible"/>
                                      </p:to>
                                    </p:set>
                                    <p:animEffect transition="in" filter="fade">
                                      <p:cBhvr>
                                        <p:cTn id="17" dur="500"/>
                                        <p:tgtEl>
                                          <p:spTgt spid="1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7">
                                            <p:txEl>
                                              <p:pRg st="3" end="3"/>
                                            </p:txEl>
                                          </p:spTgt>
                                        </p:tgtEl>
                                        <p:attrNameLst>
                                          <p:attrName>style.visibility</p:attrName>
                                        </p:attrNameLst>
                                      </p:cBhvr>
                                      <p:to>
                                        <p:strVal val="visible"/>
                                      </p:to>
                                    </p:set>
                                    <p:animEffect transition="in" filter="fade">
                                      <p:cBhvr>
                                        <p:cTn id="22" dur="500"/>
                                        <p:tgtEl>
                                          <p:spTgt spid="1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1"/>
          <p:cNvSpPr txBox="1">
            <a:spLocks noGrp="1"/>
          </p:cNvSpPr>
          <p:nvPr>
            <p:ph sz="half" idx="1"/>
          </p:nvPr>
        </p:nvSpPr>
        <p:spPr>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ClrTx/>
              <a:buSzPts val="2800"/>
              <a:buChar char="•"/>
            </a:pPr>
            <a:r>
              <a:rPr lang="en-US" sz="2800" b="1" dirty="0">
                <a:latin typeface="Calibri Light" panose="020F0302020204030204" pitchFamily="34" charset="0"/>
                <a:ea typeface="Calibri Light" panose="020F0302020204030204" pitchFamily="34" charset="0"/>
                <a:cs typeface="Calibri Light" panose="020F0302020204030204" pitchFamily="34" charset="0"/>
              </a:rPr>
              <a:t>Data Integrity -</a:t>
            </a:r>
            <a:r>
              <a:rPr lang="en-US" sz="2800" dirty="0">
                <a:latin typeface="Calibri Light" panose="020F0302020204030204" pitchFamily="34" charset="0"/>
                <a:ea typeface="Calibri Light" panose="020F0302020204030204" pitchFamily="34" charset="0"/>
                <a:cs typeface="Calibri Light" panose="020F0302020204030204" pitchFamily="34" charset="0"/>
              </a:rPr>
              <a:t> Each microservice is responsible for its own data persistence. As a result, data consistency can be a challenge.</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00000"/>
              </a:lnSpc>
              <a:spcBef>
                <a:spcPts val="1000"/>
              </a:spcBef>
              <a:spcAft>
                <a:spcPts val="0"/>
              </a:spcAft>
              <a:buClrTx/>
              <a:buSzPts val="2800"/>
              <a:buChar char="•"/>
            </a:pPr>
            <a:r>
              <a:rPr lang="en-US" sz="2800" b="1" dirty="0">
                <a:latin typeface="Calibri Light" panose="020F0302020204030204" pitchFamily="34" charset="0"/>
                <a:ea typeface="Calibri Light" panose="020F0302020204030204" pitchFamily="34" charset="0"/>
                <a:cs typeface="Calibri Light" panose="020F0302020204030204" pitchFamily="34" charset="0"/>
              </a:rPr>
              <a:t>Management -</a:t>
            </a:r>
            <a:r>
              <a:rPr lang="en-US" sz="2800" dirty="0">
                <a:latin typeface="Calibri Light" panose="020F0302020204030204" pitchFamily="34" charset="0"/>
                <a:ea typeface="Calibri Light" panose="020F0302020204030204" pitchFamily="34" charset="0"/>
                <a:cs typeface="Calibri Light" panose="020F0302020204030204" pitchFamily="34" charset="0"/>
              </a:rPr>
              <a:t> To be successful with microservices requires a mature DevOps culture. Correlated logging across services can be challenging for a single user operation.</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00000"/>
              </a:lnSpc>
              <a:spcBef>
                <a:spcPts val="1000"/>
              </a:spcBef>
              <a:spcAft>
                <a:spcPts val="0"/>
              </a:spcAft>
              <a:buClrTx/>
              <a:buSzPts val="2800"/>
              <a:buChar char="•"/>
            </a:pPr>
            <a:r>
              <a:rPr lang="en-US" sz="2800" b="1" dirty="0">
                <a:latin typeface="Calibri Light" panose="020F0302020204030204" pitchFamily="34" charset="0"/>
                <a:ea typeface="Calibri Light" panose="020F0302020204030204" pitchFamily="34" charset="0"/>
                <a:cs typeface="Calibri Light" panose="020F0302020204030204" pitchFamily="34" charset="0"/>
              </a:rPr>
              <a:t>Versioning -</a:t>
            </a:r>
            <a:r>
              <a:rPr lang="en-US" sz="2800" dirty="0">
                <a:latin typeface="Calibri Light" panose="020F0302020204030204" pitchFamily="34" charset="0"/>
                <a:ea typeface="Calibri Light" panose="020F0302020204030204" pitchFamily="34" charset="0"/>
                <a:cs typeface="Calibri Light" panose="020F0302020204030204" pitchFamily="34" charset="0"/>
              </a:rPr>
              <a:t> Be careful while updating a service. It must not break services that depend on it. So without careful design, you might have problems with backward or forward compatibility.</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00000"/>
              </a:lnSpc>
              <a:spcBef>
                <a:spcPts val="1000"/>
              </a:spcBef>
              <a:spcAft>
                <a:spcPts val="0"/>
              </a:spcAft>
              <a:buClrTx/>
              <a:buSzPts val="2800"/>
              <a:buChar char="•"/>
            </a:pPr>
            <a:r>
              <a:rPr lang="en-US" sz="2800" b="1" dirty="0">
                <a:latin typeface="Calibri Light" panose="020F0302020204030204" pitchFamily="34" charset="0"/>
                <a:ea typeface="Calibri Light" panose="020F0302020204030204" pitchFamily="34" charset="0"/>
                <a:cs typeface="Calibri Light" panose="020F0302020204030204" pitchFamily="34" charset="0"/>
              </a:rPr>
              <a:t>Skillset -</a:t>
            </a:r>
            <a:r>
              <a:rPr lang="en-US" sz="2800" dirty="0">
                <a:latin typeface="Calibri Light" panose="020F0302020204030204" pitchFamily="34" charset="0"/>
                <a:ea typeface="Calibri Light" panose="020F0302020204030204" pitchFamily="34" charset="0"/>
                <a:cs typeface="Calibri Light" panose="020F0302020204030204" pitchFamily="34" charset="0"/>
              </a:rPr>
              <a:t> Microservices are highly distributed systems. So need a skilled and experience team to implement it.</a:t>
            </a:r>
            <a:endParaRPr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94" name="Google Shape;194;p11"/>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Challenges of Microservices Contd..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8"/>
        <p:cNvGrpSpPr/>
        <p:nvPr/>
      </p:nvGrpSpPr>
      <p:grpSpPr>
        <a:xfrm>
          <a:off x="0" y="0"/>
          <a:ext cx="0" cy="0"/>
          <a:chOff x="0" y="0"/>
          <a:chExt cx="0" cy="0"/>
        </a:xfrm>
      </p:grpSpPr>
      <p:sp>
        <p:nvSpPr>
          <p:cNvPr id="199" name="Google Shape;199;p12"/>
          <p:cNvSpPr txBox="1">
            <a:spLocks noGrp="1"/>
          </p:cNvSpPr>
          <p:nvPr>
            <p:ph sz="half" idx="10"/>
          </p:nvPr>
        </p:nvSpPr>
        <p:spPr>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70C0"/>
              </a:buClr>
              <a:buSzPts val="3600"/>
              <a:buFont typeface="Calibri"/>
              <a:buNone/>
            </a:pPr>
            <a:r>
              <a:rPr lang="en-US"/>
              <a:t>N-Layer App to Microservices</a:t>
            </a:r>
            <a:endParaRPr sz="3600">
              <a:solidFill>
                <a:srgbClr val="3F3F3F"/>
              </a:solidFill>
            </a:endParaRPr>
          </a:p>
        </p:txBody>
      </p:sp>
      <p:pic>
        <p:nvPicPr>
          <p:cNvPr id="200" name="Google Shape;200;p12"/>
          <p:cNvPicPr preferRelativeResize="0"/>
          <p:nvPr/>
        </p:nvPicPr>
        <p:blipFill rotWithShape="1">
          <a:blip r:embed="rId3">
            <a:alphaModFix/>
          </a:blip>
          <a:srcRect/>
          <a:stretch/>
        </p:blipFill>
        <p:spPr>
          <a:xfrm>
            <a:off x="5538775" y="2325003"/>
            <a:ext cx="6512548" cy="2979425"/>
          </a:xfrm>
          <a:prstGeom prst="rect">
            <a:avLst/>
          </a:prstGeom>
          <a:noFill/>
          <a:ln>
            <a:noFill/>
          </a:ln>
        </p:spPr>
      </p:pic>
      <p:pic>
        <p:nvPicPr>
          <p:cNvPr id="201" name="Google Shape;201;p12"/>
          <p:cNvPicPr preferRelativeResize="0"/>
          <p:nvPr/>
        </p:nvPicPr>
        <p:blipFill rotWithShape="1">
          <a:blip r:embed="rId4">
            <a:alphaModFix/>
          </a:blip>
          <a:srcRect/>
          <a:stretch/>
        </p:blipFill>
        <p:spPr>
          <a:xfrm>
            <a:off x="137187" y="2325003"/>
            <a:ext cx="4804759" cy="2768456"/>
          </a:xfrm>
          <a:prstGeom prst="rect">
            <a:avLst/>
          </a:prstGeom>
          <a:noFill/>
          <a:ln>
            <a:noFill/>
          </a:ln>
        </p:spPr>
      </p:pic>
      <p:sp>
        <p:nvSpPr>
          <p:cNvPr id="202" name="Google Shape;202;p12"/>
          <p:cNvSpPr/>
          <p:nvPr/>
        </p:nvSpPr>
        <p:spPr>
          <a:xfrm>
            <a:off x="4851635" y="3280253"/>
            <a:ext cx="596829" cy="428978"/>
          </a:xfrm>
          <a:prstGeom prst="rightArrow">
            <a:avLst>
              <a:gd name="adj1" fmla="val 50000"/>
              <a:gd name="adj2" fmla="val 50000"/>
            </a:avLst>
          </a:prstGeom>
          <a:solidFill>
            <a:srgbClr val="DDEAF6"/>
          </a:solidFill>
          <a:ln w="12700" cap="flat" cmpd="sng">
            <a:solidFill>
              <a:srgbClr val="146B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1"/>
                                        </p:tgtEl>
                                        <p:attrNameLst>
                                          <p:attrName>style.visibility</p:attrName>
                                        </p:attrNameLst>
                                      </p:cBhvr>
                                      <p:to>
                                        <p:strVal val="visible"/>
                                      </p:to>
                                    </p:set>
                                    <p:animEffect transition="in" filter="fade">
                                      <p:cBhvr>
                                        <p:cTn id="7" dur="500"/>
                                        <p:tgtEl>
                                          <p:spTgt spid="2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2"/>
                                        </p:tgtEl>
                                        <p:attrNameLst>
                                          <p:attrName>style.visibility</p:attrName>
                                        </p:attrNameLst>
                                      </p:cBhvr>
                                      <p:to>
                                        <p:strVal val="visible"/>
                                      </p:to>
                                    </p:set>
                                    <p:animEffect transition="in" filter="fade">
                                      <p:cBhvr>
                                        <p:cTn id="12" dur="500"/>
                                        <p:tgtEl>
                                          <p:spTgt spid="20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0"/>
                                        </p:tgtEl>
                                        <p:attrNameLst>
                                          <p:attrName>style.visibility</p:attrName>
                                        </p:attrNameLst>
                                      </p:cBhvr>
                                      <p:to>
                                        <p:strVal val="visible"/>
                                      </p:to>
                                    </p:set>
                                    <p:animEffect transition="in" filter="fade">
                                      <p:cBhvr>
                                        <p:cTn id="17" dur="500"/>
                                        <p:tgtEl>
                                          <p:spTgt spid="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6"/>
        <p:cNvGrpSpPr/>
        <p:nvPr/>
      </p:nvGrpSpPr>
      <p:grpSpPr>
        <a:xfrm>
          <a:off x="0" y="0"/>
          <a:ext cx="0" cy="0"/>
          <a:chOff x="0" y="0"/>
          <a:chExt cx="0" cy="0"/>
        </a:xfrm>
      </p:grpSpPr>
      <p:sp>
        <p:nvSpPr>
          <p:cNvPr id="207" name="Google Shape;207;p13"/>
          <p:cNvSpPr txBox="1"/>
          <p:nvPr/>
        </p:nvSpPr>
        <p:spPr>
          <a:xfrm>
            <a:off x="2945105" y="5746767"/>
            <a:ext cx="630179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i="1" dirty="0">
                <a:solidFill>
                  <a:srgbClr val="3F3F3F"/>
                </a:solidFill>
                <a:latin typeface="Calibri"/>
                <a:ea typeface="Calibri"/>
                <a:cs typeface="Calibri"/>
                <a:sym typeface="Calibri"/>
              </a:rPr>
              <a:t>Reference: https://github.com/dotnet-architecture/eShopOnContainers/tree/master</a:t>
            </a:r>
            <a:endParaRPr dirty="0"/>
          </a:p>
        </p:txBody>
      </p:sp>
      <p:pic>
        <p:nvPicPr>
          <p:cNvPr id="208" name="Google Shape;208;p13"/>
          <p:cNvPicPr preferRelativeResize="0"/>
          <p:nvPr/>
        </p:nvPicPr>
        <p:blipFill rotWithShape="1">
          <a:blip r:embed="rId3">
            <a:alphaModFix/>
          </a:blip>
          <a:srcRect t="11291"/>
          <a:stretch/>
        </p:blipFill>
        <p:spPr>
          <a:xfrm>
            <a:off x="1160443" y="1222310"/>
            <a:ext cx="8972602" cy="4301412"/>
          </a:xfrm>
          <a:prstGeom prst="rect">
            <a:avLst/>
          </a:prstGeom>
          <a:noFill/>
          <a:ln>
            <a:noFill/>
          </a:ln>
        </p:spPr>
      </p:pic>
      <p:sp>
        <p:nvSpPr>
          <p:cNvPr id="2" name="Content Placeholder 1">
            <a:extLst>
              <a:ext uri="{FF2B5EF4-FFF2-40B4-BE49-F238E27FC236}">
                <a16:creationId xmlns:a16="http://schemas.microsoft.com/office/drawing/2014/main" id="{7D2271A0-122E-4B25-68B8-A03D5BD19D15}"/>
              </a:ext>
            </a:extLst>
          </p:cNvPr>
          <p:cNvSpPr>
            <a:spLocks noGrp="1"/>
          </p:cNvSpPr>
          <p:nvPr>
            <p:ph sz="half" idx="10"/>
          </p:nvPr>
        </p:nvSpPr>
        <p:spPr/>
        <p:txBody>
          <a:bodyPr/>
          <a:lstStyle/>
          <a:p>
            <a:r>
              <a:rPr lang="en-US" dirty="0" err="1"/>
              <a:t>eShop</a:t>
            </a:r>
            <a:r>
              <a:rPr lang="en-US" dirty="0"/>
              <a:t> Application Architecture: Docker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AEBB73-903E-2793-92C1-82A6B37065E5}"/>
              </a:ext>
            </a:extLst>
          </p:cNvPr>
          <p:cNvSpPr>
            <a:spLocks noGrp="1"/>
          </p:cNvSpPr>
          <p:nvPr>
            <p:ph sz="half" idx="10"/>
          </p:nvPr>
        </p:nvSpPr>
        <p:spPr/>
        <p:txBody>
          <a:bodyPr/>
          <a:lstStyle/>
          <a:p>
            <a:r>
              <a:rPr lang="en-US" dirty="0"/>
              <a:t>Microservices CI/CD</a:t>
            </a:r>
          </a:p>
        </p:txBody>
      </p:sp>
      <p:pic>
        <p:nvPicPr>
          <p:cNvPr id="3" name="Google Shape;218;p15">
            <a:extLst>
              <a:ext uri="{FF2B5EF4-FFF2-40B4-BE49-F238E27FC236}">
                <a16:creationId xmlns:a16="http://schemas.microsoft.com/office/drawing/2014/main" id="{AB9488F8-AA2C-B857-2045-68D52A5D202B}"/>
              </a:ext>
            </a:extLst>
          </p:cNvPr>
          <p:cNvPicPr preferRelativeResize="0">
            <a:picLocks/>
          </p:cNvPicPr>
          <p:nvPr/>
        </p:nvPicPr>
        <p:blipFill rotWithShape="1">
          <a:blip r:embed="rId2">
            <a:alphaModFix/>
          </a:blip>
          <a:stretch/>
        </p:blipFill>
        <p:spPr>
          <a:xfrm>
            <a:off x="2097745" y="1234955"/>
            <a:ext cx="9064836" cy="4388090"/>
          </a:xfrm>
          <a:prstGeom prst="rect">
            <a:avLst/>
          </a:prstGeom>
          <a:noFill/>
          <a:ln>
            <a:noFill/>
          </a:ln>
        </p:spPr>
      </p:pic>
    </p:spTree>
    <p:extLst>
      <p:ext uri="{BB962C8B-B14F-4D97-AF65-F5344CB8AC3E}">
        <p14:creationId xmlns:p14="http://schemas.microsoft.com/office/powerpoint/2010/main" val="2918792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6"/>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ClrTx/>
              <a:buSzPts val="2800"/>
              <a:buChar char="•"/>
            </a:pPr>
            <a:r>
              <a:rPr lang="en-US" b="1" dirty="0">
                <a:latin typeface="Calibri Light" panose="020F0302020204030204" pitchFamily="34" charset="0"/>
                <a:ea typeface="Calibri Light" panose="020F0302020204030204" pitchFamily="34" charset="0"/>
                <a:cs typeface="Calibri Light" panose="020F0302020204030204" pitchFamily="34" charset="0"/>
              </a:rPr>
              <a:t>Greenfield Development</a:t>
            </a:r>
            <a:r>
              <a:rPr lang="en-US" dirty="0">
                <a:latin typeface="Calibri Light" panose="020F0302020204030204" pitchFamily="34" charset="0"/>
                <a:ea typeface="Calibri Light" panose="020F0302020204030204" pitchFamily="34" charset="0"/>
                <a:cs typeface="Calibri Light" panose="020F0302020204030204" pitchFamily="34" charset="0"/>
              </a:rPr>
              <a:t> happens when you start a brand new project with clean slate development. No legacy code or no old development to maintain. Starting project from scratch with no restrictions on what you’re doing (other than business rules).</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00000"/>
              </a:lnSpc>
              <a:spcBef>
                <a:spcPts val="1000"/>
              </a:spcBef>
              <a:spcAft>
                <a:spcPts val="0"/>
              </a:spcAft>
              <a:buClrTx/>
              <a:buSzPts val="2800"/>
              <a:buChar char="•"/>
            </a:pPr>
            <a:r>
              <a:rPr lang="en-US" b="1" dirty="0">
                <a:latin typeface="Calibri Light" panose="020F0302020204030204" pitchFamily="34" charset="0"/>
                <a:ea typeface="Calibri Light" panose="020F0302020204030204" pitchFamily="34" charset="0"/>
                <a:cs typeface="Calibri Light" panose="020F0302020204030204" pitchFamily="34" charset="0"/>
              </a:rPr>
              <a:t>Brownfield Development</a:t>
            </a:r>
            <a:r>
              <a:rPr lang="en-US" dirty="0">
                <a:latin typeface="Calibri Light" panose="020F0302020204030204" pitchFamily="34" charset="0"/>
                <a:ea typeface="Calibri Light" panose="020F0302020204030204" pitchFamily="34" charset="0"/>
                <a:cs typeface="Calibri Light" panose="020F0302020204030204" pitchFamily="34" charset="0"/>
              </a:rPr>
              <a:t> happens when business decide to develop/improve upon an existing application infrastructure. As an upgrade is implemented into an existing solution.</a:t>
            </a:r>
            <a:endParaRPr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224" name="Google Shape;224;p16"/>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Greenfield vs. Brownfield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7"/>
          <p:cNvSpPr/>
          <p:nvPr/>
        </p:nvSpPr>
        <p:spPr>
          <a:xfrm>
            <a:off x="394525" y="1341320"/>
            <a:ext cx="2980310" cy="2124248"/>
          </a:xfrm>
          <a:custGeom>
            <a:avLst/>
            <a:gdLst/>
            <a:ahLst/>
            <a:cxnLst/>
            <a:rect l="l" t="t" r="r" b="b"/>
            <a:pathLst>
              <a:path w="3540414" h="2124248" extrusionOk="0">
                <a:moveTo>
                  <a:pt x="0" y="0"/>
                </a:moveTo>
                <a:lnTo>
                  <a:pt x="3540414" y="0"/>
                </a:lnTo>
                <a:lnTo>
                  <a:pt x="3540414" y="2124248"/>
                </a:lnTo>
                <a:lnTo>
                  <a:pt x="0" y="2124248"/>
                </a:lnTo>
                <a:lnTo>
                  <a:pt x="0" y="0"/>
                </a:lnTo>
                <a:close/>
              </a:path>
            </a:pathLst>
          </a:custGeom>
          <a:solidFill>
            <a:schemeClr val="lt1"/>
          </a:solidFill>
          <a:ln w="12700" cap="flat" cmpd="sng">
            <a:solidFill>
              <a:schemeClr val="accent4">
                <a:lumMod val="60000"/>
                <a:lumOff val="40000"/>
              </a:schemeClr>
            </a:solidFill>
            <a:prstDash val="solid"/>
            <a:miter lim="800000"/>
            <a:headEnd type="none" w="sm" len="sm"/>
            <a:tailEnd type="none" w="sm" len="sm"/>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None/>
            </a:pPr>
            <a:r>
              <a:rPr lang="en-US" sz="2200" b="1" dirty="0">
                <a:solidFill>
                  <a:srgbClr val="002060"/>
                </a:solidFill>
                <a:latin typeface="Calibri"/>
                <a:ea typeface="Calibri"/>
                <a:cs typeface="Calibri"/>
                <a:sym typeface="Calibri"/>
              </a:rPr>
              <a:t>Decomposition Patterns</a:t>
            </a:r>
            <a:endParaRPr dirty="0"/>
          </a:p>
          <a:p>
            <a:pPr marL="171450" marR="0" lvl="1" indent="-171450" algn="l" rtl="0">
              <a:lnSpc>
                <a:spcPct val="90000"/>
              </a:lnSpc>
              <a:spcBef>
                <a:spcPts val="7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Decompose by Business Capability</a:t>
            </a:r>
            <a:endParaRPr dirty="0"/>
          </a:p>
          <a:p>
            <a:pPr marL="171450" marR="0" lvl="1" indent="-171450" algn="l" rtl="0">
              <a:lnSpc>
                <a:spcPct val="90000"/>
              </a:lnSpc>
              <a:spcBef>
                <a:spcPts val="2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Decompose by Subdomain</a:t>
            </a:r>
            <a:endParaRPr dirty="0"/>
          </a:p>
          <a:p>
            <a:pPr marL="171450" marR="0" lvl="1" indent="-171450" algn="l" rtl="0">
              <a:lnSpc>
                <a:spcPct val="90000"/>
              </a:lnSpc>
              <a:spcBef>
                <a:spcPts val="2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Strangler Pattern</a:t>
            </a:r>
            <a:endParaRPr sz="1800" b="0" i="0" u="none" strike="noStrike" cap="none" dirty="0">
              <a:solidFill>
                <a:srgbClr val="002060"/>
              </a:solidFill>
              <a:latin typeface="Calibri"/>
              <a:ea typeface="Calibri"/>
              <a:cs typeface="Calibri"/>
              <a:sym typeface="Calibri"/>
            </a:endParaRPr>
          </a:p>
        </p:txBody>
      </p:sp>
      <p:sp>
        <p:nvSpPr>
          <p:cNvPr id="231" name="Google Shape;231;p17"/>
          <p:cNvSpPr/>
          <p:nvPr/>
        </p:nvSpPr>
        <p:spPr>
          <a:xfrm>
            <a:off x="3533626" y="1330115"/>
            <a:ext cx="2532421" cy="2124248"/>
          </a:xfrm>
          <a:custGeom>
            <a:avLst/>
            <a:gdLst/>
            <a:ahLst/>
            <a:cxnLst/>
            <a:rect l="l" t="t" r="r" b="b"/>
            <a:pathLst>
              <a:path w="3540414" h="2124248" extrusionOk="0">
                <a:moveTo>
                  <a:pt x="0" y="0"/>
                </a:moveTo>
                <a:lnTo>
                  <a:pt x="3540414" y="0"/>
                </a:lnTo>
                <a:lnTo>
                  <a:pt x="3540414" y="2124248"/>
                </a:lnTo>
                <a:lnTo>
                  <a:pt x="0" y="2124248"/>
                </a:lnTo>
                <a:lnTo>
                  <a:pt x="0" y="0"/>
                </a:lnTo>
                <a:close/>
              </a:path>
            </a:pathLst>
          </a:custGeom>
          <a:solidFill>
            <a:schemeClr val="lt1"/>
          </a:solidFill>
          <a:ln w="12700" cap="flat" cmpd="sng">
            <a:solidFill>
              <a:schemeClr val="accent4">
                <a:lumMod val="60000"/>
                <a:lumOff val="40000"/>
              </a:schemeClr>
            </a:solidFill>
            <a:prstDash val="solid"/>
            <a:miter lim="800000"/>
            <a:headEnd type="none" w="sm" len="sm"/>
            <a:tailEnd type="none" w="sm" len="sm"/>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None/>
            </a:pPr>
            <a:r>
              <a:rPr lang="en-US" sz="2200" b="1" dirty="0">
                <a:solidFill>
                  <a:srgbClr val="002060"/>
                </a:solidFill>
                <a:latin typeface="Calibri"/>
                <a:ea typeface="Calibri"/>
                <a:cs typeface="Calibri"/>
                <a:sym typeface="Calibri"/>
              </a:rPr>
              <a:t>Integration Patterns</a:t>
            </a:r>
            <a:endParaRPr dirty="0"/>
          </a:p>
          <a:p>
            <a:pPr marL="171450" marR="0" lvl="1" indent="-171450" algn="l" rtl="0">
              <a:lnSpc>
                <a:spcPct val="90000"/>
              </a:lnSpc>
              <a:spcBef>
                <a:spcPts val="7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API Gateway Pattern</a:t>
            </a:r>
            <a:endParaRPr dirty="0"/>
          </a:p>
          <a:p>
            <a:pPr marL="171450" marR="0" lvl="1" indent="-171450" algn="l" rtl="0">
              <a:lnSpc>
                <a:spcPct val="90000"/>
              </a:lnSpc>
              <a:spcBef>
                <a:spcPts val="2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Aggregator Pattern</a:t>
            </a:r>
            <a:endParaRPr dirty="0"/>
          </a:p>
          <a:p>
            <a:pPr marL="171450" marR="0" lvl="1" indent="-171450" algn="l" rtl="0">
              <a:lnSpc>
                <a:spcPct val="90000"/>
              </a:lnSpc>
              <a:spcBef>
                <a:spcPts val="2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Client-Side UI Composition Pattern</a:t>
            </a:r>
            <a:endParaRPr dirty="0"/>
          </a:p>
        </p:txBody>
      </p:sp>
      <p:sp>
        <p:nvSpPr>
          <p:cNvPr id="232" name="Google Shape;232;p17"/>
          <p:cNvSpPr/>
          <p:nvPr/>
        </p:nvSpPr>
        <p:spPr>
          <a:xfrm>
            <a:off x="6252475" y="1341320"/>
            <a:ext cx="2367742" cy="2124248"/>
          </a:xfrm>
          <a:custGeom>
            <a:avLst/>
            <a:gdLst/>
            <a:ahLst/>
            <a:cxnLst/>
            <a:rect l="l" t="t" r="r" b="b"/>
            <a:pathLst>
              <a:path w="3540414" h="2124248" extrusionOk="0">
                <a:moveTo>
                  <a:pt x="0" y="0"/>
                </a:moveTo>
                <a:lnTo>
                  <a:pt x="3540414" y="0"/>
                </a:lnTo>
                <a:lnTo>
                  <a:pt x="3540414" y="2124248"/>
                </a:lnTo>
                <a:lnTo>
                  <a:pt x="0" y="2124248"/>
                </a:lnTo>
                <a:lnTo>
                  <a:pt x="0" y="0"/>
                </a:lnTo>
                <a:close/>
              </a:path>
            </a:pathLst>
          </a:custGeom>
          <a:solidFill>
            <a:schemeClr val="lt1"/>
          </a:solidFill>
          <a:ln w="12700" cap="flat" cmpd="sng">
            <a:solidFill>
              <a:schemeClr val="accent4">
                <a:lumMod val="60000"/>
                <a:lumOff val="40000"/>
              </a:schemeClr>
            </a:solidFill>
            <a:prstDash val="solid"/>
            <a:miter lim="800000"/>
            <a:headEnd type="none" w="sm" len="sm"/>
            <a:tailEnd type="none" w="sm" len="sm"/>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None/>
            </a:pPr>
            <a:r>
              <a:rPr lang="en-US" sz="2200" b="1" i="0" dirty="0">
                <a:solidFill>
                  <a:srgbClr val="002060"/>
                </a:solidFill>
                <a:latin typeface="Calibri"/>
                <a:ea typeface="Calibri"/>
                <a:cs typeface="Calibri"/>
                <a:sym typeface="Calibri"/>
              </a:rPr>
              <a:t>Database Patterns</a:t>
            </a:r>
            <a:endParaRPr sz="2200" b="1" dirty="0">
              <a:solidFill>
                <a:srgbClr val="002060"/>
              </a:solidFill>
              <a:latin typeface="Calibri"/>
              <a:ea typeface="Calibri"/>
              <a:cs typeface="Calibri"/>
              <a:sym typeface="Calibri"/>
            </a:endParaRPr>
          </a:p>
          <a:p>
            <a:pPr marL="171450" marR="0" lvl="1" indent="-171450" algn="l" rtl="0">
              <a:lnSpc>
                <a:spcPct val="90000"/>
              </a:lnSpc>
              <a:spcBef>
                <a:spcPts val="7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Database per Service</a:t>
            </a:r>
            <a:endParaRPr dirty="0"/>
          </a:p>
          <a:p>
            <a:pPr marL="171450" marR="0" lvl="1" indent="-171450" algn="l" rtl="0">
              <a:lnSpc>
                <a:spcPct val="90000"/>
              </a:lnSpc>
              <a:spcBef>
                <a:spcPts val="2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Shared Database</a:t>
            </a:r>
            <a:endParaRPr dirty="0"/>
          </a:p>
          <a:p>
            <a:pPr marL="171450" marR="0" lvl="1" indent="-171450" algn="l" rtl="0">
              <a:lnSpc>
                <a:spcPct val="90000"/>
              </a:lnSpc>
              <a:spcBef>
                <a:spcPts val="2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CQRS Pattern</a:t>
            </a:r>
            <a:endParaRPr sz="1800" b="0" i="0" u="none" strike="noStrike" cap="none" dirty="0">
              <a:solidFill>
                <a:srgbClr val="002060"/>
              </a:solidFill>
              <a:latin typeface="Calibri"/>
              <a:ea typeface="Calibri"/>
              <a:cs typeface="Calibri"/>
              <a:sym typeface="Calibri"/>
            </a:endParaRPr>
          </a:p>
          <a:p>
            <a:pPr marL="171450" marR="0" lvl="1" indent="-171450" algn="l" rtl="0">
              <a:lnSpc>
                <a:spcPct val="90000"/>
              </a:lnSpc>
              <a:spcBef>
                <a:spcPts val="2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Saga Pattern</a:t>
            </a:r>
            <a:endParaRPr dirty="0"/>
          </a:p>
        </p:txBody>
      </p:sp>
      <p:sp>
        <p:nvSpPr>
          <p:cNvPr id="233" name="Google Shape;233;p17"/>
          <p:cNvSpPr/>
          <p:nvPr/>
        </p:nvSpPr>
        <p:spPr>
          <a:xfrm>
            <a:off x="8806645" y="1343908"/>
            <a:ext cx="3052699" cy="2124248"/>
          </a:xfrm>
          <a:custGeom>
            <a:avLst/>
            <a:gdLst/>
            <a:ahLst/>
            <a:cxnLst/>
            <a:rect l="l" t="t" r="r" b="b"/>
            <a:pathLst>
              <a:path w="3040897" h="2124248" extrusionOk="0">
                <a:moveTo>
                  <a:pt x="0" y="0"/>
                </a:moveTo>
                <a:lnTo>
                  <a:pt x="3040897" y="0"/>
                </a:lnTo>
                <a:lnTo>
                  <a:pt x="3040897" y="2124248"/>
                </a:lnTo>
                <a:lnTo>
                  <a:pt x="0" y="2124248"/>
                </a:lnTo>
                <a:lnTo>
                  <a:pt x="0" y="0"/>
                </a:lnTo>
                <a:close/>
              </a:path>
            </a:pathLst>
          </a:custGeom>
          <a:solidFill>
            <a:schemeClr val="lt1"/>
          </a:solidFill>
          <a:ln w="12700" cap="flat" cmpd="sng">
            <a:solidFill>
              <a:schemeClr val="accent4">
                <a:lumMod val="60000"/>
                <a:lumOff val="40000"/>
              </a:schemeClr>
            </a:solidFill>
            <a:prstDash val="solid"/>
            <a:miter lim="800000"/>
            <a:headEnd type="none" w="sm" len="sm"/>
            <a:tailEnd type="none" w="sm" len="sm"/>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None/>
            </a:pPr>
            <a:r>
              <a:rPr lang="en-US" sz="2200" b="1" i="0" dirty="0">
                <a:solidFill>
                  <a:srgbClr val="002060"/>
                </a:solidFill>
                <a:latin typeface="Calibri"/>
                <a:ea typeface="Calibri"/>
                <a:cs typeface="Calibri"/>
                <a:sym typeface="Calibri"/>
              </a:rPr>
              <a:t>Communication Patterns</a:t>
            </a:r>
            <a:endParaRPr sz="2200" b="1" dirty="0">
              <a:solidFill>
                <a:srgbClr val="002060"/>
              </a:solidFill>
              <a:latin typeface="Calibri"/>
              <a:ea typeface="Calibri"/>
              <a:cs typeface="Calibri"/>
              <a:sym typeface="Calibri"/>
            </a:endParaRPr>
          </a:p>
          <a:p>
            <a:pPr marL="171450" marR="0" lvl="1" indent="-171450" algn="l" rtl="0">
              <a:lnSpc>
                <a:spcPct val="90000"/>
              </a:lnSpc>
              <a:spcBef>
                <a:spcPts val="7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Request/Response Pattern</a:t>
            </a:r>
            <a:endParaRPr dirty="0"/>
          </a:p>
          <a:p>
            <a:pPr marL="171450" marR="0" lvl="1" indent="-171450" algn="l" rtl="0">
              <a:lnSpc>
                <a:spcPct val="90000"/>
              </a:lnSpc>
              <a:spcBef>
                <a:spcPts val="2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Messaging Pattern</a:t>
            </a:r>
            <a:endParaRPr dirty="0"/>
          </a:p>
          <a:p>
            <a:pPr marL="171450" marR="0" lvl="1" indent="-171450" algn="l" rtl="0">
              <a:lnSpc>
                <a:spcPct val="90000"/>
              </a:lnSpc>
              <a:spcBef>
                <a:spcPts val="2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Event Driven Pattern</a:t>
            </a:r>
            <a:endParaRPr dirty="0"/>
          </a:p>
        </p:txBody>
      </p:sp>
      <p:sp>
        <p:nvSpPr>
          <p:cNvPr id="234" name="Google Shape;234;p17"/>
          <p:cNvSpPr/>
          <p:nvPr/>
        </p:nvSpPr>
        <p:spPr>
          <a:xfrm>
            <a:off x="7814971" y="3841894"/>
            <a:ext cx="4044373" cy="2124248"/>
          </a:xfrm>
          <a:custGeom>
            <a:avLst/>
            <a:gdLst/>
            <a:ahLst/>
            <a:cxnLst/>
            <a:rect l="l" t="t" r="r" b="b"/>
            <a:pathLst>
              <a:path w="4159455" h="2124248" extrusionOk="0">
                <a:moveTo>
                  <a:pt x="0" y="0"/>
                </a:moveTo>
                <a:lnTo>
                  <a:pt x="4159455" y="0"/>
                </a:lnTo>
                <a:lnTo>
                  <a:pt x="4159455" y="2124248"/>
                </a:lnTo>
                <a:lnTo>
                  <a:pt x="0" y="2124248"/>
                </a:lnTo>
                <a:lnTo>
                  <a:pt x="0" y="0"/>
                </a:lnTo>
                <a:close/>
              </a:path>
            </a:pathLst>
          </a:custGeom>
          <a:solidFill>
            <a:schemeClr val="lt1"/>
          </a:solidFill>
          <a:ln w="12700" cap="flat" cmpd="sng">
            <a:solidFill>
              <a:schemeClr val="accent4">
                <a:lumMod val="60000"/>
                <a:lumOff val="40000"/>
              </a:schemeClr>
            </a:solidFill>
            <a:prstDash val="solid"/>
            <a:miter lim="800000"/>
            <a:headEnd type="none" w="sm" len="sm"/>
            <a:tailEnd type="none" w="sm" len="sm"/>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None/>
            </a:pPr>
            <a:r>
              <a:rPr lang="en-US" sz="2200" b="1" i="0" dirty="0">
                <a:solidFill>
                  <a:srgbClr val="002060"/>
                </a:solidFill>
                <a:latin typeface="Calibri"/>
                <a:ea typeface="Calibri"/>
                <a:cs typeface="Calibri"/>
                <a:sym typeface="Calibri"/>
              </a:rPr>
              <a:t>Deployment Patterns</a:t>
            </a:r>
            <a:endParaRPr sz="2200" b="1" dirty="0">
              <a:solidFill>
                <a:srgbClr val="002060"/>
              </a:solidFill>
              <a:latin typeface="Calibri"/>
              <a:ea typeface="Calibri"/>
              <a:cs typeface="Calibri"/>
              <a:sym typeface="Calibri"/>
            </a:endParaRPr>
          </a:p>
          <a:p>
            <a:pPr marL="228600" marR="0" lvl="1" indent="-228600" algn="l" rtl="0">
              <a:lnSpc>
                <a:spcPct val="90000"/>
              </a:lnSpc>
              <a:spcBef>
                <a:spcPts val="7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Multiple Service Instances per Host</a:t>
            </a:r>
            <a:endParaRPr dirty="0"/>
          </a:p>
          <a:p>
            <a:pPr marL="228600" marR="0" lvl="1" indent="-228600" algn="l" rtl="0">
              <a:lnSpc>
                <a:spcPct val="90000"/>
              </a:lnSpc>
              <a:spcBef>
                <a:spcPts val="2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Service Instance per Host</a:t>
            </a:r>
            <a:endParaRPr dirty="0"/>
          </a:p>
          <a:p>
            <a:pPr marL="228600" marR="0" lvl="1" indent="-228600" algn="l" rtl="0">
              <a:lnSpc>
                <a:spcPct val="90000"/>
              </a:lnSpc>
              <a:spcBef>
                <a:spcPts val="2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Serverless Deployment</a:t>
            </a:r>
            <a:endParaRPr dirty="0"/>
          </a:p>
          <a:p>
            <a:pPr marL="228600" marR="0" lvl="1" indent="-228600" algn="l" rtl="0">
              <a:lnSpc>
                <a:spcPct val="90000"/>
              </a:lnSpc>
              <a:spcBef>
                <a:spcPts val="2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Service Deployment Platform</a:t>
            </a:r>
            <a:endParaRPr dirty="0"/>
          </a:p>
        </p:txBody>
      </p:sp>
      <p:sp>
        <p:nvSpPr>
          <p:cNvPr id="235" name="Google Shape;235;p17"/>
          <p:cNvSpPr/>
          <p:nvPr/>
        </p:nvSpPr>
        <p:spPr>
          <a:xfrm>
            <a:off x="4394449" y="3853471"/>
            <a:ext cx="3296230" cy="2124248"/>
          </a:xfrm>
          <a:custGeom>
            <a:avLst/>
            <a:gdLst/>
            <a:ahLst/>
            <a:cxnLst/>
            <a:rect l="l" t="t" r="r" b="b"/>
            <a:pathLst>
              <a:path w="3540414" h="2124248" extrusionOk="0">
                <a:moveTo>
                  <a:pt x="0" y="0"/>
                </a:moveTo>
                <a:lnTo>
                  <a:pt x="3540414" y="0"/>
                </a:lnTo>
                <a:lnTo>
                  <a:pt x="3540414" y="2124248"/>
                </a:lnTo>
                <a:lnTo>
                  <a:pt x="0" y="2124248"/>
                </a:lnTo>
                <a:lnTo>
                  <a:pt x="0" y="0"/>
                </a:lnTo>
                <a:close/>
              </a:path>
            </a:pathLst>
          </a:custGeom>
          <a:solidFill>
            <a:schemeClr val="lt1"/>
          </a:solidFill>
          <a:ln w="12700" cap="flat" cmpd="sng">
            <a:solidFill>
              <a:schemeClr val="accent4">
                <a:lumMod val="60000"/>
                <a:lumOff val="40000"/>
              </a:schemeClr>
            </a:solidFill>
            <a:prstDash val="solid"/>
            <a:miter lim="800000"/>
            <a:headEnd type="none" w="sm" len="sm"/>
            <a:tailEnd type="none" w="sm" len="sm"/>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None/>
            </a:pPr>
            <a:r>
              <a:rPr lang="en-US" sz="2200" b="1" i="0" dirty="0">
                <a:solidFill>
                  <a:srgbClr val="002060"/>
                </a:solidFill>
                <a:latin typeface="Calibri"/>
                <a:ea typeface="Calibri"/>
                <a:cs typeface="Calibri"/>
                <a:sym typeface="Calibri"/>
              </a:rPr>
              <a:t>Observability Patterns</a:t>
            </a:r>
            <a:endParaRPr sz="2200" b="1" dirty="0">
              <a:solidFill>
                <a:srgbClr val="002060"/>
              </a:solidFill>
              <a:latin typeface="Calibri"/>
              <a:ea typeface="Calibri"/>
              <a:cs typeface="Calibri"/>
              <a:sym typeface="Calibri"/>
            </a:endParaRPr>
          </a:p>
          <a:p>
            <a:pPr marL="228600" marR="0" lvl="1" indent="-228600" algn="l" rtl="0">
              <a:lnSpc>
                <a:spcPct val="90000"/>
              </a:lnSpc>
              <a:spcBef>
                <a:spcPts val="7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Log Aggregation</a:t>
            </a:r>
            <a:endParaRPr dirty="0"/>
          </a:p>
          <a:p>
            <a:pPr marL="228600" marR="0" lvl="1" indent="-228600" algn="l" rtl="0">
              <a:lnSpc>
                <a:spcPct val="90000"/>
              </a:lnSpc>
              <a:spcBef>
                <a:spcPts val="2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Performance Metrics</a:t>
            </a:r>
            <a:endParaRPr dirty="0"/>
          </a:p>
          <a:p>
            <a:pPr marL="228600" marR="0" lvl="1" indent="-228600" algn="l" rtl="0">
              <a:lnSpc>
                <a:spcPct val="90000"/>
              </a:lnSpc>
              <a:spcBef>
                <a:spcPts val="2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Distributed Tracing</a:t>
            </a:r>
            <a:endParaRPr dirty="0"/>
          </a:p>
          <a:p>
            <a:pPr marL="228600" marR="0" lvl="1" indent="-228600" algn="l" rtl="0">
              <a:lnSpc>
                <a:spcPct val="90000"/>
              </a:lnSpc>
              <a:spcBef>
                <a:spcPts val="2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Health Check</a:t>
            </a:r>
            <a:endParaRPr dirty="0"/>
          </a:p>
        </p:txBody>
      </p:sp>
      <p:grpSp>
        <p:nvGrpSpPr>
          <p:cNvPr id="236" name="Google Shape;236;p17"/>
          <p:cNvGrpSpPr/>
          <p:nvPr/>
        </p:nvGrpSpPr>
        <p:grpSpPr>
          <a:xfrm>
            <a:off x="420452" y="3841894"/>
            <a:ext cx="3778685" cy="2147402"/>
            <a:chOff x="3917649" y="1501"/>
            <a:chExt cx="4146436" cy="3615920"/>
          </a:xfrm>
        </p:grpSpPr>
        <p:sp>
          <p:nvSpPr>
            <p:cNvPr id="237" name="Google Shape;237;p17"/>
            <p:cNvSpPr/>
            <p:nvPr/>
          </p:nvSpPr>
          <p:spPr>
            <a:xfrm>
              <a:off x="3917649" y="1501"/>
              <a:ext cx="4146436" cy="3615920"/>
            </a:xfrm>
            <a:prstGeom prst="rect">
              <a:avLst/>
            </a:prstGeom>
            <a:solidFill>
              <a:schemeClr val="lt1"/>
            </a:solidFill>
            <a:ln w="12700" cap="flat" cmpd="sng">
              <a:solidFill>
                <a:schemeClr val="accent4">
                  <a:lumMod val="60000"/>
                  <a:lumOff val="40000"/>
                </a:scheme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8" name="Google Shape;238;p17"/>
            <p:cNvSpPr txBox="1"/>
            <p:nvPr/>
          </p:nvSpPr>
          <p:spPr>
            <a:xfrm>
              <a:off x="3917649" y="1501"/>
              <a:ext cx="4146436" cy="3615920"/>
            </a:xfrm>
            <a:prstGeom prst="rect">
              <a:avLst/>
            </a:prstGeom>
            <a:noFill/>
            <a:ln>
              <a:solidFill>
                <a:schemeClr val="accent4">
                  <a:lumMod val="60000"/>
                  <a:lumOff val="40000"/>
                </a:schemeClr>
              </a:solid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None/>
              </a:pPr>
              <a:r>
                <a:rPr lang="en-US" sz="2200" b="1" i="0" dirty="0">
                  <a:solidFill>
                    <a:srgbClr val="002060"/>
                  </a:solidFill>
                  <a:latin typeface="Calibri"/>
                  <a:ea typeface="Calibri"/>
                  <a:cs typeface="Calibri"/>
                  <a:sym typeface="Calibri"/>
                </a:rPr>
                <a:t>Cross-Cutting Concern Patterns</a:t>
              </a:r>
              <a:endParaRPr sz="2200" b="1" dirty="0">
                <a:solidFill>
                  <a:srgbClr val="002060"/>
                </a:solidFill>
                <a:latin typeface="Calibri"/>
                <a:ea typeface="Calibri"/>
                <a:cs typeface="Calibri"/>
                <a:sym typeface="Calibri"/>
              </a:endParaRPr>
            </a:p>
            <a:p>
              <a:pPr marL="171450" marR="0" lvl="1" indent="-171450" algn="l" rtl="0">
                <a:lnSpc>
                  <a:spcPct val="90000"/>
                </a:lnSpc>
                <a:spcBef>
                  <a:spcPts val="7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Externalized Configuration</a:t>
              </a:r>
              <a:endParaRPr dirty="0"/>
            </a:p>
            <a:p>
              <a:pPr marL="171450" marR="0" lvl="1" indent="-171450" algn="l" rtl="0">
                <a:lnSpc>
                  <a:spcPct val="90000"/>
                </a:lnSpc>
                <a:spcBef>
                  <a:spcPts val="2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Service Discovery Pattern</a:t>
              </a:r>
              <a:endParaRPr dirty="0"/>
            </a:p>
            <a:p>
              <a:pPr marL="171450" marR="0" lvl="1" indent="-171450" algn="l" rtl="0">
                <a:lnSpc>
                  <a:spcPct val="90000"/>
                </a:lnSpc>
                <a:spcBef>
                  <a:spcPts val="270"/>
                </a:spcBef>
                <a:spcAft>
                  <a:spcPts val="0"/>
                </a:spcAft>
                <a:buClr>
                  <a:srgbClr val="002060"/>
                </a:buClr>
                <a:buSzPts val="1800"/>
                <a:buFont typeface="Calibri"/>
                <a:buChar char="•"/>
              </a:pPr>
              <a:r>
                <a:rPr lang="en-US" sz="1800" b="0" i="0" u="none" strike="noStrike" cap="none" dirty="0">
                  <a:solidFill>
                    <a:srgbClr val="002060"/>
                  </a:solidFill>
                  <a:latin typeface="Calibri"/>
                  <a:ea typeface="Calibri"/>
                  <a:cs typeface="Calibri"/>
                  <a:sym typeface="Calibri"/>
                </a:rPr>
                <a:t>Circuit Breaker Pattern</a:t>
              </a:r>
              <a:endParaRPr dirty="0"/>
            </a:p>
          </p:txBody>
        </p:sp>
      </p:grpSp>
      <p:sp>
        <p:nvSpPr>
          <p:cNvPr id="239" name="Google Shape;239;p17"/>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Microservices Patterns</a:t>
            </a:r>
            <a:endParaRPr/>
          </a:p>
        </p:txBody>
      </p:sp>
    </p:spTree>
  </p:cSld>
  <p:clrMapOvr>
    <a:masterClrMapping/>
  </p:clrMapOvr>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ScholarHat Theme</Template>
  <TotalTime>271</TotalTime>
  <Words>1186</Words>
  <Application>Microsoft Office PowerPoint</Application>
  <PresentationFormat>Widescreen</PresentationFormat>
  <Paragraphs>120</Paragraphs>
  <Slides>17</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Light</vt:lpstr>
      <vt:lpstr>Roboto</vt:lpstr>
      <vt:lpstr>Roboto Light</vt:lpstr>
      <vt:lpstr>Segoe UI</vt:lpstr>
      <vt:lpstr>ScholarHat Layout</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Agenda</dc:title>
  <dc:creator>Shailendra Chauhan</dc:creator>
  <cp:lastModifiedBy>Shailendra Chauhan</cp:lastModifiedBy>
  <cp:revision>1</cp:revision>
  <dcterms:created xsi:type="dcterms:W3CDTF">2015-04-26T09:42:59Z</dcterms:created>
  <dcterms:modified xsi:type="dcterms:W3CDTF">2025-06-03T05:58:28Z</dcterms:modified>
</cp:coreProperties>
</file>