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3"/>
  </p:notesMasterIdLst>
  <p:sldIdLst>
    <p:sldId id="2147469626" r:id="rId2"/>
    <p:sldId id="2147469567" r:id="rId3"/>
    <p:sldId id="654" r:id="rId4"/>
    <p:sldId id="2147469661" r:id="rId5"/>
    <p:sldId id="2147469655" r:id="rId6"/>
    <p:sldId id="2147469654" r:id="rId7"/>
    <p:sldId id="2147469662" r:id="rId8"/>
    <p:sldId id="2147469656" r:id="rId9"/>
    <p:sldId id="2147469663" r:id="rId10"/>
    <p:sldId id="2147469657" r:id="rId11"/>
    <p:sldId id="2147469667" r:id="rId12"/>
    <p:sldId id="2147469664" r:id="rId13"/>
    <p:sldId id="2147469658" r:id="rId14"/>
    <p:sldId id="2147469670" r:id="rId15"/>
    <p:sldId id="2147469665" r:id="rId16"/>
    <p:sldId id="2147469659" r:id="rId17"/>
    <p:sldId id="2147469668" r:id="rId18"/>
    <p:sldId id="2147469666" r:id="rId19"/>
    <p:sldId id="2147469660" r:id="rId20"/>
    <p:sldId id="2147469669" r:id="rId21"/>
    <p:sldId id="652" r:id="rId22"/>
  </p:sldIdLst>
  <p:sldSz cx="12192000" cy="6858000"/>
  <p:notesSz cx="6858000" cy="9144000"/>
  <p:embeddedFontLst>
    <p:embeddedFont>
      <p:font typeface="Roboto" panose="020B0604020202020204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Roboto Light" panose="020B0604020202020204" charset="0"/>
      <p:regular r:id="rId38"/>
      <p: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416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xmlns="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xmlns="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xmlns="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xmlns="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566" y="2026119"/>
            <a:ext cx="6959621" cy="4831881"/>
          </a:xfrm>
        </p:spPr>
        <p:txBody>
          <a:bodyPr>
            <a:noAutofit/>
          </a:bodyPr>
          <a:lstStyle/>
          <a:p>
            <a:pPr marR="1084580" fontAlgn="base">
              <a:buSzPts val="2800"/>
              <a:defRPr/>
            </a:pPr>
            <a:r>
              <a:rPr lang="en-US" dirty="0"/>
              <a:t>Introduction to Spring Cloud </a:t>
            </a:r>
            <a:r>
              <a:rPr lang="en-US" dirty="0" smtClean="0"/>
              <a:t>Gateway</a:t>
            </a:r>
          </a:p>
          <a:p>
            <a:pPr marR="1084580" fontAlgn="base">
              <a:buSzPts val="2800"/>
              <a:defRPr/>
            </a:pPr>
            <a:r>
              <a:rPr lang="en-US" dirty="0" smtClean="0"/>
              <a:t>Key </a:t>
            </a:r>
            <a:r>
              <a:rPr lang="en-US" dirty="0"/>
              <a:t>Features of Spring Cloud </a:t>
            </a:r>
            <a:r>
              <a:rPr lang="en-US" dirty="0" smtClean="0"/>
              <a:t>Gateway</a:t>
            </a:r>
          </a:p>
          <a:p>
            <a:pPr marR="1084580" fontAlgn="base">
              <a:buSzPts val="2800"/>
              <a:defRPr/>
            </a:pPr>
            <a:r>
              <a:rPr lang="en-US" dirty="0"/>
              <a:t>Spring Cloud Gateway </a:t>
            </a:r>
            <a:r>
              <a:rPr lang="en-US" dirty="0" smtClean="0"/>
              <a:t>Benefits</a:t>
            </a:r>
          </a:p>
          <a:p>
            <a:pPr marR="1084580" fontAlgn="base">
              <a:buSzPts val="2800"/>
              <a:defRPr/>
            </a:pPr>
            <a:r>
              <a:rPr lang="en-US" dirty="0" smtClean="0"/>
              <a:t>Introduction </a:t>
            </a:r>
            <a:r>
              <a:rPr lang="en-US" dirty="0"/>
              <a:t>to </a:t>
            </a:r>
            <a:r>
              <a:rPr lang="en-US" dirty="0" smtClean="0"/>
              <a:t>gRPC</a:t>
            </a:r>
          </a:p>
          <a:p>
            <a:pPr marR="1084580" fontAlgn="base">
              <a:buSzPts val="2800"/>
              <a:defRPr/>
            </a:pPr>
            <a:r>
              <a:rPr lang="en-US" dirty="0" smtClean="0"/>
              <a:t>gRPC </a:t>
            </a:r>
            <a:r>
              <a:rPr lang="en-US" dirty="0"/>
              <a:t>Architecture and Core </a:t>
            </a:r>
            <a:r>
              <a:rPr lang="en-US" dirty="0" smtClean="0"/>
              <a:t>Concepts</a:t>
            </a:r>
          </a:p>
          <a:p>
            <a:pPr marR="1084580" fontAlgn="base">
              <a:buSzPts val="2800"/>
              <a:defRPr/>
            </a:pPr>
            <a:r>
              <a:rPr lang="en-US" dirty="0" smtClean="0"/>
              <a:t>Benefits </a:t>
            </a:r>
            <a:r>
              <a:rPr lang="en-US" dirty="0"/>
              <a:t>of gRPC for </a:t>
            </a:r>
            <a:r>
              <a:rPr lang="en-US" dirty="0" err="1" smtClean="0"/>
              <a:t>Microservices</a:t>
            </a:r>
            <a:endParaRPr lang="en-US" dirty="0" smtClean="0"/>
          </a:p>
          <a:p>
            <a:pPr marR="1084580" fontAlgn="base">
              <a:buSzPts val="2800"/>
              <a:defRPr/>
            </a:pPr>
            <a:r>
              <a:rPr lang="en-US" dirty="0"/>
              <a:t>Gateway &amp; gRPC Integration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566" y="972139"/>
            <a:ext cx="5119013" cy="679118"/>
          </a:xfrm>
        </p:spPr>
        <p:txBody>
          <a:bodyPr>
            <a:normAutofit/>
          </a:bodyPr>
          <a:lstStyle/>
          <a:p>
            <a:r>
              <a:rPr lang="en-IN" b="1" dirty="0"/>
              <a:t>Gateway &amp; gRPC Basics</a:t>
            </a:r>
            <a:endParaRPr lang="en-IN" b="1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465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Introduction to Spring Cloud Gateway</a:t>
            </a:r>
          </a:p>
        </p:txBody>
      </p:sp>
    </p:spTree>
    <p:extLst>
      <p:ext uri="{BB962C8B-B14F-4D97-AF65-F5344CB8AC3E}">
        <p14:creationId xmlns:p14="http://schemas.microsoft.com/office/powerpoint/2010/main" val="273229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Spring Cloud Gateway is a gateway service built on Spring Framework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It </a:t>
            </a:r>
            <a:r>
              <a:rPr lang="en-US" sz="2400" dirty="0">
                <a:sym typeface="Calibri"/>
              </a:rPr>
              <a:t>acts as a reverse proxy to route client requests to backend </a:t>
            </a:r>
            <a:r>
              <a:rPr lang="en-US" sz="2400" dirty="0" err="1">
                <a:sym typeface="Calibri"/>
              </a:rPr>
              <a:t>microservices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Specifically Built for Cloud-Native API Gateway </a:t>
            </a:r>
            <a:r>
              <a:rPr lang="en-US" sz="2400" dirty="0" smtClean="0">
                <a:sym typeface="Calibri"/>
              </a:rPr>
              <a:t>Patterns.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routing, filtering, and security out of the box.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What is Spring Cloud Gateway?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Key Features of Spring Cloud Gateway</a:t>
            </a:r>
          </a:p>
        </p:txBody>
      </p:sp>
    </p:spTree>
    <p:extLst>
      <p:ext uri="{BB962C8B-B14F-4D97-AF65-F5344CB8AC3E}">
        <p14:creationId xmlns:p14="http://schemas.microsoft.com/office/powerpoint/2010/main" val="34765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Dynamic Routing</a:t>
            </a:r>
            <a:r>
              <a:rPr lang="en-US" sz="2400" dirty="0">
                <a:sym typeface="Calibri"/>
              </a:rPr>
              <a:t>: Routes incoming requests by URI, headers, etc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Filters</a:t>
            </a:r>
            <a:r>
              <a:rPr lang="en-US" sz="2400" dirty="0">
                <a:sym typeface="Calibri"/>
              </a:rPr>
              <a:t>: Modify incoming requests and responses (</a:t>
            </a:r>
            <a:r>
              <a:rPr lang="en-US" sz="2400" dirty="0" err="1">
                <a:sym typeface="Calibri"/>
              </a:rPr>
              <a:t>auth</a:t>
            </a:r>
            <a:r>
              <a:rPr lang="en-US" sz="2400" dirty="0">
                <a:sym typeface="Calibri"/>
              </a:rPr>
              <a:t>, logging</a:t>
            </a:r>
            <a:r>
              <a:rPr lang="en-US" sz="2400" dirty="0" smtClean="0">
                <a:sym typeface="Calibri"/>
              </a:rPr>
              <a:t>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Load </a:t>
            </a:r>
            <a:r>
              <a:rPr lang="en-US" sz="2400" b="1" dirty="0">
                <a:sym typeface="Calibri"/>
              </a:rPr>
              <a:t>Balancing</a:t>
            </a:r>
            <a:r>
              <a:rPr lang="en-US" sz="2400" dirty="0">
                <a:sym typeface="Calibri"/>
              </a:rPr>
              <a:t>: Integrates with service discovery tools like Eureka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Circuit </a:t>
            </a:r>
            <a:r>
              <a:rPr lang="en-US" sz="2400" b="1" dirty="0">
                <a:sym typeface="Calibri"/>
              </a:rPr>
              <a:t>Breaker</a:t>
            </a:r>
            <a:r>
              <a:rPr lang="en-US" sz="2400" dirty="0">
                <a:sym typeface="Calibri"/>
              </a:rPr>
              <a:t>: Provides fault tolerance for service failures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Rate </a:t>
            </a:r>
            <a:r>
              <a:rPr lang="en-US" sz="2400" b="1" dirty="0">
                <a:sym typeface="Calibri"/>
              </a:rPr>
              <a:t>Limiting</a:t>
            </a:r>
            <a:r>
              <a:rPr lang="en-US" sz="2400" dirty="0">
                <a:sym typeface="Calibri"/>
              </a:rPr>
              <a:t>: Controls request rates to protect backend services.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Key Features of Spring Cloud Gateway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9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Gateway-Based Microservices Architecture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34" y="1936471"/>
            <a:ext cx="10620777" cy="29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9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Benefits </a:t>
            </a:r>
            <a:r>
              <a:rPr lang="en-US" sz="5400" dirty="0" smtClean="0">
                <a:ea typeface="Roboto" panose="02000000000000000000" pitchFamily="2" charset="0"/>
                <a:cs typeface="+mn-cs"/>
              </a:rPr>
              <a:t>&amp; Use </a:t>
            </a:r>
            <a:r>
              <a:rPr lang="en-US" sz="5400" dirty="0">
                <a:ea typeface="Roboto" panose="02000000000000000000" pitchFamily="2" charset="0"/>
                <a:cs typeface="+mn-cs"/>
              </a:rPr>
              <a:t>Cases of Spring Cloud Gateway</a:t>
            </a:r>
          </a:p>
        </p:txBody>
      </p:sp>
    </p:spTree>
    <p:extLst>
      <p:ext uri="{BB962C8B-B14F-4D97-AF65-F5344CB8AC3E}">
        <p14:creationId xmlns:p14="http://schemas.microsoft.com/office/powerpoint/2010/main" val="224936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Centralized entry point for </a:t>
            </a:r>
            <a:r>
              <a:rPr lang="en-US" sz="2400" dirty="0" err="1">
                <a:sym typeface="Calibri"/>
              </a:rPr>
              <a:t>microservices</a:t>
            </a:r>
            <a:r>
              <a:rPr lang="en-US" sz="2400" dirty="0">
                <a:sym typeface="Calibri"/>
              </a:rPr>
              <a:t> APIs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Simplifies </a:t>
            </a:r>
            <a:r>
              <a:rPr lang="en-US" sz="2400" dirty="0">
                <a:sym typeface="Calibri"/>
              </a:rPr>
              <a:t>security management (e.g., OAuth2 integration</a:t>
            </a:r>
            <a:r>
              <a:rPr lang="en-US" sz="2400" dirty="0" smtClean="0">
                <a:sym typeface="Calibri"/>
              </a:rPr>
              <a:t>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Improves </a:t>
            </a:r>
            <a:r>
              <a:rPr lang="en-US" sz="2400" dirty="0">
                <a:sym typeface="Calibri"/>
              </a:rPr>
              <a:t>monitoring and logging of API calls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Enables </a:t>
            </a:r>
            <a:r>
              <a:rPr lang="en-US" sz="2400" dirty="0">
                <a:sym typeface="Calibri"/>
              </a:rPr>
              <a:t>request transformation and validation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Ideal </a:t>
            </a:r>
            <a:r>
              <a:rPr lang="en-US" sz="2400" dirty="0">
                <a:sym typeface="Calibri"/>
              </a:rPr>
              <a:t>for cloud-native architectures needing flexible routing.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Benefits &amp; Use Cases of Spring Cloud Gateway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97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Introduction to gRPC</a:t>
            </a:r>
          </a:p>
        </p:txBody>
      </p:sp>
    </p:spTree>
    <p:extLst>
      <p:ext uri="{BB962C8B-B14F-4D97-AF65-F5344CB8AC3E}">
        <p14:creationId xmlns:p14="http://schemas.microsoft.com/office/powerpoint/2010/main" val="172858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gRPC is a high-performance RPC framework by Google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Uses </a:t>
            </a:r>
            <a:r>
              <a:rPr lang="en-US" sz="2400" dirty="0">
                <a:sym typeface="Calibri"/>
              </a:rPr>
              <a:t>HTTP/2 for multiplexing and streaming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Uses </a:t>
            </a:r>
            <a:r>
              <a:rPr lang="en-US" sz="2400" dirty="0">
                <a:sym typeface="Calibri"/>
              </a:rPr>
              <a:t>Protocol Buffers for fast serialization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Designed </a:t>
            </a:r>
            <a:r>
              <a:rPr lang="en-US" sz="2400" dirty="0">
                <a:sym typeface="Calibri"/>
              </a:rPr>
              <a:t>for low-latency, scalable </a:t>
            </a:r>
            <a:r>
              <a:rPr lang="en-US" sz="2400" dirty="0" err="1">
                <a:sym typeface="Calibri"/>
              </a:rPr>
              <a:t>microservices</a:t>
            </a:r>
            <a:r>
              <a:rPr lang="en-US" sz="2400" dirty="0">
                <a:sym typeface="Calibri"/>
              </a:rPr>
              <a:t> communication.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What is gRPC?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29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gRPC Communication Architecture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0" y="1946496"/>
            <a:ext cx="11987206" cy="321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6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gRPC Architecture </a:t>
            </a:r>
            <a:r>
              <a:rPr lang="en-US" sz="5400" dirty="0" smtClean="0">
                <a:ea typeface="Roboto" panose="02000000000000000000" pitchFamily="2" charset="0"/>
                <a:cs typeface="+mn-cs"/>
              </a:rPr>
              <a:t>&amp; Core </a:t>
            </a:r>
            <a:r>
              <a:rPr lang="en-US" sz="5400" dirty="0">
                <a:ea typeface="Roboto" panose="02000000000000000000" pitchFamily="2" charset="0"/>
                <a:cs typeface="+mn-cs"/>
              </a:rPr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390784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Service is defined in .proto files using Protocol </a:t>
            </a:r>
            <a:r>
              <a:rPr lang="en-US" sz="2400" dirty="0" smtClean="0">
                <a:sym typeface="Calibri"/>
              </a:rPr>
              <a:t>Buffers.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Automatically </a:t>
            </a:r>
            <a:r>
              <a:rPr lang="en-US" sz="2400" dirty="0">
                <a:sym typeface="Calibri"/>
              </a:rPr>
              <a:t>generates client and server code in multiple languages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unary and all streaming communication types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Uses </a:t>
            </a:r>
            <a:r>
              <a:rPr lang="en-US" sz="2400" dirty="0">
                <a:sym typeface="Calibri"/>
              </a:rPr>
              <a:t>HTTP/2 for efficient multiplexed connection transport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SSL/TLS, token-based authentication, and interceptors.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gRPC Architecture &amp; Concepts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11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gRPC Architecture &amp; Concepts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64" y="1612795"/>
            <a:ext cx="7271918" cy="418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0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Benefits of gRPC for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Microservices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47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Performance</a:t>
            </a:r>
            <a:r>
              <a:rPr lang="en-US" sz="2400" dirty="0">
                <a:sym typeface="Calibri"/>
              </a:rPr>
              <a:t>: Low latency and smaller payloads due to binary serialization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Cross-language</a:t>
            </a:r>
            <a:r>
              <a:rPr lang="en-US" sz="2400" dirty="0">
                <a:sym typeface="Calibri"/>
              </a:rPr>
              <a:t>: Supports many programming languages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Streaming</a:t>
            </a:r>
            <a:r>
              <a:rPr lang="en-US" sz="2400" dirty="0">
                <a:sym typeface="Calibri"/>
              </a:rPr>
              <a:t>: Enables real-time communication with streaming APIs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Strongly </a:t>
            </a:r>
            <a:r>
              <a:rPr lang="en-US" sz="2400" b="1" dirty="0">
                <a:sym typeface="Calibri"/>
              </a:rPr>
              <a:t>Typed Contracts</a:t>
            </a:r>
            <a:r>
              <a:rPr lang="en-US" sz="2400" dirty="0">
                <a:sym typeface="Calibri"/>
              </a:rPr>
              <a:t>: Proto files enforce strict API contracts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 smtClean="0">
                <a:sym typeface="Calibri"/>
              </a:rPr>
              <a:t>Easy </a:t>
            </a:r>
            <a:r>
              <a:rPr lang="en-US" sz="2400" b="1" dirty="0">
                <a:sym typeface="Calibri"/>
              </a:rPr>
              <a:t>to scale</a:t>
            </a:r>
            <a:r>
              <a:rPr lang="en-US" sz="2400" dirty="0">
                <a:sym typeface="Calibri"/>
              </a:rPr>
              <a:t>: Works well with service meshes like </a:t>
            </a:r>
            <a:r>
              <a:rPr lang="en-US" sz="2400" dirty="0" err="1">
                <a:sym typeface="Calibri"/>
              </a:rPr>
              <a:t>Istio</a:t>
            </a:r>
            <a:r>
              <a:rPr lang="en-US" sz="2400" dirty="0">
                <a:sym typeface="Calibri"/>
              </a:rPr>
              <a:t>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Benefits of gRPC for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61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Multilingual Microservices with gRPC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86" y="1520981"/>
            <a:ext cx="10086074" cy="440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6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Integrating Spring Cloud Gateway </a:t>
            </a:r>
            <a:r>
              <a:rPr lang="en-US" sz="5400" dirty="0" smtClean="0">
                <a:ea typeface="Roboto" panose="02000000000000000000" pitchFamily="2" charset="0"/>
                <a:cs typeface="+mn-cs"/>
              </a:rPr>
              <a:t>&amp; </a:t>
            </a:r>
            <a:r>
              <a:rPr lang="en-US" sz="5400" dirty="0">
                <a:ea typeface="Roboto" panose="02000000000000000000" pitchFamily="2" charset="0"/>
                <a:cs typeface="+mn-cs"/>
              </a:rPr>
              <a:t>gRPC</a:t>
            </a:r>
          </a:p>
        </p:txBody>
      </p:sp>
    </p:spTree>
    <p:extLst>
      <p:ext uri="{BB962C8B-B14F-4D97-AF65-F5344CB8AC3E}">
        <p14:creationId xmlns:p14="http://schemas.microsoft.com/office/powerpoint/2010/main" val="88445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Use Spring Cloud Gateway as external API gateway for routing and security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Use </a:t>
            </a:r>
            <a:r>
              <a:rPr lang="en-US" sz="2400" dirty="0"/>
              <a:t>gRPC internally for fast and efficient </a:t>
            </a:r>
            <a:r>
              <a:rPr lang="en-US" sz="2400" dirty="0" err="1"/>
              <a:t>microservices</a:t>
            </a:r>
            <a:r>
              <a:rPr lang="en-US" sz="2400" dirty="0"/>
              <a:t> communication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Gateway </a:t>
            </a:r>
            <a:r>
              <a:rPr lang="en-US" sz="2400" dirty="0"/>
              <a:t>handles HTTP/REST clients and routes to backend services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Backend </a:t>
            </a:r>
            <a:r>
              <a:rPr lang="en-US" sz="2400" dirty="0"/>
              <a:t>services communicate using high-performance gRPC protocol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Enables </a:t>
            </a:r>
            <a:r>
              <a:rPr lang="en-US" sz="2400" dirty="0"/>
              <a:t>a hybrid </a:t>
            </a:r>
            <a:r>
              <a:rPr lang="en-US" sz="2400" dirty="0" err="1"/>
              <a:t>microservices</a:t>
            </a:r>
            <a:r>
              <a:rPr lang="en-US" sz="2400" dirty="0"/>
              <a:t> architecture leveraging both technologies.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When to Use Spring Cloud Gateway &amp; gRPC Together?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59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Hybrid Gateway and gRPC Architecture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34" y="1810694"/>
            <a:ext cx="10446378" cy="36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2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27432</TotalTime>
  <Words>456</Words>
  <Application>Microsoft Office PowerPoint</Application>
  <PresentationFormat>Widescreen</PresentationFormat>
  <Paragraphs>61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Roboto</vt:lpstr>
      <vt:lpstr>Calibri</vt:lpstr>
      <vt:lpstr>Segoe UI</vt:lpstr>
      <vt:lpstr>Calibri Light</vt:lpstr>
      <vt:lpstr>Arial</vt:lpstr>
      <vt:lpstr>Roboto Light</vt:lpstr>
      <vt:lpstr>ScholarHat Layout</vt:lpstr>
      <vt:lpstr>Agenda</vt:lpstr>
      <vt:lpstr>Introduction to Spring Cloud Gateway</vt:lpstr>
      <vt:lpstr>PowerPoint Presentation</vt:lpstr>
      <vt:lpstr>Key Features of Spring Cloud Gateway</vt:lpstr>
      <vt:lpstr>PowerPoint Presentation</vt:lpstr>
      <vt:lpstr>PowerPoint Presentation</vt:lpstr>
      <vt:lpstr>Benefits &amp; Use Cases of Spring Cloud Gateway</vt:lpstr>
      <vt:lpstr>PowerPoint Presentation</vt:lpstr>
      <vt:lpstr>Introduction to gRPC</vt:lpstr>
      <vt:lpstr>PowerPoint Presentation</vt:lpstr>
      <vt:lpstr>PowerPoint Presentation</vt:lpstr>
      <vt:lpstr>gRPC Architecture &amp; Core Concepts</vt:lpstr>
      <vt:lpstr>PowerPoint Presentation</vt:lpstr>
      <vt:lpstr>PowerPoint Presentation</vt:lpstr>
      <vt:lpstr>Benefits of gRPC for Microservices</vt:lpstr>
      <vt:lpstr>PowerPoint Presentation</vt:lpstr>
      <vt:lpstr>PowerPoint Presentation</vt:lpstr>
      <vt:lpstr>Integrating Spring Cloud Gateway &amp; gRPC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Microsoft account</cp:lastModifiedBy>
  <cp:revision>816</cp:revision>
  <dcterms:created xsi:type="dcterms:W3CDTF">2015-04-26T09:42:00Z</dcterms:created>
  <dcterms:modified xsi:type="dcterms:W3CDTF">2025-06-03T09:04:01Z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