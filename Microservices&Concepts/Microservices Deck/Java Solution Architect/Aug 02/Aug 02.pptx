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87"/>
  </p:notesMasterIdLst>
  <p:sldIdLst>
    <p:sldId id="2147469626" r:id="rId2"/>
    <p:sldId id="256" r:id="rId3"/>
    <p:sldId id="257" r:id="rId4"/>
    <p:sldId id="258" r:id="rId5"/>
    <p:sldId id="259" r:id="rId6"/>
    <p:sldId id="2147469470" r:id="rId7"/>
    <p:sldId id="261" r:id="rId8"/>
    <p:sldId id="262" r:id="rId9"/>
    <p:sldId id="264" r:id="rId10"/>
    <p:sldId id="265" r:id="rId11"/>
    <p:sldId id="269" r:id="rId12"/>
    <p:sldId id="272" r:id="rId13"/>
    <p:sldId id="273" r:id="rId14"/>
    <p:sldId id="2147469567" r:id="rId15"/>
    <p:sldId id="654" r:id="rId16"/>
    <p:sldId id="2147469654" r:id="rId17"/>
    <p:sldId id="2147469627" r:id="rId18"/>
    <p:sldId id="2147469628" r:id="rId19"/>
    <p:sldId id="2147469629" r:id="rId20"/>
    <p:sldId id="2147469615" r:id="rId21"/>
    <p:sldId id="2147469704" r:id="rId22"/>
    <p:sldId id="2147469703" r:id="rId23"/>
    <p:sldId id="2147469655" r:id="rId24"/>
    <p:sldId id="2147469630" r:id="rId25"/>
    <p:sldId id="2147469656" r:id="rId26"/>
    <p:sldId id="2147469631" r:id="rId27"/>
    <p:sldId id="2147469604" r:id="rId28"/>
    <p:sldId id="2147469657" r:id="rId29"/>
    <p:sldId id="2147469648" r:id="rId30"/>
    <p:sldId id="2147469614" r:id="rId31"/>
    <p:sldId id="2147469603" r:id="rId32"/>
    <p:sldId id="2147469707" r:id="rId33"/>
    <p:sldId id="2147469708" r:id="rId34"/>
    <p:sldId id="2147469709" r:id="rId35"/>
    <p:sldId id="2147469706" r:id="rId36"/>
    <p:sldId id="2147469658" r:id="rId37"/>
    <p:sldId id="2147469649" r:id="rId38"/>
    <p:sldId id="2147469659" r:id="rId39"/>
    <p:sldId id="2147469642" r:id="rId40"/>
    <p:sldId id="2147469643" r:id="rId41"/>
    <p:sldId id="2147469660" r:id="rId42"/>
    <p:sldId id="2147469661" r:id="rId43"/>
    <p:sldId id="2147469663" r:id="rId44"/>
    <p:sldId id="2147469710" r:id="rId45"/>
    <p:sldId id="2147469711" r:id="rId46"/>
    <p:sldId id="2147469671" r:id="rId47"/>
    <p:sldId id="2147469678" r:id="rId48"/>
    <p:sldId id="2147469679" r:id="rId49"/>
    <p:sldId id="2147469680" r:id="rId50"/>
    <p:sldId id="2147469664" r:id="rId51"/>
    <p:sldId id="2147469672" r:id="rId52"/>
    <p:sldId id="2147469682" r:id="rId53"/>
    <p:sldId id="2147469683" r:id="rId54"/>
    <p:sldId id="2147469665" r:id="rId55"/>
    <p:sldId id="2147469673" r:id="rId56"/>
    <p:sldId id="2147469684" r:id="rId57"/>
    <p:sldId id="2147469685" r:id="rId58"/>
    <p:sldId id="2147469686" r:id="rId59"/>
    <p:sldId id="2147469666" r:id="rId60"/>
    <p:sldId id="2147469674" r:id="rId61"/>
    <p:sldId id="2147469687" r:id="rId62"/>
    <p:sldId id="2147469688" r:id="rId63"/>
    <p:sldId id="2147469689" r:id="rId64"/>
    <p:sldId id="2147469667" r:id="rId65"/>
    <p:sldId id="2147469675" r:id="rId66"/>
    <p:sldId id="2147469690" r:id="rId67"/>
    <p:sldId id="2147469691" r:id="rId68"/>
    <p:sldId id="2147469692" r:id="rId69"/>
    <p:sldId id="2147469693" r:id="rId70"/>
    <p:sldId id="2147469694" r:id="rId71"/>
    <p:sldId id="2147469695" r:id="rId72"/>
    <p:sldId id="2147469696" r:id="rId73"/>
    <p:sldId id="2147469668" r:id="rId74"/>
    <p:sldId id="2147469676" r:id="rId75"/>
    <p:sldId id="2147469697" r:id="rId76"/>
    <p:sldId id="2147469698" r:id="rId77"/>
    <p:sldId id="2147469699" r:id="rId78"/>
    <p:sldId id="2147469700" r:id="rId79"/>
    <p:sldId id="2147469669" r:id="rId80"/>
    <p:sldId id="2147469677" r:id="rId81"/>
    <p:sldId id="2147469701" r:id="rId82"/>
    <p:sldId id="2147469670" r:id="rId83"/>
    <p:sldId id="2147469662" r:id="rId84"/>
    <p:sldId id="2147469702" r:id="rId85"/>
    <p:sldId id="652" r:id="rId86"/>
  </p:sldIdLst>
  <p:sldSz cx="12192000" cy="6858000"/>
  <p:notesSz cx="6858000" cy="9144000"/>
  <p:embeddedFontLst>
    <p:embeddedFont>
      <p:font typeface="Roboto" panose="02000000000000000000" pitchFamily="2" charset="0"/>
      <p:regular r:id="rId88"/>
      <p:bold r:id="rId89"/>
      <p:italic r:id="rId90"/>
      <p:boldItalic r:id="rId91"/>
    </p:embeddedFont>
    <p:embeddedFont>
      <p:font typeface="Roboto Light" panose="020F0302020204030204" pitchFamily="34" charset="0"/>
      <p:regular r:id="rId92"/>
      <p:italic r:id="rId93"/>
    </p:embeddedFont>
    <p:embeddedFont>
      <p:font typeface="Segoe UI" panose="020B0502040204020203" pitchFamily="34" charset="0"/>
      <p:regular r:id="rId94"/>
      <p:bold r:id="rId95"/>
      <p:italic r:id="rId96"/>
      <p:boldItalic r:id="rId9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8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A3AD1-2D44-F747-A008-11766972D947}" v="37" dt="2025-08-03T16:05:59.623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2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font" Target="fonts/font3.fntdata"/><Relationship Id="rId95" Type="http://schemas.openxmlformats.org/officeDocument/2006/relationships/font" Target="fonts/font8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1.fntdata"/><Relationship Id="rId91" Type="http://schemas.openxmlformats.org/officeDocument/2006/relationships/font" Target="fonts/font4.fntdata"/><Relationship Id="rId96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7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0.fntdata"/><Relationship Id="rId104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6.fntdata"/><Relationship Id="rId98" Type="http://customschemas.google.com/relationships/presentationmetadata" Target="metadata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ramanan Amirthalingam" userId="4d061ca2-e95c-4cea-aac4-ded24a5cea8d" providerId="ADAL" clId="{8F3A3AD1-2D44-F747-A008-11766972D947}"/>
    <pc:docChg chg="undo custSel addSld delSld modSld sldOrd">
      <pc:chgData name="Venkataramanan Amirthalingam" userId="4d061ca2-e95c-4cea-aac4-ded24a5cea8d" providerId="ADAL" clId="{8F3A3AD1-2D44-F747-A008-11766972D947}" dt="2025-08-06T06:27:25.550" v="838" actId="20578"/>
      <pc:docMkLst>
        <pc:docMk/>
      </pc:docMkLst>
      <pc:sldChg chg="ord">
        <pc:chgData name="Venkataramanan Amirthalingam" userId="4d061ca2-e95c-4cea-aac4-ded24a5cea8d" providerId="ADAL" clId="{8F3A3AD1-2D44-F747-A008-11766972D947}" dt="2025-08-06T06:27:25.550" v="838" actId="20578"/>
        <pc:sldMkLst>
          <pc:docMk/>
          <pc:sldMk cId="0" sldId="258"/>
        </pc:sldMkLst>
      </pc:sldChg>
      <pc:sldChg chg="addSp delSp modSp mod">
        <pc:chgData name="Venkataramanan Amirthalingam" userId="4d061ca2-e95c-4cea-aac4-ded24a5cea8d" providerId="ADAL" clId="{8F3A3AD1-2D44-F747-A008-11766972D947}" dt="2025-08-03T15:14:07.565" v="400"/>
        <pc:sldMkLst>
          <pc:docMk/>
          <pc:sldMk cId="180820815" sldId="2147469603"/>
        </pc:sldMkLst>
        <pc:picChg chg="add mod">
          <ac:chgData name="Venkataramanan Amirthalingam" userId="4d061ca2-e95c-4cea-aac4-ded24a5cea8d" providerId="ADAL" clId="{8F3A3AD1-2D44-F747-A008-11766972D947}" dt="2025-08-03T15:14:07.565" v="400"/>
          <ac:picMkLst>
            <pc:docMk/>
            <pc:sldMk cId="180820815" sldId="2147469603"/>
            <ac:picMk id="6" creationId="{BB2F4641-CC94-CF10-FB61-E88BE92C424B}"/>
          </ac:picMkLst>
        </pc:picChg>
      </pc:sldChg>
      <pc:sldChg chg="addSp delSp modSp mod">
        <pc:chgData name="Venkataramanan Amirthalingam" userId="4d061ca2-e95c-4cea-aac4-ded24a5cea8d" providerId="ADAL" clId="{8F3A3AD1-2D44-F747-A008-11766972D947}" dt="2025-08-02T15:58:11.960" v="71" actId="207"/>
        <pc:sldMkLst>
          <pc:docMk/>
          <pc:sldMk cId="1908880859" sldId="2147469615"/>
        </pc:sldMkLst>
        <pc:spChg chg="mod">
          <ac:chgData name="Venkataramanan Amirthalingam" userId="4d061ca2-e95c-4cea-aac4-ded24a5cea8d" providerId="ADAL" clId="{8F3A3AD1-2D44-F747-A008-11766972D947}" dt="2025-08-02T15:57:05.129" v="3" actId="27636"/>
          <ac:spMkLst>
            <pc:docMk/>
            <pc:sldMk cId="1908880859" sldId="2147469615"/>
            <ac:spMk id="2" creationId="{C612D4E4-63F9-4612-B82A-E23B4A811666}"/>
          </ac:spMkLst>
        </pc:spChg>
        <pc:spChg chg="add mod">
          <ac:chgData name="Venkataramanan Amirthalingam" userId="4d061ca2-e95c-4cea-aac4-ded24a5cea8d" providerId="ADAL" clId="{8F3A3AD1-2D44-F747-A008-11766972D947}" dt="2025-08-02T15:57:26.117" v="40" actId="20577"/>
          <ac:spMkLst>
            <pc:docMk/>
            <pc:sldMk cId="1908880859" sldId="2147469615"/>
            <ac:spMk id="4" creationId="{AFB0DD9A-E6B9-FF7C-FF4E-27EDAE005486}"/>
          </ac:spMkLst>
        </pc:spChg>
        <pc:spChg chg="add mod">
          <ac:chgData name="Venkataramanan Amirthalingam" userId="4d061ca2-e95c-4cea-aac4-ded24a5cea8d" providerId="ADAL" clId="{8F3A3AD1-2D44-F747-A008-11766972D947}" dt="2025-08-02T15:57:40.221" v="57" actId="20577"/>
          <ac:spMkLst>
            <pc:docMk/>
            <pc:sldMk cId="1908880859" sldId="2147469615"/>
            <ac:spMk id="5" creationId="{4F5D361F-F0DC-79B5-872B-B1E844B7E16B}"/>
          </ac:spMkLst>
        </pc:spChg>
        <pc:spChg chg="add mod">
          <ac:chgData name="Venkataramanan Amirthalingam" userId="4d061ca2-e95c-4cea-aac4-ded24a5cea8d" providerId="ADAL" clId="{8F3A3AD1-2D44-F747-A008-11766972D947}" dt="2025-08-02T15:58:11.960" v="71" actId="207"/>
          <ac:spMkLst>
            <pc:docMk/>
            <pc:sldMk cId="1908880859" sldId="2147469615"/>
            <ac:spMk id="8" creationId="{9FCCE661-77CE-A291-91EE-061B1AE87167}"/>
          </ac:spMkLst>
        </pc:spChg>
        <pc:cxnChg chg="add mod">
          <ac:chgData name="Venkataramanan Amirthalingam" userId="4d061ca2-e95c-4cea-aac4-ded24a5cea8d" providerId="ADAL" clId="{8F3A3AD1-2D44-F747-A008-11766972D947}" dt="2025-08-02T15:57:56.703" v="63" actId="1076"/>
          <ac:cxnSpMkLst>
            <pc:docMk/>
            <pc:sldMk cId="1908880859" sldId="2147469615"/>
            <ac:cxnSpMk id="7" creationId="{FF7CCBDA-0959-29A8-9B35-0C2B68F67816}"/>
          </ac:cxnSpMkLst>
        </pc:cxnChg>
      </pc:sldChg>
      <pc:sldChg chg="modSp mod">
        <pc:chgData name="Venkataramanan Amirthalingam" userId="4d061ca2-e95c-4cea-aac4-ded24a5cea8d" providerId="ADAL" clId="{8F3A3AD1-2D44-F747-A008-11766972D947}" dt="2025-08-03T16:25:55.048" v="812" actId="1076"/>
        <pc:sldMkLst>
          <pc:docMk/>
          <pc:sldMk cId="445880236" sldId="2147469678"/>
        </pc:sldMkLst>
        <pc:spChg chg="mod">
          <ac:chgData name="Venkataramanan Amirthalingam" userId="4d061ca2-e95c-4cea-aac4-ded24a5cea8d" providerId="ADAL" clId="{8F3A3AD1-2D44-F747-A008-11766972D947}" dt="2025-08-03T16:25:55.048" v="812" actId="1076"/>
          <ac:spMkLst>
            <pc:docMk/>
            <pc:sldMk cId="445880236" sldId="2147469678"/>
            <ac:spMk id="13" creationId="{A31593FB-B6CA-69AF-6BDD-0344414ABF61}"/>
          </ac:spMkLst>
        </pc:spChg>
      </pc:sldChg>
      <pc:sldChg chg="add">
        <pc:chgData name="Venkataramanan Amirthalingam" userId="4d061ca2-e95c-4cea-aac4-ded24a5cea8d" providerId="ADAL" clId="{8F3A3AD1-2D44-F747-A008-11766972D947}" dt="2025-08-02T15:56:57.205" v="0" actId="2890"/>
        <pc:sldMkLst>
          <pc:docMk/>
          <pc:sldMk cId="3438613651" sldId="2147469703"/>
        </pc:sldMkLst>
      </pc:sldChg>
      <pc:sldChg chg="addSp delSp modSp add mod">
        <pc:chgData name="Venkataramanan Amirthalingam" userId="4d061ca2-e95c-4cea-aac4-ded24a5cea8d" providerId="ADAL" clId="{8F3A3AD1-2D44-F747-A008-11766972D947}" dt="2025-08-02T16:02:58.045" v="390" actId="20577"/>
        <pc:sldMkLst>
          <pc:docMk/>
          <pc:sldMk cId="3129225450" sldId="2147469704"/>
        </pc:sldMkLst>
        <pc:spChg chg="add mod">
          <ac:chgData name="Venkataramanan Amirthalingam" userId="4d061ca2-e95c-4cea-aac4-ded24a5cea8d" providerId="ADAL" clId="{8F3A3AD1-2D44-F747-A008-11766972D947}" dt="2025-08-02T16:02:58.045" v="390" actId="20577"/>
          <ac:spMkLst>
            <pc:docMk/>
            <pc:sldMk cId="3129225450" sldId="2147469704"/>
            <ac:spMk id="10" creationId="{78F6E6B4-110D-ACDD-894C-7F15394CD186}"/>
          </ac:spMkLst>
        </pc:spChg>
      </pc:sldChg>
      <pc:sldChg chg="addSp delSp modSp add del mod setBg">
        <pc:chgData name="Venkataramanan Amirthalingam" userId="4d061ca2-e95c-4cea-aac4-ded24a5cea8d" providerId="ADAL" clId="{8F3A3AD1-2D44-F747-A008-11766972D947}" dt="2025-08-03T15:14:10.904" v="401" actId="2696"/>
        <pc:sldMkLst>
          <pc:docMk/>
          <pc:sldMk cId="1166651125" sldId="2147469705"/>
        </pc:sldMkLst>
      </pc:sldChg>
      <pc:sldChg chg="add">
        <pc:chgData name="Venkataramanan Amirthalingam" userId="4d061ca2-e95c-4cea-aac4-ded24a5cea8d" providerId="ADAL" clId="{8F3A3AD1-2D44-F747-A008-11766972D947}" dt="2025-08-03T15:13:59.023" v="396" actId="2890"/>
        <pc:sldMkLst>
          <pc:docMk/>
          <pc:sldMk cId="3537242889" sldId="2147469706"/>
        </pc:sldMkLst>
      </pc:sldChg>
      <pc:sldChg chg="addSp delSp modSp add mod">
        <pc:chgData name="Venkataramanan Amirthalingam" userId="4d061ca2-e95c-4cea-aac4-ded24a5cea8d" providerId="ADAL" clId="{8F3A3AD1-2D44-F747-A008-11766972D947}" dt="2025-08-03T15:32:31.751" v="624" actId="14100"/>
        <pc:sldMkLst>
          <pc:docMk/>
          <pc:sldMk cId="2267509669" sldId="2147469707"/>
        </pc:sldMkLst>
        <pc:spChg chg="add mod">
          <ac:chgData name="Venkataramanan Amirthalingam" userId="4d061ca2-e95c-4cea-aac4-ded24a5cea8d" providerId="ADAL" clId="{8F3A3AD1-2D44-F747-A008-11766972D947}" dt="2025-08-03T15:28:04.195" v="521" actId="20577"/>
          <ac:spMkLst>
            <pc:docMk/>
            <pc:sldMk cId="2267509669" sldId="2147469707"/>
            <ac:spMk id="2" creationId="{340FB4FE-C48F-70D0-E78D-FCFC75B04CE5}"/>
          </ac:spMkLst>
        </pc:spChg>
        <pc:spChg chg="add mod">
          <ac:chgData name="Venkataramanan Amirthalingam" userId="4d061ca2-e95c-4cea-aac4-ded24a5cea8d" providerId="ADAL" clId="{8F3A3AD1-2D44-F747-A008-11766972D947}" dt="2025-08-03T15:30:22.283" v="558" actId="1076"/>
          <ac:spMkLst>
            <pc:docMk/>
            <pc:sldMk cId="2267509669" sldId="2147469707"/>
            <ac:spMk id="4" creationId="{E8AA54B1-2660-6F55-AE1E-318D207B7911}"/>
          </ac:spMkLst>
        </pc:spChg>
        <pc:spChg chg="add mod">
          <ac:chgData name="Venkataramanan Amirthalingam" userId="4d061ca2-e95c-4cea-aac4-ded24a5cea8d" providerId="ADAL" clId="{8F3A3AD1-2D44-F747-A008-11766972D947}" dt="2025-08-03T15:31:01.902" v="582" actId="14100"/>
          <ac:spMkLst>
            <pc:docMk/>
            <pc:sldMk cId="2267509669" sldId="2147469707"/>
            <ac:spMk id="16" creationId="{F29B3D52-09AD-EAA5-A58D-8C005C4F6AD1}"/>
          </ac:spMkLst>
        </pc:spChg>
        <pc:spChg chg="add mod">
          <ac:chgData name="Venkataramanan Amirthalingam" userId="4d061ca2-e95c-4cea-aac4-ded24a5cea8d" providerId="ADAL" clId="{8F3A3AD1-2D44-F747-A008-11766972D947}" dt="2025-08-03T15:31:49.090" v="623" actId="404"/>
          <ac:spMkLst>
            <pc:docMk/>
            <pc:sldMk cId="2267509669" sldId="2147469707"/>
            <ac:spMk id="19" creationId="{D7B134A6-BA42-7015-BB24-58D7D6D74857}"/>
          </ac:spMkLst>
        </pc:spChg>
        <pc:picChg chg="add mod">
          <ac:chgData name="Venkataramanan Amirthalingam" userId="4d061ca2-e95c-4cea-aac4-ded24a5cea8d" providerId="ADAL" clId="{8F3A3AD1-2D44-F747-A008-11766972D947}" dt="2025-08-03T15:30:16.502" v="555" actId="1076"/>
          <ac:picMkLst>
            <pc:docMk/>
            <pc:sldMk cId="2267509669" sldId="2147469707"/>
            <ac:picMk id="5" creationId="{977A92FC-5063-3728-A479-79C810102D85}"/>
          </ac:picMkLst>
        </pc:picChg>
        <pc:picChg chg="add mod">
          <ac:chgData name="Venkataramanan Amirthalingam" userId="4d061ca2-e95c-4cea-aac4-ded24a5cea8d" providerId="ADAL" clId="{8F3A3AD1-2D44-F747-A008-11766972D947}" dt="2025-08-03T15:30:18.748" v="557" actId="1076"/>
          <ac:picMkLst>
            <pc:docMk/>
            <pc:sldMk cId="2267509669" sldId="2147469707"/>
            <ac:picMk id="7" creationId="{C1F494D7-FB44-FEB1-7BB0-968E183E4A89}"/>
          </ac:picMkLst>
        </pc:picChg>
        <pc:picChg chg="add mod">
          <ac:chgData name="Venkataramanan Amirthalingam" userId="4d061ca2-e95c-4cea-aac4-ded24a5cea8d" providerId="ADAL" clId="{8F3A3AD1-2D44-F747-A008-11766972D947}" dt="2025-08-03T15:30:13.462" v="553" actId="14100"/>
          <ac:picMkLst>
            <pc:docMk/>
            <pc:sldMk cId="2267509669" sldId="2147469707"/>
            <ac:picMk id="1026" creationId="{06388217-ECC1-136C-24C8-02035E7F2C58}"/>
          </ac:picMkLst>
        </pc:picChg>
        <pc:cxnChg chg="add mod">
          <ac:chgData name="Venkataramanan Amirthalingam" userId="4d061ca2-e95c-4cea-aac4-ded24a5cea8d" providerId="ADAL" clId="{8F3A3AD1-2D44-F747-A008-11766972D947}" dt="2025-08-03T15:30:35.359" v="561" actId="208"/>
          <ac:cxnSpMkLst>
            <pc:docMk/>
            <pc:sldMk cId="2267509669" sldId="2147469707"/>
            <ac:cxnSpMk id="9" creationId="{77182331-D553-CE70-A251-3AEEB3985E42}"/>
          </ac:cxnSpMkLst>
        </pc:cxnChg>
        <pc:cxnChg chg="add mod">
          <ac:chgData name="Venkataramanan Amirthalingam" userId="4d061ca2-e95c-4cea-aac4-ded24a5cea8d" providerId="ADAL" clId="{8F3A3AD1-2D44-F747-A008-11766972D947}" dt="2025-08-03T15:30:39.535" v="564" actId="14100"/>
          <ac:cxnSpMkLst>
            <pc:docMk/>
            <pc:sldMk cId="2267509669" sldId="2147469707"/>
            <ac:cxnSpMk id="10" creationId="{61C91636-4BF2-CB48-80BD-FC41C754F42E}"/>
          </ac:cxnSpMkLst>
        </pc:cxnChg>
        <pc:cxnChg chg="add mod">
          <ac:chgData name="Venkataramanan Amirthalingam" userId="4d061ca2-e95c-4cea-aac4-ded24a5cea8d" providerId="ADAL" clId="{8F3A3AD1-2D44-F747-A008-11766972D947}" dt="2025-08-03T15:30:45.783" v="567" actId="14100"/>
          <ac:cxnSpMkLst>
            <pc:docMk/>
            <pc:sldMk cId="2267509669" sldId="2147469707"/>
            <ac:cxnSpMk id="13" creationId="{563594BD-832B-A4D5-4EF2-3BC77307834C}"/>
          </ac:cxnSpMkLst>
        </pc:cxnChg>
        <pc:cxnChg chg="add mod">
          <ac:chgData name="Venkataramanan Amirthalingam" userId="4d061ca2-e95c-4cea-aac4-ded24a5cea8d" providerId="ADAL" clId="{8F3A3AD1-2D44-F747-A008-11766972D947}" dt="2025-08-03T15:32:31.751" v="624" actId="14100"/>
          <ac:cxnSpMkLst>
            <pc:docMk/>
            <pc:sldMk cId="2267509669" sldId="2147469707"/>
            <ac:cxnSpMk id="18" creationId="{F4BD2227-C94D-22D7-559C-D5636CD7CA12}"/>
          </ac:cxnSpMkLst>
        </pc:cxnChg>
      </pc:sldChg>
      <pc:sldChg chg="addSp delSp modSp add mod">
        <pc:chgData name="Venkataramanan Amirthalingam" userId="4d061ca2-e95c-4cea-aac4-ded24a5cea8d" providerId="ADAL" clId="{8F3A3AD1-2D44-F747-A008-11766972D947}" dt="2025-08-03T15:41:14.293" v="685" actId="14100"/>
        <pc:sldMkLst>
          <pc:docMk/>
          <pc:sldMk cId="81248216" sldId="2147469708"/>
        </pc:sldMkLst>
        <pc:spChg chg="add mod">
          <ac:chgData name="Venkataramanan Amirthalingam" userId="4d061ca2-e95c-4cea-aac4-ded24a5cea8d" providerId="ADAL" clId="{8F3A3AD1-2D44-F747-A008-11766972D947}" dt="2025-08-03T15:39:39.145" v="634" actId="14100"/>
          <ac:spMkLst>
            <pc:docMk/>
            <pc:sldMk cId="81248216" sldId="2147469708"/>
            <ac:spMk id="6" creationId="{FB7FC24A-2C56-EB2E-90AE-F08C3E4C3D78}"/>
          </ac:spMkLst>
        </pc:spChg>
        <pc:spChg chg="add mod">
          <ac:chgData name="Venkataramanan Amirthalingam" userId="4d061ca2-e95c-4cea-aac4-ded24a5cea8d" providerId="ADAL" clId="{8F3A3AD1-2D44-F747-A008-11766972D947}" dt="2025-08-03T15:39:44.304" v="641" actId="20577"/>
          <ac:spMkLst>
            <pc:docMk/>
            <pc:sldMk cId="81248216" sldId="2147469708"/>
            <ac:spMk id="8" creationId="{7B602A15-0583-223B-9320-FDA71B209DCB}"/>
          </ac:spMkLst>
        </pc:spChg>
        <pc:spChg chg="add mod">
          <ac:chgData name="Venkataramanan Amirthalingam" userId="4d061ca2-e95c-4cea-aac4-ded24a5cea8d" providerId="ADAL" clId="{8F3A3AD1-2D44-F747-A008-11766972D947}" dt="2025-08-03T15:39:54.360" v="650" actId="1076"/>
          <ac:spMkLst>
            <pc:docMk/>
            <pc:sldMk cId="81248216" sldId="2147469708"/>
            <ac:spMk id="11" creationId="{C1E9A72F-4CFA-85E9-7982-44D99E475B3B}"/>
          </ac:spMkLst>
        </pc:spChg>
        <pc:spChg chg="add mod">
          <ac:chgData name="Venkataramanan Amirthalingam" userId="4d061ca2-e95c-4cea-aac4-ded24a5cea8d" providerId="ADAL" clId="{8F3A3AD1-2D44-F747-A008-11766972D947}" dt="2025-08-03T15:40:03.799" v="667" actId="14100"/>
          <ac:spMkLst>
            <pc:docMk/>
            <pc:sldMk cId="81248216" sldId="2147469708"/>
            <ac:spMk id="12" creationId="{44582484-2513-8217-8F94-319B8CF1E916}"/>
          </ac:spMkLst>
        </pc:spChg>
        <pc:spChg chg="add mod">
          <ac:chgData name="Venkataramanan Amirthalingam" userId="4d061ca2-e95c-4cea-aac4-ded24a5cea8d" providerId="ADAL" clId="{8F3A3AD1-2D44-F747-A008-11766972D947}" dt="2025-08-03T15:40:22.783" v="673" actId="14100"/>
          <ac:spMkLst>
            <pc:docMk/>
            <pc:sldMk cId="81248216" sldId="2147469708"/>
            <ac:spMk id="14" creationId="{B9860DB1-FD6F-95AD-0307-C1EA5120F4DB}"/>
          </ac:spMkLst>
        </pc:spChg>
        <pc:picChg chg="add mod">
          <ac:chgData name="Venkataramanan Amirthalingam" userId="4d061ca2-e95c-4cea-aac4-ded24a5cea8d" providerId="ADAL" clId="{8F3A3AD1-2D44-F747-A008-11766972D947}" dt="2025-08-03T15:40:37.967" v="677" actId="1076"/>
          <ac:picMkLst>
            <pc:docMk/>
            <pc:sldMk cId="81248216" sldId="2147469708"/>
            <ac:picMk id="15" creationId="{2442048F-8D36-C9D2-8A95-164D8961DBC9}"/>
          </ac:picMkLst>
        </pc:picChg>
        <pc:cxnChg chg="add mod">
          <ac:chgData name="Venkataramanan Amirthalingam" userId="4d061ca2-e95c-4cea-aac4-ded24a5cea8d" providerId="ADAL" clId="{8F3A3AD1-2D44-F747-A008-11766972D947}" dt="2025-08-03T15:40:48.526" v="679" actId="208"/>
          <ac:cxnSpMkLst>
            <pc:docMk/>
            <pc:sldMk cId="81248216" sldId="2147469708"/>
            <ac:cxnSpMk id="20" creationId="{57FEFB7C-D2A5-662F-69AF-1905AE2B811C}"/>
          </ac:cxnSpMkLst>
        </pc:cxnChg>
        <pc:cxnChg chg="add mod">
          <ac:chgData name="Venkataramanan Amirthalingam" userId="4d061ca2-e95c-4cea-aac4-ded24a5cea8d" providerId="ADAL" clId="{8F3A3AD1-2D44-F747-A008-11766972D947}" dt="2025-08-03T15:41:14.293" v="685" actId="14100"/>
          <ac:cxnSpMkLst>
            <pc:docMk/>
            <pc:sldMk cId="81248216" sldId="2147469708"/>
            <ac:cxnSpMk id="22" creationId="{F359B018-29F7-6B83-DE0D-49FFBBFB4B4B}"/>
          </ac:cxnSpMkLst>
        </pc:cxnChg>
      </pc:sldChg>
      <pc:sldChg chg="modSp add mod">
        <pc:chgData name="Venkataramanan Amirthalingam" userId="4d061ca2-e95c-4cea-aac4-ded24a5cea8d" providerId="ADAL" clId="{8F3A3AD1-2D44-F747-A008-11766972D947}" dt="2025-08-03T15:51:03.519" v="695" actId="14100"/>
        <pc:sldMkLst>
          <pc:docMk/>
          <pc:sldMk cId="374544932" sldId="2147469709"/>
        </pc:sldMkLst>
        <pc:spChg chg="mod">
          <ac:chgData name="Venkataramanan Amirthalingam" userId="4d061ca2-e95c-4cea-aac4-ded24a5cea8d" providerId="ADAL" clId="{8F3A3AD1-2D44-F747-A008-11766972D947}" dt="2025-08-03T15:51:03.519" v="695" actId="14100"/>
          <ac:spMkLst>
            <pc:docMk/>
            <pc:sldMk cId="374544932" sldId="2147469709"/>
            <ac:spMk id="14" creationId="{1D8449AE-D783-F5E0-51A7-9837E0E42F70}"/>
          </ac:spMkLst>
        </pc:spChg>
      </pc:sldChg>
      <pc:sldChg chg="modSp add mod">
        <pc:chgData name="Venkataramanan Amirthalingam" userId="4d061ca2-e95c-4cea-aac4-ded24a5cea8d" providerId="ADAL" clId="{8F3A3AD1-2D44-F747-A008-11766972D947}" dt="2025-08-03T15:56:16.451" v="716" actId="20577"/>
        <pc:sldMkLst>
          <pc:docMk/>
          <pc:sldMk cId="3095631242" sldId="2147469710"/>
        </pc:sldMkLst>
        <pc:spChg chg="mod">
          <ac:chgData name="Venkataramanan Amirthalingam" userId="4d061ca2-e95c-4cea-aac4-ded24a5cea8d" providerId="ADAL" clId="{8F3A3AD1-2D44-F747-A008-11766972D947}" dt="2025-08-03T15:56:16.451" v="716" actId="20577"/>
          <ac:spMkLst>
            <pc:docMk/>
            <pc:sldMk cId="3095631242" sldId="2147469710"/>
            <ac:spMk id="2" creationId="{B3C923F8-D999-0FD7-2DD9-9C746CB92A7D}"/>
          </ac:spMkLst>
        </pc:spChg>
      </pc:sldChg>
      <pc:sldChg chg="addSp delSp modSp add mod">
        <pc:chgData name="Venkataramanan Amirthalingam" userId="4d061ca2-e95c-4cea-aac4-ded24a5cea8d" providerId="ADAL" clId="{8F3A3AD1-2D44-F747-A008-11766972D947}" dt="2025-08-03T16:28:18.816" v="830" actId="20577"/>
        <pc:sldMkLst>
          <pc:docMk/>
          <pc:sldMk cId="6535463" sldId="2147469711"/>
        </pc:sldMkLst>
        <pc:spChg chg="add mod">
          <ac:chgData name="Venkataramanan Amirthalingam" userId="4d061ca2-e95c-4cea-aac4-ded24a5cea8d" providerId="ADAL" clId="{8F3A3AD1-2D44-F747-A008-11766972D947}" dt="2025-08-03T16:01:58.726" v="752" actId="20577"/>
          <ac:spMkLst>
            <pc:docMk/>
            <pc:sldMk cId="6535463" sldId="2147469711"/>
            <ac:spMk id="5" creationId="{BE0BA611-552E-D821-91F1-3390BB14851C}"/>
          </ac:spMkLst>
        </pc:spChg>
        <pc:spChg chg="add mod">
          <ac:chgData name="Venkataramanan Amirthalingam" userId="4d061ca2-e95c-4cea-aac4-ded24a5cea8d" providerId="ADAL" clId="{8F3A3AD1-2D44-F747-A008-11766972D947}" dt="2025-08-03T16:02:18.325" v="772" actId="20577"/>
          <ac:spMkLst>
            <pc:docMk/>
            <pc:sldMk cId="6535463" sldId="2147469711"/>
            <ac:spMk id="6" creationId="{5D03E1C8-A462-CF35-AC4E-32492DA6BA22}"/>
          </ac:spMkLst>
        </pc:spChg>
        <pc:spChg chg="add mod">
          <ac:chgData name="Venkataramanan Amirthalingam" userId="4d061ca2-e95c-4cea-aac4-ded24a5cea8d" providerId="ADAL" clId="{8F3A3AD1-2D44-F747-A008-11766972D947}" dt="2025-08-03T16:02:28.557" v="774" actId="1076"/>
          <ac:spMkLst>
            <pc:docMk/>
            <pc:sldMk cId="6535463" sldId="2147469711"/>
            <ac:spMk id="7" creationId="{BA21A295-7AD6-2BF0-782F-F910B89DE9C6}"/>
          </ac:spMkLst>
        </pc:spChg>
        <pc:spChg chg="add mod">
          <ac:chgData name="Venkataramanan Amirthalingam" userId="4d061ca2-e95c-4cea-aac4-ded24a5cea8d" providerId="ADAL" clId="{8F3A3AD1-2D44-F747-A008-11766972D947}" dt="2025-08-03T16:02:35.587" v="779" actId="20577"/>
          <ac:spMkLst>
            <pc:docMk/>
            <pc:sldMk cId="6535463" sldId="2147469711"/>
            <ac:spMk id="8" creationId="{1E3095BA-05CC-B9CE-2D3E-8C696654277E}"/>
          </ac:spMkLst>
        </pc:spChg>
        <pc:spChg chg="add mod">
          <ac:chgData name="Venkataramanan Amirthalingam" userId="4d061ca2-e95c-4cea-aac4-ded24a5cea8d" providerId="ADAL" clId="{8F3A3AD1-2D44-F747-A008-11766972D947}" dt="2025-08-03T16:02:42.741" v="781" actId="1076"/>
          <ac:spMkLst>
            <pc:docMk/>
            <pc:sldMk cId="6535463" sldId="2147469711"/>
            <ac:spMk id="9" creationId="{53DE3907-0744-190F-D92C-31243BD28ECB}"/>
          </ac:spMkLst>
        </pc:spChg>
        <pc:spChg chg="add mod">
          <ac:chgData name="Venkataramanan Amirthalingam" userId="4d061ca2-e95c-4cea-aac4-ded24a5cea8d" providerId="ADAL" clId="{8F3A3AD1-2D44-F747-A008-11766972D947}" dt="2025-08-03T16:02:44.649" v="784" actId="20577"/>
          <ac:spMkLst>
            <pc:docMk/>
            <pc:sldMk cId="6535463" sldId="2147469711"/>
            <ac:spMk id="10" creationId="{6F3C2D9D-BDE9-389C-00E8-3A2F83B961E0}"/>
          </ac:spMkLst>
        </pc:spChg>
        <pc:spChg chg="add mod">
          <ac:chgData name="Venkataramanan Amirthalingam" userId="4d061ca2-e95c-4cea-aac4-ded24a5cea8d" providerId="ADAL" clId="{8F3A3AD1-2D44-F747-A008-11766972D947}" dt="2025-08-03T16:02:50.464" v="786" actId="1076"/>
          <ac:spMkLst>
            <pc:docMk/>
            <pc:sldMk cId="6535463" sldId="2147469711"/>
            <ac:spMk id="11" creationId="{6A052A06-E5C5-7497-8821-0516242EEACF}"/>
          </ac:spMkLst>
        </pc:spChg>
        <pc:spChg chg="add mod">
          <ac:chgData name="Venkataramanan Amirthalingam" userId="4d061ca2-e95c-4cea-aac4-ded24a5cea8d" providerId="ADAL" clId="{8F3A3AD1-2D44-F747-A008-11766972D947}" dt="2025-08-03T16:02:52.359" v="790" actId="20577"/>
          <ac:spMkLst>
            <pc:docMk/>
            <pc:sldMk cId="6535463" sldId="2147469711"/>
            <ac:spMk id="12" creationId="{9E2E68DE-F120-5736-71FF-9F8590EFFF29}"/>
          </ac:spMkLst>
        </pc:spChg>
        <pc:spChg chg="add mod">
          <ac:chgData name="Venkataramanan Amirthalingam" userId="4d061ca2-e95c-4cea-aac4-ded24a5cea8d" providerId="ADAL" clId="{8F3A3AD1-2D44-F747-A008-11766972D947}" dt="2025-08-03T16:05:47.951" v="799" actId="14100"/>
          <ac:spMkLst>
            <pc:docMk/>
            <pc:sldMk cId="6535463" sldId="2147469711"/>
            <ac:spMk id="13" creationId="{CF247623-6003-463A-7005-0CBBAC6C1ED0}"/>
          </ac:spMkLst>
        </pc:spChg>
        <pc:spChg chg="add mod">
          <ac:chgData name="Venkataramanan Amirthalingam" userId="4d061ca2-e95c-4cea-aac4-ded24a5cea8d" providerId="ADAL" clId="{8F3A3AD1-2D44-F747-A008-11766972D947}" dt="2025-08-03T16:28:18.816" v="830" actId="20577"/>
          <ac:spMkLst>
            <pc:docMk/>
            <pc:sldMk cId="6535463" sldId="2147469711"/>
            <ac:spMk id="14" creationId="{80775199-8596-8CE5-B8F4-482DE45289C4}"/>
          </ac:spMkLst>
        </pc:spChg>
        <pc:spChg chg="add mod">
          <ac:chgData name="Venkataramanan Amirthalingam" userId="4d061ca2-e95c-4cea-aac4-ded24a5cea8d" providerId="ADAL" clId="{8F3A3AD1-2D44-F747-A008-11766972D947}" dt="2025-08-03T16:06:06.159" v="811" actId="1076"/>
          <ac:spMkLst>
            <pc:docMk/>
            <pc:sldMk cId="6535463" sldId="2147469711"/>
            <ac:spMk id="15" creationId="{4B0E2877-CE29-A64B-8C87-C1FAAD147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416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zure.microsoft.com/en-in/services/security-center/" TargetMode="External"/><Relationship Id="rId3" Type="http://schemas.openxmlformats.org/officeDocument/2006/relationships/hyperlink" Target="https://azure.microsoft.com/en-in/services/monitor/" TargetMode="External"/><Relationship Id="rId7" Type="http://schemas.openxmlformats.org/officeDocument/2006/relationships/hyperlink" Target="https://azure.microsoft.com/en-in/services/blueprint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microsoft.com/en-in/azure/chef/" TargetMode="External"/><Relationship Id="rId5" Type="http://schemas.openxmlformats.org/officeDocument/2006/relationships/hyperlink" Target="https://docs.microsoft.com/en-in/azure/ansible/" TargetMode="External"/><Relationship Id="rId4" Type="http://schemas.openxmlformats.org/officeDocument/2006/relationships/hyperlink" Target="https://azure.microsoft.com/en-in/services/automation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full stack monitoring, get actionable alerts and gain insights from logs and telemetry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Monitor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Manage your cloud environment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Automation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and tools such as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Ansible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Chef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Puppet.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provisioned infrastructure and applications in compliance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Blueprints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or Chef Automate. Used with </a:t>
            </a:r>
            <a:r>
              <a:rPr lang="en-US" sz="1200" b="0" i="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Security Center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you’ll limit threat exposure as well as find and remediate vulnerabilities quickly.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organizations want their data on their server so they can choose the Azure DevOps Server. </a:t>
            </a:r>
            <a:endParaRPr/>
          </a:p>
        </p:txBody>
      </p:sp>
      <p:sp>
        <p:nvSpPr>
          <p:cNvPr id="255" name="Google Shape;25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 - 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Access License</a:t>
            </a:r>
            <a:endParaRPr/>
          </a:p>
        </p:txBody>
      </p:sp>
      <p:sp>
        <p:nvSpPr>
          <p:cNvPr id="277" name="Google Shape;27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32821" y="432704"/>
            <a:ext cx="6285356" cy="5992591"/>
          </a:xfrm>
        </p:spPr>
        <p:txBody>
          <a:bodyPr>
            <a:noAutofit/>
          </a:bodyPr>
          <a:lstStyle/>
          <a:p>
            <a:pPr marR="1084580" fontAlgn="base">
              <a:buSzPts val="2800"/>
              <a:defRPr/>
            </a:pPr>
            <a:r>
              <a:rPr lang="en-US" sz="1700" dirty="0"/>
              <a:t>Apache Maven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Redis as caching layer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Spring Security Basics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JWT Authentication &amp; Authorization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OAuth2 Flows And Roles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OpenID Connect With Identity Providers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Security Best Practices In Microservices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Dockerize Spring Boot applications 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Docker Compose for multi-container apps 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Kubernetes basics (pods, services, deployments) 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Kubernetes Cluster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Helm, ConfigMaps, Secrets 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Load balancing, health checks 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Deployment Pattern</a:t>
            </a:r>
          </a:p>
          <a:p>
            <a:pPr marR="1084580" fontAlgn="base">
              <a:buSzPts val="2800"/>
              <a:defRPr/>
            </a:pPr>
            <a:r>
              <a:rPr lang="en-US" sz="1700" dirty="0"/>
              <a:t>Logging &amp; monitoring in Kubernetes </a:t>
            </a:r>
          </a:p>
          <a:p>
            <a:pPr marR="1084580" fontAlgn="base">
              <a:buSzPts val="2800"/>
              <a:defRPr/>
            </a:pPr>
            <a:endParaRPr lang="en-US" sz="17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465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Tx/>
              <a:buSzPts val="2800"/>
              <a:buFont typeface="Arial"/>
              <a:buChar char="•"/>
            </a:pPr>
            <a:r>
              <a:rPr lang="en-IN" dirty="0"/>
              <a:t>What is Apache Maven?</a:t>
            </a:r>
          </a:p>
          <a:p>
            <a:pPr lvl="0">
              <a:spcBef>
                <a:spcPts val="0"/>
              </a:spcBef>
              <a:buClrTx/>
              <a:buSzPts val="2800"/>
              <a:buFont typeface="Arial"/>
              <a:buChar char="•"/>
            </a:pPr>
            <a:r>
              <a:rPr lang="en-GB" dirty="0"/>
              <a:t>Why do we need Apache Maven?</a:t>
            </a:r>
          </a:p>
          <a:p>
            <a:pPr lvl="0">
              <a:buClrTx/>
              <a:buSzPts val="2800"/>
              <a:buFont typeface="Arial"/>
              <a:buChar char="•"/>
            </a:pPr>
            <a:r>
              <a:rPr lang="en-GB" dirty="0"/>
              <a:t>How does Apache Maven work?</a:t>
            </a:r>
          </a:p>
          <a:p>
            <a:pPr lvl="0">
              <a:buClrTx/>
              <a:buSzPts val="2800"/>
              <a:buFont typeface="Arial"/>
              <a:buChar char="•"/>
            </a:pPr>
            <a:r>
              <a:rPr lang="en-GB" dirty="0"/>
              <a:t>What are Maven build lifecycle phases?</a:t>
            </a:r>
          </a:p>
          <a:p>
            <a:pPr lvl="0">
              <a:buClrTx/>
              <a:buSzPts val="2800"/>
              <a:buFont typeface="Arial"/>
              <a:buChar char="•"/>
            </a:pPr>
            <a:r>
              <a:rPr lang="en-GB" dirty="0"/>
              <a:t>What is a POM file in Maven?</a:t>
            </a:r>
          </a:p>
          <a:p>
            <a:pPr lvl="0">
              <a:buClrTx/>
              <a:buSzPts val="2800"/>
              <a:buFont typeface="Arial"/>
              <a:buChar char="•"/>
            </a:pPr>
            <a:r>
              <a:rPr lang="en-GB" dirty="0"/>
              <a:t>What are the benefits of using Maven?</a:t>
            </a:r>
          </a:p>
          <a:p>
            <a:pPr lvl="0">
              <a:buClrTx/>
              <a:buSzPts val="2800"/>
              <a:buFont typeface="Arial"/>
              <a:buChar char="•"/>
            </a:pPr>
            <a:r>
              <a:rPr lang="en-GB" dirty="0"/>
              <a:t>What tools or plugins does Maven support?</a:t>
            </a:r>
          </a:p>
        </p:txBody>
      </p:sp>
      <p:sp>
        <p:nvSpPr>
          <p:cNvPr id="114" name="Google Shape;114;p1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b="1" dirty="0"/>
              <a:t>Apache Maven</a:t>
            </a:r>
            <a:endParaRPr lang="en-US" dirty="0"/>
          </a:p>
        </p:txBody>
      </p:sp>
      <p:sp>
        <p:nvSpPr>
          <p:cNvPr id="112" name="Google Shape;112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1"/>
              </a:buClr>
              <a:buSzPts val="4400"/>
            </a:pPr>
            <a:r>
              <a:rPr lang="en-IN" dirty="0"/>
              <a:t>Apache Maven 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b="1" dirty="0"/>
              <a:t>What is Apache Maven?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endParaRPr dirty="0"/>
          </a:p>
        </p:txBody>
      </p:sp>
      <p:sp>
        <p:nvSpPr>
          <p:cNvPr id="120" name="Google Shape;120;p2"/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11122056" cy="481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spcBef>
                <a:spcPts val="0"/>
              </a:spcBef>
              <a:buClrTx/>
              <a:buSzPts val="2800"/>
            </a:pPr>
            <a:endParaRPr lang="en-GB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00" dirty="0">
                <a:solidFill>
                  <a:schemeClr val="bg1"/>
                </a:solidFill>
                <a:latin typeface="+mn-lt"/>
              </a:rPr>
              <a:t>A </a:t>
            </a:r>
            <a:r>
              <a:rPr lang="en-US" altLang="en-US" sz="2600" b="1" dirty="0">
                <a:solidFill>
                  <a:schemeClr val="bg1"/>
                </a:solidFill>
                <a:latin typeface="+mn-lt"/>
              </a:rPr>
              <a:t>build automation</a:t>
            </a:r>
            <a:r>
              <a:rPr lang="en-US" altLang="en-US" sz="2600" dirty="0">
                <a:solidFill>
                  <a:schemeClr val="bg1"/>
                </a:solidFill>
                <a:latin typeface="+mn-lt"/>
              </a:rPr>
              <a:t> and </a:t>
            </a:r>
            <a:r>
              <a:rPr lang="en-US" altLang="en-US" sz="2600" b="1" dirty="0">
                <a:solidFill>
                  <a:schemeClr val="bg1"/>
                </a:solidFill>
                <a:latin typeface="+mn-lt"/>
              </a:rPr>
              <a:t>project management</a:t>
            </a:r>
            <a:r>
              <a:rPr lang="en-US" altLang="en-US" sz="2600" dirty="0">
                <a:solidFill>
                  <a:schemeClr val="bg1"/>
                </a:solidFill>
                <a:latin typeface="+mn-lt"/>
              </a:rPr>
              <a:t> tool used mainly for Java projects.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600" dirty="0">
              <a:solidFill>
                <a:schemeClr val="bg1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00" dirty="0">
                <a:solidFill>
                  <a:schemeClr val="bg1"/>
                </a:solidFill>
                <a:latin typeface="+mn-lt"/>
              </a:rPr>
              <a:t>Manages project builds, documentation, and reporting from a single configuration (pom.xml).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600" dirty="0">
              <a:solidFill>
                <a:schemeClr val="bg1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600" dirty="0">
                <a:solidFill>
                  <a:schemeClr val="bg1"/>
                </a:solidFill>
                <a:latin typeface="+mn-lt"/>
              </a:rPr>
              <a:t>Developed by Apache Software Foundation.</a:t>
            </a:r>
          </a:p>
          <a:p>
            <a:pPr marL="0" lvl="0" indent="0" algn="just">
              <a:spcBef>
                <a:spcPts val="0"/>
              </a:spcBef>
              <a:buClrTx/>
              <a:buSzPts val="2800"/>
              <a:buNone/>
            </a:pP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GB" dirty="0"/>
              <a:t>Why Do We Need Apache Maven?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7F52C2-D057-1675-E16D-D9359089ECF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0125" y="1585463"/>
            <a:ext cx="1162789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Eliminates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manual build scripting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(like Ant).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Handles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dependency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Standardizes project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Integrates easily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CI/CD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like Jenkins and GitLab.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DevOps Lifecycle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501846" y="3535142"/>
            <a:ext cx="1594792" cy="74331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 Delivery</a:t>
            </a:r>
            <a:endParaRPr dirty="0"/>
          </a:p>
        </p:txBody>
      </p:sp>
      <p:pic>
        <p:nvPicPr>
          <p:cNvPr id="3" name="Picture 2" descr="A diagram of a life cycle&#10;&#10;AI-generated content may be incorrect.">
            <a:extLst>
              <a:ext uri="{FF2B5EF4-FFF2-40B4-BE49-F238E27FC236}">
                <a16:creationId xmlns:a16="http://schemas.microsoft.com/office/drawing/2014/main" id="{DF8ABBCA-5970-5593-6673-80BC55DAA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40" y="1337482"/>
            <a:ext cx="8268159" cy="4722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0ED0DE-7D3E-CF57-5558-1B5E3AA1D33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How Maven Works?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5F7BD1-4F5C-79C0-7E40-0302709BA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96" y="1108501"/>
            <a:ext cx="1037032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How Does Apache Maven Work?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Uses pom.xml (Project Object Model) file for configuration.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Downloads required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dependencies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from a central repository.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Executes tasks based on defined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build phases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(like compile, test, package).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39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Benefits &amp; Plugins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DF6028-6630-34CD-65A1-5D5CF76BC6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93294" y="1013863"/>
            <a:ext cx="10725165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What Are the Benefits of Using Maven?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Standardization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across all Java projects.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Automatic dependency management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Plugin support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for testing, code quality, deployment, etc.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Easy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with Jenkins, Docker, GitHub Actions.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What Tools or Plugins Does Maven Support?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Surefire Plugin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For running unit tests.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Compiler Plugin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To compile Java code.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Shade Plugin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For building fat JARs.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Clean Plugin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– To clean up target/ directory.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14B83CC-6480-D596-70CE-2EF269A930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39800" y="1446663"/>
          <a:ext cx="10515600" cy="417310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537780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77598357"/>
                    </a:ext>
                  </a:extLst>
                </a:gridCol>
              </a:tblGrid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+mj-lt"/>
                        </a:rPr>
                        <a:t>Plugin /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+mj-lt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011818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Maven Compiler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+mj-lt"/>
                        </a:rPr>
                        <a:t>Compiles Java 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50988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Maven Surefire Plugin</a:t>
                      </a:r>
                      <a:endParaRPr lang="en-IN" sz="20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latin typeface="+mj-lt"/>
                        </a:rPr>
                        <a:t>Runs unit tests using JUnit/TestNG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18085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Maven Clean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latin typeface="+mj-lt"/>
                        </a:rPr>
                        <a:t>Cleans target/ directory before a build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983572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Maven Install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latin typeface="+mj-lt"/>
                        </a:rPr>
                        <a:t>Installs built artifacts to local repo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665075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+mj-lt"/>
                        </a:rPr>
                        <a:t>Maven Deploy Plugin</a:t>
                      </a:r>
                      <a:endParaRPr lang="en-IN" sz="20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latin typeface="+mj-lt"/>
                        </a:rPr>
                        <a:t>Deploys built artifacts to remote repos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912860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Maven Shade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>
                          <a:solidFill>
                            <a:schemeClr val="bg1"/>
                          </a:solidFill>
                          <a:latin typeface="+mj-lt"/>
                        </a:rPr>
                        <a:t>Creates "fat JARs" with dependencies bundled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730586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Maven Site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bg1"/>
                          </a:solidFill>
                          <a:latin typeface="+mj-lt"/>
                        </a:rPr>
                        <a:t>Generates project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933516"/>
                  </a:ext>
                </a:extLst>
              </a:tr>
              <a:tr h="43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latin typeface="+mj-lt"/>
                        </a:rPr>
                        <a:t>Docker Maven Plugin</a:t>
                      </a:r>
                      <a:endParaRPr lang="en-IN" sz="2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+mj-lt"/>
                        </a:rPr>
                        <a:t>Builds Docker images during Maven lifecycle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65"/>
                  </a:ext>
                </a:extLst>
              </a:tr>
            </a:tbl>
          </a:graphicData>
        </a:graphic>
      </p:graphicFrame>
      <p:sp>
        <p:nvSpPr>
          <p:cNvPr id="168" name="Google Shape;168;p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Apache Maven Tools</a:t>
            </a:r>
            <a:endParaRPr dirty="0"/>
          </a:p>
        </p:txBody>
      </p:sp>
      <p:sp>
        <p:nvSpPr>
          <p:cNvPr id="169" name="Google Shape;169;p7"/>
          <p:cNvSpPr txBox="1"/>
          <p:nvPr/>
        </p:nvSpPr>
        <p:spPr>
          <a:xfrm>
            <a:off x="4867956" y="1268098"/>
            <a:ext cx="3084559" cy="4962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8387335" y="1268098"/>
            <a:ext cx="3663988" cy="4917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7B875F-C861-B52F-2B67-31C1DA9E117E}"/>
              </a:ext>
            </a:extLst>
          </p:cNvPr>
          <p:cNvGraphicFramePr>
            <a:graphicFrameLocks noGrp="1"/>
          </p:cNvGraphicFramePr>
          <p:nvPr/>
        </p:nvGraphicFramePr>
        <p:xfrm>
          <a:off x="736600" y="1446663"/>
          <a:ext cx="10515600" cy="4503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870884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74216915"/>
                    </a:ext>
                  </a:extLst>
                </a:gridCol>
              </a:tblGrid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Plugin /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275325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Compiler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Compiles Java source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885837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Surefire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Runs unit tests using JUnit/TestNG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981939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Clean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Cleans target/ directory before a 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272449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Install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Installs built artifacts to local repo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823183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Deploy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Deploys built artifacts to remote repos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375270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Shade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Creates "fat JARs" with dependencies bundled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40333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Maven Site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Generates project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597448"/>
                  </a:ext>
                </a:extLst>
              </a:tr>
              <a:tr h="500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Docker Maven Plugin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Builds Docker images during Maven lifecycle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2692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Introduction to Redis</a:t>
            </a:r>
            <a:endParaRPr dirty="0"/>
          </a:p>
        </p:txBody>
      </p:sp>
      <p:sp>
        <p:nvSpPr>
          <p:cNvPr id="181" name="Google Shape;181;p9"/>
          <p:cNvSpPr txBox="1">
            <a:spLocks noGrp="1"/>
          </p:cNvSpPr>
          <p:nvPr>
            <p:ph sz="half" idx="1"/>
          </p:nvPr>
        </p:nvSpPr>
        <p:spPr>
          <a:xfrm>
            <a:off x="493295" y="1268098"/>
            <a:ext cx="11122056" cy="386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+mj-lt"/>
              </a:rPr>
              <a:t>What is Redis?</a:t>
            </a:r>
          </a:p>
          <a:p>
            <a:r>
              <a:rPr lang="en-GB" sz="2400" dirty="0"/>
              <a:t>Redis stands for </a:t>
            </a:r>
            <a:r>
              <a:rPr lang="en-GB" sz="2400" b="1" dirty="0"/>
              <a:t>Remote Dictionary Server</a:t>
            </a:r>
            <a:r>
              <a:rPr lang="en-GB" sz="2400" dirty="0"/>
              <a:t>.</a:t>
            </a:r>
          </a:p>
          <a:p>
            <a:r>
              <a:rPr lang="en-GB" sz="2400" dirty="0"/>
              <a:t>It is an </a:t>
            </a:r>
            <a:r>
              <a:rPr lang="en-GB" sz="2400" b="1" dirty="0"/>
              <a:t>open-source, in-memory key-value store</a:t>
            </a:r>
            <a:r>
              <a:rPr lang="en-GB" sz="2400" dirty="0"/>
              <a:t>.</a:t>
            </a:r>
          </a:p>
          <a:p>
            <a:r>
              <a:rPr lang="en-GB" sz="2400" dirty="0"/>
              <a:t>Extremely fast — supports </a:t>
            </a:r>
            <a:r>
              <a:rPr lang="en-GB" sz="2400" b="1" dirty="0"/>
              <a:t>sub-millisecond</a:t>
            </a:r>
            <a:r>
              <a:rPr lang="en-GB" sz="2400" dirty="0"/>
              <a:t> latency.</a:t>
            </a:r>
          </a:p>
          <a:p>
            <a:r>
              <a:rPr lang="en-GB" sz="2400" dirty="0"/>
              <a:t>Widely used for </a:t>
            </a:r>
            <a:r>
              <a:rPr lang="en-GB" sz="2400" b="1" dirty="0"/>
              <a:t>caching</a:t>
            </a:r>
            <a:r>
              <a:rPr lang="en-GB" sz="2400" dirty="0"/>
              <a:t>, </a:t>
            </a:r>
            <a:r>
              <a:rPr lang="en-GB" sz="2400" b="1" dirty="0"/>
              <a:t>session storage</a:t>
            </a:r>
            <a:r>
              <a:rPr lang="en-GB" sz="2400" dirty="0"/>
              <a:t>, </a:t>
            </a:r>
            <a:r>
              <a:rPr lang="en-GB" sz="2400" b="1" dirty="0"/>
              <a:t>real-time analytics</a:t>
            </a:r>
            <a:r>
              <a:rPr lang="en-GB" sz="2400" dirty="0"/>
              <a:t>, and </a:t>
            </a:r>
            <a:r>
              <a:rPr lang="en-GB" sz="2400" b="1" dirty="0"/>
              <a:t>pub/sub messaging</a:t>
            </a:r>
            <a:r>
              <a:rPr lang="en-GB" sz="2400" dirty="0"/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800"/>
              <a:buNone/>
            </a:pP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GB" dirty="0"/>
              <a:t>Why Use Redis as a Caching Layer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A95FC-1CB4-6437-5F58-7B2066C7C16F}"/>
              </a:ext>
            </a:extLst>
          </p:cNvPr>
          <p:cNvSpPr txBox="1"/>
          <p:nvPr/>
        </p:nvSpPr>
        <p:spPr>
          <a:xfrm>
            <a:off x="493295" y="1198176"/>
            <a:ext cx="1168589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800" b="1" dirty="0">
                <a:solidFill>
                  <a:schemeClr val="bg1"/>
                </a:solidFill>
                <a:latin typeface="+mj-lt"/>
              </a:rPr>
              <a:t>Need for Caching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Databases are slower compared to in-memory reads.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Frequent DB queries increase </a:t>
            </a:r>
            <a:r>
              <a:rPr lang="en-GB" sz="2400" b="1" dirty="0">
                <a:solidFill>
                  <a:schemeClr val="bg1"/>
                </a:solidFill>
              </a:rPr>
              <a:t>latency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b="1" dirty="0">
                <a:solidFill>
                  <a:schemeClr val="bg1"/>
                </a:solidFill>
              </a:rPr>
              <a:t>server load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Caching improves </a:t>
            </a:r>
            <a:r>
              <a:rPr lang="en-GB" sz="2400" b="1" dirty="0">
                <a:solidFill>
                  <a:schemeClr val="bg1"/>
                </a:solidFill>
              </a:rPr>
              <a:t>application performance</a:t>
            </a:r>
            <a:r>
              <a:rPr lang="en-GB" sz="2400" dirty="0">
                <a:solidFill>
                  <a:schemeClr val="bg1"/>
                </a:solidFill>
              </a:rPr>
              <a:t> and </a:t>
            </a:r>
            <a:r>
              <a:rPr lang="en-GB" sz="2400" b="1" dirty="0">
                <a:solidFill>
                  <a:schemeClr val="bg1"/>
                </a:solidFill>
              </a:rPr>
              <a:t>scalability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  <a:endParaRPr lang="en-GB" sz="28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GB" sz="2800" b="1" dirty="0">
                <a:solidFill>
                  <a:schemeClr val="bg1"/>
                </a:solidFill>
              </a:rPr>
              <a:t> </a:t>
            </a:r>
            <a:r>
              <a:rPr lang="en-GB" sz="2800" b="1" dirty="0">
                <a:solidFill>
                  <a:schemeClr val="bg1"/>
                </a:solidFill>
                <a:latin typeface="+mj-lt"/>
              </a:rPr>
              <a:t>Why Redis?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</a:rPr>
              <a:t>In-memory storage</a:t>
            </a:r>
            <a:r>
              <a:rPr lang="en-GB" sz="2400" dirty="0">
                <a:solidFill>
                  <a:schemeClr val="bg1"/>
                </a:solidFill>
              </a:rPr>
              <a:t> → faster access.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</a:rPr>
              <a:t>TTL (Time-To-Live)</a:t>
            </a:r>
            <a:r>
              <a:rPr lang="en-GB" sz="2400" dirty="0">
                <a:solidFill>
                  <a:schemeClr val="bg1"/>
                </a:solidFill>
              </a:rPr>
              <a:t> for automatic expiry.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bg1"/>
                </a:solidFill>
              </a:rPr>
              <a:t>Multiple </a:t>
            </a:r>
            <a:r>
              <a:rPr lang="en-GB" sz="2400" b="1" dirty="0">
                <a:solidFill>
                  <a:schemeClr val="bg1"/>
                </a:solidFill>
              </a:rPr>
              <a:t>eviction policies</a:t>
            </a:r>
            <a:r>
              <a:rPr lang="en-GB" sz="2400" dirty="0">
                <a:solidFill>
                  <a:schemeClr val="bg1"/>
                </a:solidFill>
              </a:rPr>
              <a:t> for cache management</a:t>
            </a:r>
            <a:r>
              <a:rPr lang="en-GB" sz="24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+mj-lt"/>
              </a:rPr>
              <a:t>Redis Components:</a:t>
            </a:r>
          </a:p>
          <a:p>
            <a:r>
              <a:rPr lang="en-IN" sz="2400" b="1" dirty="0"/>
              <a:t>Redis Server</a:t>
            </a:r>
            <a:r>
              <a:rPr lang="en-IN" sz="2400" dirty="0"/>
              <a:t> – Runs the database.</a:t>
            </a:r>
          </a:p>
          <a:p>
            <a:r>
              <a:rPr lang="en-IN" sz="2400" b="1" dirty="0"/>
              <a:t>Redis Client</a:t>
            </a:r>
            <a:r>
              <a:rPr lang="en-IN" sz="2400" dirty="0"/>
              <a:t> – Applications connect via client libraries.</a:t>
            </a:r>
          </a:p>
          <a:p>
            <a:r>
              <a:rPr lang="en-IN" sz="2400" b="1" dirty="0"/>
              <a:t>Master-Replica</a:t>
            </a:r>
            <a:r>
              <a:rPr lang="en-IN" sz="2400" dirty="0"/>
              <a:t> – Supports replication for high availability.</a:t>
            </a:r>
          </a:p>
          <a:p>
            <a:r>
              <a:rPr lang="en-IN" sz="2400" b="1" dirty="0"/>
              <a:t>Persistence Options:</a:t>
            </a:r>
            <a:r>
              <a:rPr lang="en-IN" sz="2400" dirty="0"/>
              <a:t> RDB, AOF for data durability.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High Availability:</a:t>
            </a:r>
          </a:p>
          <a:p>
            <a:r>
              <a:rPr lang="en-IN" sz="2400" dirty="0"/>
              <a:t>Redis Sentinel for failover</a:t>
            </a:r>
          </a:p>
          <a:p>
            <a:r>
              <a:rPr lang="en-IN" sz="2400" dirty="0"/>
              <a:t>Redis Cluster for sharding and horizontal scaling</a:t>
            </a: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endParaRPr sz="2400" dirty="0"/>
          </a:p>
        </p:txBody>
      </p:sp>
      <p:sp>
        <p:nvSpPr>
          <p:cNvPr id="258" name="Google Shape;258;p14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80000"/>
              </a:lnSpc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Redis Architecture</a:t>
            </a:r>
            <a:endParaRPr sz="4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/>
              <a:t>1. Cache-Aside (Lazy Caching)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Application first checks Redis.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If miss → fetch from DB → update cache.</a:t>
            </a: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/>
              <a:t> 2. Write-Through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Writes go to cache and DB simultaneously.</a:t>
            </a: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/>
              <a:t>3. Write-Behind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Write to cache first, then async update DB.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</p:txBody>
      </p:sp>
      <p:sp>
        <p:nvSpPr>
          <p:cNvPr id="280" name="Google Shape;280;p17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Caching Strategies with Redis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+mj-lt"/>
              </a:rPr>
              <a:t>Redis in Real-World Applications: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Session Management</a:t>
            </a:r>
            <a:r>
              <a:rPr lang="en-IN" sz="2000" dirty="0"/>
              <a:t> (e.g., user login state)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Leaderboard Systems</a:t>
            </a:r>
            <a:r>
              <a:rPr lang="en-IN" sz="2000" dirty="0"/>
              <a:t> (sorted sets)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Full Page Caching</a:t>
            </a:r>
            <a:r>
              <a:rPr lang="en-IN" sz="2000" dirty="0"/>
              <a:t> (e.g., e-commerce sites)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API Rate Limiting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Pub/Sub Messaging</a:t>
            </a:r>
            <a:r>
              <a:rPr lang="en-IN" sz="2000" dirty="0"/>
              <a:t> (chat, notifications)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400" dirty="0"/>
          </a:p>
        </p:txBody>
      </p:sp>
      <p:sp>
        <p:nvSpPr>
          <p:cNvPr id="286" name="Google Shape;286;p18"/>
          <p:cNvSpPr txBox="1">
            <a:spLocks noGrp="1"/>
          </p:cNvSpPr>
          <p:nvPr>
            <p:ph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buClr>
                <a:srgbClr val="0070C0"/>
              </a:buClr>
              <a:buSzPts val="3600"/>
            </a:pPr>
            <a:r>
              <a:rPr lang="en-IN" dirty="0"/>
              <a:t>Common Use Cases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Spring Security Basics</a:t>
            </a:r>
            <a:br>
              <a:rPr lang="en-US" sz="5400" dirty="0"/>
            </a:b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299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3361" y="1402079"/>
            <a:ext cx="11315700" cy="4665777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Spring Security is a powerful and customizable authentication and access-control framework for Java applications.</a:t>
            </a:r>
          </a:p>
          <a:p>
            <a:r>
              <a:rPr lang="en-US" b="1" dirty="0"/>
              <a:t>Purpose</a:t>
            </a:r>
            <a:r>
              <a:rPr lang="en-US" dirty="0"/>
              <a:t>: Helps protect applications against common security threats.</a:t>
            </a:r>
          </a:p>
          <a:p>
            <a:r>
              <a:rPr lang="en-US" b="1" dirty="0"/>
              <a:t>Core Features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Authentication &amp; Authorization</a:t>
            </a:r>
          </a:p>
          <a:p>
            <a:pPr lvl="1"/>
            <a:r>
              <a:rPr lang="en-US" dirty="0"/>
              <a:t>Protection against CSRF</a:t>
            </a:r>
          </a:p>
          <a:p>
            <a:pPr lvl="1"/>
            <a:r>
              <a:rPr lang="en-US" dirty="0"/>
              <a:t>CORS configuration</a:t>
            </a:r>
          </a:p>
          <a:p>
            <a:pPr lvl="1"/>
            <a:r>
              <a:rPr lang="en-US" dirty="0"/>
              <a:t>Session management</a:t>
            </a:r>
          </a:p>
          <a:p>
            <a:pPr lvl="1"/>
            <a:r>
              <a:rPr lang="en-US" dirty="0"/>
              <a:t>Servlet filter chain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Spring Security</a:t>
            </a:r>
          </a:p>
        </p:txBody>
      </p:sp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27440" y="358816"/>
            <a:ext cx="11036617" cy="510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Spring Security Architecture</a:t>
            </a:r>
          </a:p>
          <a:p>
            <a:endParaRPr lang="en-IN" dirty="0"/>
          </a:p>
        </p:txBody>
      </p:sp>
      <p:pic>
        <p:nvPicPr>
          <p:cNvPr id="1028" name="Picture 4" descr="SpringSecurity Part 3 : Spring Security Flow | by Himaanshu Shukla | Medium">
            <a:extLst>
              <a:ext uri="{FF2B5EF4-FFF2-40B4-BE49-F238E27FC236}">
                <a16:creationId xmlns:a16="http://schemas.microsoft.com/office/drawing/2014/main" id="{4F950364-584E-8574-E514-6C4B61419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43" y="1524000"/>
            <a:ext cx="10652760" cy="41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797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r>
              <a:rPr lang="en-IN" sz="2400" dirty="0"/>
              <a:t>1. Add Dependency:</a:t>
            </a:r>
            <a:br>
              <a:rPr lang="en-IN" sz="2400" dirty="0"/>
            </a:b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US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US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r>
              <a:rPr lang="en-US" sz="2400" dirty="0"/>
              <a:t>2. Configure Security Filter Chain:</a:t>
            </a:r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IN" sz="2400" dirty="0"/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Setting Up Spring Security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DA719-7405-9169-6ABD-CF2FC7D90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734" y="1958000"/>
            <a:ext cx="5220429" cy="1124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FB8A09-497D-AA9F-85AB-911690ED0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516" y="3714067"/>
            <a:ext cx="707806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10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IN" sz="2400" dirty="0"/>
              <a:t>3. Default user credentials:</a:t>
            </a:r>
            <a:br>
              <a:rPr lang="en-IN" sz="2400" dirty="0"/>
            </a:br>
            <a:br>
              <a:rPr lang="en-IN" sz="2400" dirty="0"/>
            </a:b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A821C-54B2-A3F9-FCA5-17AB03C6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14" y="1952624"/>
            <a:ext cx="5374005" cy="179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71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841062"/>
            <a:ext cx="11113251" cy="932563"/>
          </a:xfrm>
        </p:spPr>
        <p:txBody>
          <a:bodyPr/>
          <a:lstStyle/>
          <a:p>
            <a:r>
              <a:rPr lang="en-IN" sz="5400" dirty="0"/>
              <a:t>JWT Authentication &amp;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320516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6" y="1326039"/>
            <a:ext cx="9739276" cy="1874361"/>
          </a:xfrm>
        </p:spPr>
        <p:txBody>
          <a:bodyPr>
            <a:normAutofit fontScale="85000" lnSpcReduction="20000"/>
          </a:bodyPr>
          <a:lstStyle/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r>
              <a:rPr lang="en-IN" sz="2400" b="1" dirty="0"/>
              <a:t>What is JWT?</a:t>
            </a:r>
          </a:p>
          <a:p>
            <a:r>
              <a:rPr lang="en-US" sz="2400" b="1" dirty="0"/>
              <a:t>JWT (JSON Web Token)</a:t>
            </a:r>
            <a:r>
              <a:rPr lang="en-US" sz="2400" dirty="0"/>
              <a:t> is a compact, URL-safe means of representing claims between two parties.</a:t>
            </a:r>
          </a:p>
          <a:p>
            <a:r>
              <a:rPr lang="en-US" sz="2400" dirty="0"/>
              <a:t>It consists of three parts: Header, Payload, and Signature.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</a:t>
            </a:r>
            <a:r>
              <a:rPr lang="en-IN" dirty="0"/>
              <a:t>JWT Authentication &amp; Authorization</a:t>
            </a:r>
          </a:p>
          <a:p>
            <a:endParaRPr lang="en-IN" dirty="0">
              <a:ea typeface="Roboto" panose="020000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B0DD9A-E6B9-FF7C-FF4E-27EDAE005486}"/>
              </a:ext>
            </a:extLst>
          </p:cNvPr>
          <p:cNvSpPr/>
          <p:nvPr/>
        </p:nvSpPr>
        <p:spPr>
          <a:xfrm>
            <a:off x="4365171" y="2950029"/>
            <a:ext cx="2013858" cy="1393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JWT – Get the token T1.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D361F-F0DC-79B5-872B-B1E844B7E16B}"/>
              </a:ext>
            </a:extLst>
          </p:cNvPr>
          <p:cNvSpPr/>
          <p:nvPr/>
        </p:nvSpPr>
        <p:spPr>
          <a:xfrm>
            <a:off x="4365171" y="4702629"/>
            <a:ext cx="2013858" cy="1393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/accounts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7CCBDA-0959-29A8-9B35-0C2B68F67816}"/>
              </a:ext>
            </a:extLst>
          </p:cNvPr>
          <p:cNvCxnSpPr/>
          <p:nvPr/>
        </p:nvCxnSpPr>
        <p:spPr>
          <a:xfrm>
            <a:off x="2525485" y="5399314"/>
            <a:ext cx="1839686" cy="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CCE661-77CE-A291-91EE-061B1AE87167}"/>
              </a:ext>
            </a:extLst>
          </p:cNvPr>
          <p:cNvSpPr txBox="1"/>
          <p:nvPr/>
        </p:nvSpPr>
        <p:spPr>
          <a:xfrm>
            <a:off x="3200400" y="481148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T1</a:t>
            </a:r>
          </a:p>
        </p:txBody>
      </p:sp>
    </p:spTree>
    <p:extLst>
      <p:ext uri="{BB962C8B-B14F-4D97-AF65-F5344CB8AC3E}">
        <p14:creationId xmlns:p14="http://schemas.microsoft.com/office/powerpoint/2010/main" val="1908880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567A-DDE0-ECA2-269A-DF64D938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71F4-10F2-8B23-39B5-6033F4417D3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</a:t>
            </a:r>
            <a:r>
              <a:rPr lang="en-IN" dirty="0"/>
              <a:t>JWT Authentication &amp; Authorization</a:t>
            </a:r>
          </a:p>
          <a:p>
            <a:endParaRPr lang="en-IN" dirty="0"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6E6B4-110D-ACDD-894C-7F15394CD186}"/>
              </a:ext>
            </a:extLst>
          </p:cNvPr>
          <p:cNvSpPr txBox="1"/>
          <p:nvPr/>
        </p:nvSpPr>
        <p:spPr>
          <a:xfrm>
            <a:off x="957942" y="1665514"/>
            <a:ext cx="115497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Client sending “hello </a:t>
            </a:r>
            <a:r>
              <a:rPr lang="en-US" dirty="0" err="1">
                <a:solidFill>
                  <a:schemeClr val="bg1"/>
                </a:solidFill>
              </a:rPr>
              <a:t>niloy</a:t>
            </a:r>
            <a:r>
              <a:rPr lang="en-US" dirty="0">
                <a:solidFill>
                  <a:schemeClr val="bg1"/>
                </a:solidFill>
              </a:rPr>
              <a:t>” 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 Server</a:t>
            </a: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Bad guy changed “hello </a:t>
            </a:r>
            <a:r>
              <a:rPr lang="en-US" dirty="0" err="1">
                <a:solidFill>
                  <a:schemeClr val="bg1"/>
                </a:solidFill>
                <a:sym typeface="Wingdings" pitchFamily="2" charset="2"/>
              </a:rPr>
              <a:t>niloy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” to “can you pay this online”</a:t>
            </a:r>
          </a:p>
          <a:p>
            <a:endParaRPr lang="en-US" dirty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HMAC – Plain text + hash value of Plain text</a:t>
            </a:r>
          </a:p>
          <a:p>
            <a:endParaRPr lang="en-US" dirty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“Hello “ + </a:t>
            </a:r>
            <a:r>
              <a:rPr lang="en-US" dirty="0" err="1">
                <a:solidFill>
                  <a:schemeClr val="bg1"/>
                </a:solidFill>
                <a:sym typeface="Wingdings" pitchFamily="2" charset="2"/>
              </a:rPr>
              <a:t>hashvalue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 (“Hello”)</a:t>
            </a:r>
          </a:p>
          <a:p>
            <a:endParaRPr lang="en-US" dirty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Server</a:t>
            </a:r>
          </a:p>
          <a:p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“Hello Niloy” + </a:t>
            </a:r>
            <a:r>
              <a:rPr lang="en-US" dirty="0" err="1">
                <a:solidFill>
                  <a:schemeClr val="bg1"/>
                </a:solidFill>
                <a:sym typeface="Wingdings" pitchFamily="2" charset="2"/>
              </a:rPr>
              <a:t>hashvalue</a:t>
            </a:r>
            <a:r>
              <a:rPr lang="en-US" dirty="0">
                <a:solidFill>
                  <a:schemeClr val="bg1"/>
                </a:solidFill>
                <a:sym typeface="Wingdings" pitchFamily="2" charset="2"/>
              </a:rPr>
              <a:t> (“Hello”)  Fail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22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1DC7-8646-EDDA-4A37-622C4407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33BD25-688C-23FA-D2D2-8CEBBA86A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r>
              <a:rPr lang="en-IN" sz="2400" b="1" dirty="0"/>
              <a:t>What is JWT?</a:t>
            </a:r>
          </a:p>
          <a:p>
            <a:r>
              <a:rPr lang="en-US" sz="2400" b="1" dirty="0"/>
              <a:t>JWT (JSON Web Token)</a:t>
            </a:r>
            <a:r>
              <a:rPr lang="en-US" sz="2400" dirty="0"/>
              <a:t> is a compact, URL-safe means of representing claims between two parties.</a:t>
            </a:r>
          </a:p>
          <a:p>
            <a:r>
              <a:rPr lang="en-US" sz="2400" dirty="0"/>
              <a:t>It consists of three parts: Header, Payload, and Signature.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DFE2-0C79-5D37-E670-D8DCF1E06C3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</a:t>
            </a:r>
            <a:r>
              <a:rPr lang="en-IN" dirty="0"/>
              <a:t>JWT Authentication &amp; Authorization</a:t>
            </a:r>
          </a:p>
          <a:p>
            <a:endParaRPr lang="en-IN" dirty="0">
              <a:ea typeface="Roboto" panose="02000000000000000000" pitchFamily="2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38F8008-DB5A-DD76-6259-E3E067620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504" y="3355137"/>
            <a:ext cx="8759856" cy="271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13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9B268-3F01-7B55-B290-626AA1C787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Stateless and scalable</a:t>
            </a:r>
          </a:p>
          <a:p>
            <a:r>
              <a:rPr lang="en-US" dirty="0"/>
              <a:t>Ideal for microservices and REST APIs</a:t>
            </a:r>
          </a:p>
          <a:p>
            <a:r>
              <a:rPr lang="en-US" dirty="0"/>
              <a:t>Works well with OAuth2 and distributed systems</a:t>
            </a:r>
          </a:p>
          <a:p>
            <a:r>
              <a:rPr lang="en-US" dirty="0"/>
              <a:t>Structure: Header, Payload, Signature</a:t>
            </a:r>
          </a:p>
          <a:p>
            <a:r>
              <a:rPr lang="en-US" dirty="0"/>
              <a:t>Example JWT breakdown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42581-02FC-58CC-1E22-83B41DB72BC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Why use JWT?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321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F3558-1621-CA60-19C9-16652ECF4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996" y="388422"/>
            <a:ext cx="11122056" cy="487762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JWT vs Session-Based Auth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0D877-C42F-D066-30AC-D7EA5CC40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420" y="1824585"/>
            <a:ext cx="8284580" cy="410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97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8A77808-1EF4-004E-6F6E-750735BE87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JWT Utility class (to generate and validate tokens)</a:t>
            </a:r>
          </a:p>
          <a:p>
            <a:r>
              <a:rPr lang="en-US" dirty="0"/>
              <a:t>Custom Authentication Filter (JwtAuthenticationFilter)</a:t>
            </a:r>
          </a:p>
          <a:p>
            <a:r>
              <a:rPr lang="en-US" dirty="0"/>
              <a:t>Security config to plug the filter into the filter chain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CAA12-B5BF-121A-1EAE-2403D5515BA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Implementing JWT with Spring Security</a:t>
            </a: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477C6D-D553-9CD2-289C-3E47831FD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5" y="2906740"/>
            <a:ext cx="10386702" cy="288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8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841062"/>
            <a:ext cx="11113251" cy="932563"/>
          </a:xfrm>
        </p:spPr>
        <p:txBody>
          <a:bodyPr/>
          <a:lstStyle/>
          <a:p>
            <a:r>
              <a:rPr lang="en-IN" sz="5400" dirty="0"/>
              <a:t>OAuth2 Flows and Roles</a:t>
            </a:r>
          </a:p>
        </p:txBody>
      </p:sp>
    </p:spTree>
    <p:extLst>
      <p:ext uri="{BB962C8B-B14F-4D97-AF65-F5344CB8AC3E}">
        <p14:creationId xmlns:p14="http://schemas.microsoft.com/office/powerpoint/2010/main" val="3426681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OAuth2</a:t>
            </a:r>
            <a:r>
              <a:rPr lang="en-US" sz="2400" dirty="0"/>
              <a:t> is a protocol for authorization, enabling third-party applications to obtain limited access to user resources without exposing credentials.</a:t>
            </a:r>
          </a:p>
          <a:p>
            <a:r>
              <a:rPr lang="en-US" sz="2400" dirty="0"/>
              <a:t>🔐 </a:t>
            </a:r>
            <a:r>
              <a:rPr lang="en-US" sz="2400" b="1" dirty="0"/>
              <a:t>Key Concepts:</a:t>
            </a:r>
            <a:endParaRPr lang="en-US" sz="2400" dirty="0"/>
          </a:p>
          <a:p>
            <a:r>
              <a:rPr lang="en-US" sz="2400" b="1" dirty="0"/>
              <a:t>Authorization</a:t>
            </a:r>
            <a:r>
              <a:rPr lang="en-US" sz="2400" dirty="0"/>
              <a:t>: Granting access rights to clients</a:t>
            </a:r>
          </a:p>
          <a:p>
            <a:r>
              <a:rPr lang="en-US" sz="2400" b="1" dirty="0"/>
              <a:t>Authentication</a:t>
            </a:r>
            <a:r>
              <a:rPr lang="en-US" sz="2400" dirty="0"/>
              <a:t>: Verifying the user's identity (not originally OAuth2's job, but often combined with OpenID Connect)</a:t>
            </a:r>
          </a:p>
          <a:p>
            <a:r>
              <a:rPr lang="en-US" sz="2400" dirty="0"/>
              <a:t>👥 </a:t>
            </a:r>
            <a:r>
              <a:rPr lang="en-US" sz="2400" b="1" dirty="0"/>
              <a:t>Actors in OAuth2 Flow:</a:t>
            </a:r>
            <a:endParaRPr lang="en-US" sz="2400" dirty="0"/>
          </a:p>
          <a:p>
            <a:r>
              <a:rPr lang="en-US" sz="2400" b="1" dirty="0"/>
              <a:t>Resource Owner</a:t>
            </a:r>
            <a:r>
              <a:rPr lang="en-US" sz="2400" dirty="0"/>
              <a:t> – The user</a:t>
            </a:r>
          </a:p>
          <a:p>
            <a:r>
              <a:rPr lang="en-US" sz="2400" b="1" dirty="0"/>
              <a:t>Client</a:t>
            </a:r>
            <a:r>
              <a:rPr lang="en-US" sz="2400" dirty="0"/>
              <a:t> – Application requesting access</a:t>
            </a:r>
          </a:p>
          <a:p>
            <a:r>
              <a:rPr lang="en-US" sz="2400" b="1" dirty="0"/>
              <a:t>Resource Server</a:t>
            </a:r>
            <a:r>
              <a:rPr lang="en-US" sz="2400" dirty="0"/>
              <a:t> – Hosts the protected data</a:t>
            </a:r>
          </a:p>
          <a:p>
            <a:r>
              <a:rPr lang="en-US" sz="2400" b="1" dirty="0"/>
              <a:t>Authorization Server</a:t>
            </a:r>
            <a:r>
              <a:rPr lang="en-US" sz="2400" dirty="0"/>
              <a:t> – Issues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OAuth2 Overview</a:t>
            </a:r>
          </a:p>
        </p:txBody>
      </p:sp>
    </p:spTree>
    <p:extLst>
      <p:ext uri="{BB962C8B-B14F-4D97-AF65-F5344CB8AC3E}">
        <p14:creationId xmlns:p14="http://schemas.microsoft.com/office/powerpoint/2010/main" val="2688110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D15CA2-DF40-2EED-EFE9-49828FA443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OAuth2 defines several </a:t>
            </a:r>
            <a:r>
              <a:rPr lang="en-US" b="1" dirty="0"/>
              <a:t>grant types</a:t>
            </a:r>
            <a:r>
              <a:rPr lang="en-US" dirty="0"/>
              <a:t> for different use cases:</a:t>
            </a:r>
          </a:p>
          <a:p>
            <a:r>
              <a:rPr lang="en-US" b="1" dirty="0"/>
              <a:t>Authorization Code (with PKCE)</a:t>
            </a:r>
            <a:r>
              <a:rPr lang="en-US" dirty="0"/>
              <a:t> – Most secure; used by web &amp; mobile apps</a:t>
            </a:r>
          </a:p>
          <a:p>
            <a:r>
              <a:rPr lang="en-US" b="1" dirty="0"/>
              <a:t>Client Credentials</a:t>
            </a:r>
            <a:r>
              <a:rPr lang="en-US" dirty="0"/>
              <a:t> – Used for machine-to-machine communication</a:t>
            </a:r>
          </a:p>
          <a:p>
            <a:r>
              <a:rPr lang="en-US" b="1" dirty="0"/>
              <a:t>Resource Owner Password</a:t>
            </a:r>
            <a:r>
              <a:rPr lang="en-US" dirty="0"/>
              <a:t> </a:t>
            </a:r>
            <a:r>
              <a:rPr lang="en-US" i="1" dirty="0"/>
              <a:t>(deprecated)</a:t>
            </a:r>
            <a:r>
              <a:rPr lang="en-US" dirty="0"/>
              <a:t> – Legacy flows; username/password sent directly</a:t>
            </a:r>
          </a:p>
          <a:p>
            <a:r>
              <a:rPr lang="en-US" b="1" dirty="0"/>
              <a:t>Implicit Flow</a:t>
            </a:r>
            <a:r>
              <a:rPr lang="en-US" dirty="0"/>
              <a:t> </a:t>
            </a:r>
            <a:r>
              <a:rPr lang="en-US" i="1" dirty="0"/>
              <a:t>(deprecated)</a:t>
            </a:r>
            <a:r>
              <a:rPr lang="en-US" dirty="0"/>
              <a:t> – Was used by SPAs, now replaced by Authorization Code + PKCE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F22E-14EB-08D7-A6D7-96FA5C621BC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OAuth2 Grant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9500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23847" y="330549"/>
            <a:ext cx="11122056" cy="48776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Integrating OAuth2 with Spring Boot: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E577A9-C9E1-92E9-2506-8D0599D56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40" y="1107682"/>
            <a:ext cx="8473440" cy="964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AB499D-24DA-6031-B0D6-F02A354FA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2351319"/>
            <a:ext cx="8473440" cy="389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88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/>
              <a:t>OpenID Connect with Identity Providers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319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OpenID Connect (OIDC)?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F4641-CC94-CF10-FB61-E88BE92C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9904"/>
            <a:ext cx="7772400" cy="38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0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9688-8E94-E5A0-DE80-30661529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F365-C58F-7585-4E27-2A5F01DA8B3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OpenID Connect (OIDC)?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FB4FE-C48F-70D0-E78D-FCFC75B04CE5}"/>
              </a:ext>
            </a:extLst>
          </p:cNvPr>
          <p:cNvSpPr txBox="1"/>
          <p:nvPr/>
        </p:nvSpPr>
        <p:spPr>
          <a:xfrm>
            <a:off x="2396723" y="1627093"/>
            <a:ext cx="5106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Oauth2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Register at google.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Clientid</a:t>
            </a:r>
            <a:r>
              <a:rPr lang="en-US" dirty="0">
                <a:solidFill>
                  <a:schemeClr val="bg1"/>
                </a:solidFill>
              </a:rPr>
              <a:t>, secret.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you have to put in </a:t>
            </a:r>
            <a:r>
              <a:rPr lang="en-US" dirty="0" err="1">
                <a:solidFill>
                  <a:schemeClr val="bg1"/>
                </a:solidFill>
              </a:rPr>
              <a:t>application.yml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A54B1-2660-6F55-AE1E-318D207B7911}"/>
              </a:ext>
            </a:extLst>
          </p:cNvPr>
          <p:cNvSpPr/>
          <p:nvPr/>
        </p:nvSpPr>
        <p:spPr>
          <a:xfrm>
            <a:off x="4558552" y="3883849"/>
            <a:ext cx="2164977" cy="417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makemytrip.com</a:t>
            </a:r>
            <a:endParaRPr lang="en-US" dirty="0"/>
          </a:p>
        </p:txBody>
      </p:sp>
      <p:pic>
        <p:nvPicPr>
          <p:cNvPr id="1026" name="Picture 2" descr="User Icon Vector Art, Icons, and Graphics for Free Download">
            <a:extLst>
              <a:ext uri="{FF2B5EF4-FFF2-40B4-BE49-F238E27FC236}">
                <a16:creationId xmlns:a16="http://schemas.microsoft.com/office/drawing/2014/main" id="{06388217-ECC1-136C-24C8-02035E7F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052" y="3429000"/>
            <a:ext cx="587460" cy="5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ser Icon Vector Art, Icons, and Graphics for Free Download">
            <a:extLst>
              <a:ext uri="{FF2B5EF4-FFF2-40B4-BE49-F238E27FC236}">
                <a16:creationId xmlns:a16="http://schemas.microsoft.com/office/drawing/2014/main" id="{977A92FC-5063-3728-A479-79C810102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052" y="4092388"/>
            <a:ext cx="587460" cy="5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User Icon Vector Art, Icons, and Graphics for Free Download">
            <a:extLst>
              <a:ext uri="{FF2B5EF4-FFF2-40B4-BE49-F238E27FC236}">
                <a16:creationId xmlns:a16="http://schemas.microsoft.com/office/drawing/2014/main" id="{C1F494D7-FB44-FEB1-7BB0-968E183E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052" y="4728340"/>
            <a:ext cx="587460" cy="5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182331-D553-CE70-A251-3AEEB3985E42}"/>
              </a:ext>
            </a:extLst>
          </p:cNvPr>
          <p:cNvCxnSpPr>
            <a:stCxn id="1026" idx="3"/>
            <a:endCxn id="4" idx="1"/>
          </p:cNvCxnSpPr>
          <p:nvPr/>
        </p:nvCxnSpPr>
        <p:spPr>
          <a:xfrm>
            <a:off x="3489512" y="3680284"/>
            <a:ext cx="1069040" cy="41210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C91636-4BF2-CB48-80BD-FC41C754F42E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3489512" y="4092388"/>
            <a:ext cx="1069040" cy="25128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3594BD-832B-A4D5-4EF2-3BC77307834C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3489512" y="4092388"/>
            <a:ext cx="1069040" cy="88723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29B3D52-09AD-EAA5-A58D-8C005C4F6AD1}"/>
              </a:ext>
            </a:extLst>
          </p:cNvPr>
          <p:cNvSpPr/>
          <p:nvPr/>
        </p:nvSpPr>
        <p:spPr>
          <a:xfrm>
            <a:off x="7295028" y="3092823"/>
            <a:ext cx="1532965" cy="665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(</a:t>
            </a:r>
            <a:r>
              <a:rPr lang="en-US" dirty="0" err="1"/>
              <a:t>ota</a:t>
            </a:r>
            <a:r>
              <a:rPr lang="en-US" dirty="0"/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BD2227-C94D-22D7-559C-D5636CD7CA12}"/>
              </a:ext>
            </a:extLst>
          </p:cNvPr>
          <p:cNvCxnSpPr>
            <a:cxnSpLocks/>
          </p:cNvCxnSpPr>
          <p:nvPr/>
        </p:nvCxnSpPr>
        <p:spPr>
          <a:xfrm flipV="1">
            <a:off x="6723529" y="3381419"/>
            <a:ext cx="571499" cy="51092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B134A6-BA42-7015-BB24-58D7D6D74857}"/>
              </a:ext>
            </a:extLst>
          </p:cNvPr>
          <p:cNvSpPr txBox="1"/>
          <p:nvPr/>
        </p:nvSpPr>
        <p:spPr>
          <a:xfrm>
            <a:off x="6223033" y="3128304"/>
            <a:ext cx="1575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</a:rPr>
              <a:t>Clientid</a:t>
            </a:r>
            <a:r>
              <a:rPr lang="en-US" sz="1100" dirty="0">
                <a:solidFill>
                  <a:schemeClr val="bg1"/>
                </a:solidFill>
              </a:rPr>
              <a:t>, secret</a:t>
            </a:r>
          </a:p>
        </p:txBody>
      </p:sp>
    </p:spTree>
    <p:extLst>
      <p:ext uri="{BB962C8B-B14F-4D97-AF65-F5344CB8AC3E}">
        <p14:creationId xmlns:p14="http://schemas.microsoft.com/office/powerpoint/2010/main" val="2267509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0869-167E-AF47-8F28-CED61A8C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F7ED-9477-9B80-8BC7-EA9493298CC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OpenID Connect (OIDC)?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FC24A-2C56-EB2E-90AE-F08C3E4C3D78}"/>
              </a:ext>
            </a:extLst>
          </p:cNvPr>
          <p:cNvSpPr/>
          <p:nvPr/>
        </p:nvSpPr>
        <p:spPr>
          <a:xfrm>
            <a:off x="5513295" y="1781735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gmail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02A15-0583-223B-9320-FDA71B209DCB}"/>
              </a:ext>
            </a:extLst>
          </p:cNvPr>
          <p:cNvSpPr/>
          <p:nvPr/>
        </p:nvSpPr>
        <p:spPr>
          <a:xfrm>
            <a:off x="5513295" y="2418229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gmeet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E9A72F-4CFA-85E9-7982-44D99E475B3B}"/>
              </a:ext>
            </a:extLst>
          </p:cNvPr>
          <p:cNvSpPr/>
          <p:nvPr/>
        </p:nvSpPr>
        <p:spPr>
          <a:xfrm>
            <a:off x="5513295" y="3112995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gdrive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82484-2513-8217-8F94-319B8CF1E916}"/>
              </a:ext>
            </a:extLst>
          </p:cNvPr>
          <p:cNvSpPr/>
          <p:nvPr/>
        </p:nvSpPr>
        <p:spPr>
          <a:xfrm>
            <a:off x="5513295" y="3702425"/>
            <a:ext cx="1573306" cy="54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sheets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60DB1-FD6F-95AD-0307-C1EA5120F4DB}"/>
              </a:ext>
            </a:extLst>
          </p:cNvPr>
          <p:cNvSpPr/>
          <p:nvPr/>
        </p:nvSpPr>
        <p:spPr>
          <a:xfrm>
            <a:off x="4094629" y="1842247"/>
            <a:ext cx="732865" cy="2407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PING</a:t>
            </a:r>
          </a:p>
        </p:txBody>
      </p:sp>
      <p:pic>
        <p:nvPicPr>
          <p:cNvPr id="15" name="Picture 2" descr="User Icon Vector Art, Icons, and Graphics for Free Download">
            <a:extLst>
              <a:ext uri="{FF2B5EF4-FFF2-40B4-BE49-F238E27FC236}">
                <a16:creationId xmlns:a16="http://schemas.microsoft.com/office/drawing/2014/main" id="{2442048F-8D36-C9D2-8A95-164D8961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429" y="1759051"/>
            <a:ext cx="587460" cy="5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FEFB7C-D2A5-662F-69AF-1905AE2B811C}"/>
              </a:ext>
            </a:extLst>
          </p:cNvPr>
          <p:cNvCxnSpPr>
            <a:stCxn id="15" idx="3"/>
            <a:endCxn id="6" idx="1"/>
          </p:cNvCxnSpPr>
          <p:nvPr/>
        </p:nvCxnSpPr>
        <p:spPr>
          <a:xfrm>
            <a:off x="3139889" y="2010335"/>
            <a:ext cx="237340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59B018-29F7-6B83-DE0D-49FFBBFB4B4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139889" y="2178424"/>
            <a:ext cx="2373406" cy="46840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48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2BA6-CE03-F1F0-1FC8-98602523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89594-2110-1FB1-A031-486CF383658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OpenID Connect (OIDC)?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490A5-045F-D9A4-C23C-759B62B99D3E}"/>
              </a:ext>
            </a:extLst>
          </p:cNvPr>
          <p:cNvSpPr/>
          <p:nvPr/>
        </p:nvSpPr>
        <p:spPr>
          <a:xfrm>
            <a:off x="5513295" y="1781735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gmail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55E43-6AE6-B001-BD25-57974CF63603}"/>
              </a:ext>
            </a:extLst>
          </p:cNvPr>
          <p:cNvSpPr/>
          <p:nvPr/>
        </p:nvSpPr>
        <p:spPr>
          <a:xfrm>
            <a:off x="5513295" y="2418229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gmeet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ECB090-40D0-CC4F-D162-9A6F1FE2E24A}"/>
              </a:ext>
            </a:extLst>
          </p:cNvPr>
          <p:cNvSpPr/>
          <p:nvPr/>
        </p:nvSpPr>
        <p:spPr>
          <a:xfrm>
            <a:off x="5513295" y="3112995"/>
            <a:ext cx="157330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gdrive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C5B232-9C9D-8595-1715-1C494FFD6449}"/>
              </a:ext>
            </a:extLst>
          </p:cNvPr>
          <p:cNvSpPr/>
          <p:nvPr/>
        </p:nvSpPr>
        <p:spPr>
          <a:xfrm>
            <a:off x="5513295" y="3702425"/>
            <a:ext cx="1573306" cy="54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sheets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8449AE-D783-F5E0-51A7-9837E0E42F70}"/>
              </a:ext>
            </a:extLst>
          </p:cNvPr>
          <p:cNvSpPr/>
          <p:nvPr/>
        </p:nvSpPr>
        <p:spPr>
          <a:xfrm>
            <a:off x="3622877" y="1842247"/>
            <a:ext cx="1204618" cy="2407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keycloak</a:t>
            </a:r>
            <a:endParaRPr lang="en-US" dirty="0"/>
          </a:p>
        </p:txBody>
      </p:sp>
      <p:pic>
        <p:nvPicPr>
          <p:cNvPr id="15" name="Picture 2" descr="User Icon Vector Art, Icons, and Graphics for Free Download">
            <a:extLst>
              <a:ext uri="{FF2B5EF4-FFF2-40B4-BE49-F238E27FC236}">
                <a16:creationId xmlns:a16="http://schemas.microsoft.com/office/drawing/2014/main" id="{B5C14A56-669F-60BC-8A53-DCE925652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429" y="1759051"/>
            <a:ext cx="587460" cy="50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4BDF9F-A41C-6FE2-E125-A2D14FE0FE2E}"/>
              </a:ext>
            </a:extLst>
          </p:cNvPr>
          <p:cNvCxnSpPr>
            <a:stCxn id="15" idx="3"/>
            <a:endCxn id="6" idx="1"/>
          </p:cNvCxnSpPr>
          <p:nvPr/>
        </p:nvCxnSpPr>
        <p:spPr>
          <a:xfrm>
            <a:off x="3139889" y="2010335"/>
            <a:ext cx="2373406" cy="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254012-2D7F-DC9F-0237-A736E3C632C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139889" y="2178424"/>
            <a:ext cx="2373406" cy="46840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44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1F21-282B-5E69-CBC2-E9AD8CDC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9A59A5-047E-8E8E-ACD5-E000EEF6C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r>
              <a:rPr lang="en-US" sz="2400" dirty="0"/>
              <a:t>🔐 </a:t>
            </a:r>
            <a:r>
              <a:rPr lang="en-US" sz="2400" b="1" dirty="0"/>
              <a:t>OpenID Connect (OIDC)</a:t>
            </a:r>
            <a:r>
              <a:rPr lang="en-US" sz="2400" dirty="0"/>
              <a:t> is an identity layer built on top of OAuth2. It enables client applications to verify the identity of users based on the authentication performed by an authorization server.</a:t>
            </a:r>
          </a:p>
          <a:p>
            <a:r>
              <a:rPr lang="en-US" sz="2400" b="1" dirty="0"/>
              <a:t>Key Differences from OAuth2:</a:t>
            </a:r>
            <a:endParaRPr lang="en-US" sz="2400" dirty="0"/>
          </a:p>
          <a:p>
            <a:r>
              <a:rPr lang="en-US" sz="2400" dirty="0"/>
              <a:t>OAuth2 = Authorization only</a:t>
            </a:r>
          </a:p>
          <a:p>
            <a:r>
              <a:rPr lang="en-US" sz="2400" dirty="0"/>
              <a:t>OIDC = Authorization + </a:t>
            </a:r>
            <a:r>
              <a:rPr lang="en-US" sz="2400" b="1" dirty="0"/>
              <a:t>Authentication</a:t>
            </a:r>
            <a:endParaRPr lang="en-US" sz="2400" dirty="0"/>
          </a:p>
          <a:p>
            <a:r>
              <a:rPr lang="en-US" sz="2400" dirty="0"/>
              <a:t>📄 </a:t>
            </a:r>
            <a:r>
              <a:rPr lang="en-US" sz="2400" b="1" dirty="0"/>
              <a:t>Tokens in OIDC:</a:t>
            </a:r>
            <a:endParaRPr lang="en-US" sz="2400" dirty="0"/>
          </a:p>
          <a:p>
            <a:r>
              <a:rPr lang="en-US" sz="2400" b="1" dirty="0"/>
              <a:t>Access Token</a:t>
            </a:r>
            <a:r>
              <a:rPr lang="en-US" sz="2400" dirty="0"/>
              <a:t> – Used to access resources (same as OAuth2)</a:t>
            </a:r>
          </a:p>
          <a:p>
            <a:r>
              <a:rPr lang="en-US" sz="2400" b="1" dirty="0"/>
              <a:t>ID Token</a:t>
            </a:r>
            <a:r>
              <a:rPr lang="en-US" sz="2400" dirty="0"/>
              <a:t> – JWT that contains user identity information (e.g., name, email)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DE05-5EC4-AC16-8BA5-7C668FF2EEA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What is OpenID Connect (OIDC)?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242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EDDECC-5F2D-75D5-242E-D1784496F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use </a:t>
            </a:r>
            <a:r>
              <a:rPr lang="en-US" b="1" dirty="0"/>
              <a:t>popular Identity Providers (IdPs)</a:t>
            </a:r>
            <a:r>
              <a:rPr lang="en-US" dirty="0"/>
              <a:t> like:</a:t>
            </a:r>
          </a:p>
          <a:p>
            <a:r>
              <a:rPr lang="en-US" dirty="0"/>
              <a:t>Keycloak (self-hosted)</a:t>
            </a:r>
          </a:p>
          <a:p>
            <a:r>
              <a:rPr lang="en-US" dirty="0"/>
              <a:t>Okta (cloud-based)</a:t>
            </a:r>
          </a:p>
          <a:p>
            <a:r>
              <a:rPr lang="en-US" dirty="0"/>
              <a:t>Auth0 (developer-focused SaaS)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ABD2-3C47-01DF-F7F8-E5F8D30E225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Integrating with Identity Providers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CF561-07AA-B03E-5F14-C02BD0F3D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68" y="3878436"/>
            <a:ext cx="7574652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773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281823" y="353698"/>
            <a:ext cx="11122056" cy="487762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Spring Boot + OIDC Integration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354BD1-DBF9-2DB0-B698-7D8FF5A3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" y="1321886"/>
            <a:ext cx="4871185" cy="32501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EA8AB7-04F0-A682-E1FA-C9F76E46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21886"/>
            <a:ext cx="6720840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83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55D2D-2199-97A7-F72F-DB3E9A3F6F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6651" y="1211315"/>
            <a:ext cx="8628591" cy="4134427"/>
          </a:xfrm>
        </p:spPr>
      </p:pic>
    </p:spTree>
    <p:extLst>
      <p:ext uri="{BB962C8B-B14F-4D97-AF65-F5344CB8AC3E}">
        <p14:creationId xmlns:p14="http://schemas.microsoft.com/office/powerpoint/2010/main" val="12179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Best Practices in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Microservices</a:t>
            </a:r>
            <a:r>
              <a:rPr lang="en-US" sz="5400" dirty="0">
                <a:ea typeface="Roboto" panose="02000000000000000000" pitchFamily="2" charset="0"/>
                <a:cs typeface="+mn-cs"/>
              </a:rPr>
              <a:t> Testing</a:t>
            </a:r>
          </a:p>
        </p:txBody>
      </p:sp>
    </p:spTree>
    <p:extLst>
      <p:ext uri="{BB962C8B-B14F-4D97-AF65-F5344CB8AC3E}">
        <p14:creationId xmlns:p14="http://schemas.microsoft.com/office/powerpoint/2010/main" val="2932228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Microservices bring flexibility, but also new attack surfaces.</a:t>
            </a:r>
          </a:p>
          <a:p>
            <a:pPr marL="0" indent="0">
              <a:buNone/>
            </a:pPr>
            <a:r>
              <a:rPr lang="en-IN" sz="2400" b="1" dirty="0"/>
              <a:t> 🚨 Common Vulnerabilities:</a:t>
            </a:r>
          </a:p>
          <a:p>
            <a:r>
              <a:rPr lang="en-IN" sz="2400" dirty="0"/>
              <a:t>❌ Insecure APIs (exposed endpoints)</a:t>
            </a:r>
          </a:p>
          <a:p>
            <a:r>
              <a:rPr lang="en-IN" sz="2400" dirty="0"/>
              <a:t>🔄 No authentication between internal services</a:t>
            </a:r>
          </a:p>
          <a:p>
            <a:r>
              <a:rPr lang="en-IN" sz="2400" dirty="0"/>
              <a:t>🕵️ Data leakage due to poor access controls</a:t>
            </a:r>
          </a:p>
          <a:p>
            <a:r>
              <a:rPr lang="en-IN" sz="2400" dirty="0"/>
              <a:t>📡 Unencrypted communication between services</a:t>
            </a:r>
          </a:p>
          <a:p>
            <a:r>
              <a:rPr lang="en-IN" sz="2400" dirty="0"/>
              <a:t>🔍 Missing audit logging</a:t>
            </a:r>
          </a:p>
          <a:p>
            <a:pPr marL="0" marR="1084580" indent="0" fontAlgn="base">
              <a:buClr>
                <a:schemeClr val="tx2">
                  <a:lumMod val="10000"/>
                  <a:lumOff val="90000"/>
                </a:schemeClr>
              </a:buClr>
              <a:buSzPts val="2800"/>
              <a:buNone/>
              <a:defRPr/>
            </a:pP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Common Security Challenges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3DEE43-AB25-2C70-407A-EB9667F1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24" y="2858307"/>
            <a:ext cx="3907951" cy="302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9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9BB20E-01B6-AC91-726D-74A6B7953A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✅ Security Strategies:</a:t>
            </a:r>
          </a:p>
          <a:p>
            <a:r>
              <a:rPr lang="en-IN" b="1" dirty="0"/>
              <a:t>HTTPS everywhere</a:t>
            </a:r>
            <a:r>
              <a:rPr lang="en-IN" dirty="0"/>
              <a:t> – Even internal services</a:t>
            </a:r>
          </a:p>
          <a:p>
            <a:r>
              <a:rPr lang="en-IN" b="1" dirty="0"/>
              <a:t>Central Authentication</a:t>
            </a:r>
            <a:r>
              <a:rPr lang="en-IN" dirty="0"/>
              <a:t> – Use OAuth2 or OIDC through API Gateway</a:t>
            </a:r>
          </a:p>
          <a:p>
            <a:r>
              <a:rPr lang="en-IN" b="1" dirty="0"/>
              <a:t>Token-based Access</a:t>
            </a:r>
            <a:r>
              <a:rPr lang="en-IN" dirty="0"/>
              <a:t> – Use JWTs for scalable stateless security</a:t>
            </a:r>
          </a:p>
          <a:p>
            <a:r>
              <a:rPr lang="en-IN" b="1" dirty="0"/>
              <a:t>Role-based &amp; Attribute-based Access Control (RBAC/ABAC)</a:t>
            </a:r>
            <a:endParaRPr lang="en-IN" dirty="0"/>
          </a:p>
          <a:p>
            <a:r>
              <a:rPr lang="en-IN" b="1" dirty="0"/>
              <a:t>Secure service-to-service calls</a:t>
            </a:r>
            <a:r>
              <a:rPr lang="en-IN" dirty="0"/>
              <a:t> – Mutual TLS (</a:t>
            </a:r>
            <a:r>
              <a:rPr lang="en-IN" dirty="0" err="1"/>
              <a:t>mTLS</a:t>
            </a:r>
            <a:r>
              <a:rPr lang="en-IN" dirty="0"/>
              <a:t>) or token relay</a:t>
            </a:r>
          </a:p>
          <a:p>
            <a:r>
              <a:rPr lang="en-IN" b="1" dirty="0"/>
              <a:t>Enforce Token Expiry &amp; Rotation</a:t>
            </a:r>
            <a:endParaRPr lang="en-IN" dirty="0"/>
          </a:p>
          <a:p>
            <a:r>
              <a:rPr lang="en-IN" b="1" dirty="0"/>
              <a:t>Zero Trust Model</a:t>
            </a:r>
            <a:r>
              <a:rPr lang="en-IN" dirty="0"/>
              <a:t> – Verify all interactions, no implicit trust</a:t>
            </a:r>
          </a:p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6D175-E6D6-399D-A378-5AC8A7221B4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476872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917A5-11CB-B7EA-BA87-D1ED6642A8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3054" y="1503454"/>
            <a:ext cx="11222297" cy="410486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E1238-2447-69D2-40D5-648749D9D84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Tools and Libraries</a:t>
            </a:r>
          </a:p>
        </p:txBody>
      </p:sp>
    </p:spTree>
    <p:extLst>
      <p:ext uri="{BB962C8B-B14F-4D97-AF65-F5344CB8AC3E}">
        <p14:creationId xmlns:p14="http://schemas.microsoft.com/office/powerpoint/2010/main" val="2142449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7493-B388-72BD-3759-015EF5099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55EB-C769-DE12-563E-B2F8F3FE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Dockerize Spring Boot applications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621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8C24-B680-6629-19FD-80169060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23F8-D999-0FD7-2DD9-9C746CB9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Version management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6312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BC70-AE04-4638-5954-8576DDAA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E0BA611-552E-D821-91F1-3390BB14851C}"/>
              </a:ext>
            </a:extLst>
          </p:cNvPr>
          <p:cNvSpPr/>
          <p:nvPr/>
        </p:nvSpPr>
        <p:spPr>
          <a:xfrm>
            <a:off x="1307939" y="1261641"/>
            <a:ext cx="1551008" cy="14584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Cbanking1-.0.0-030825.jar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3E1C8-A462-CF35-AC4E-32492DA6BA22}"/>
              </a:ext>
            </a:extLst>
          </p:cNvPr>
          <p:cNvSpPr txBox="1"/>
          <p:nvPr/>
        </p:nvSpPr>
        <p:spPr>
          <a:xfrm>
            <a:off x="1307939" y="509286"/>
            <a:ext cx="145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Dev region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21A295-7AD6-2BF0-782F-F910B89DE9C6}"/>
              </a:ext>
            </a:extLst>
          </p:cNvPr>
          <p:cNvSpPr/>
          <p:nvPr/>
        </p:nvSpPr>
        <p:spPr>
          <a:xfrm>
            <a:off x="3821574" y="1261641"/>
            <a:ext cx="1551008" cy="14584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Cbanking1-.0.0-030825.jar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095BA-05CC-B9CE-2D3E-8C696654277E}"/>
              </a:ext>
            </a:extLst>
          </p:cNvPr>
          <p:cNvSpPr txBox="1"/>
          <p:nvPr/>
        </p:nvSpPr>
        <p:spPr>
          <a:xfrm>
            <a:off x="3867873" y="555056"/>
            <a:ext cx="145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SIT region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DE3907-0744-190F-D92C-31243BD28ECB}"/>
              </a:ext>
            </a:extLst>
          </p:cNvPr>
          <p:cNvSpPr/>
          <p:nvPr/>
        </p:nvSpPr>
        <p:spPr>
          <a:xfrm>
            <a:off x="6096000" y="1261641"/>
            <a:ext cx="1551008" cy="14584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Cbanking1-.0.0-030825.jar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C2D9D-BDE9-389C-00E8-3A2F83B961E0}"/>
              </a:ext>
            </a:extLst>
          </p:cNvPr>
          <p:cNvSpPr txBox="1"/>
          <p:nvPr/>
        </p:nvSpPr>
        <p:spPr>
          <a:xfrm>
            <a:off x="6142299" y="555056"/>
            <a:ext cx="145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UAT region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052A06-E5C5-7497-8821-0516242EEACF}"/>
              </a:ext>
            </a:extLst>
          </p:cNvPr>
          <p:cNvSpPr/>
          <p:nvPr/>
        </p:nvSpPr>
        <p:spPr>
          <a:xfrm>
            <a:off x="8476528" y="1261641"/>
            <a:ext cx="1551008" cy="14584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Cbanking1-.0.0-030825.jar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2E68DE-F120-5736-71FF-9F8590EFFF29}"/>
              </a:ext>
            </a:extLst>
          </p:cNvPr>
          <p:cNvSpPr txBox="1"/>
          <p:nvPr/>
        </p:nvSpPr>
        <p:spPr>
          <a:xfrm>
            <a:off x="8522827" y="555056"/>
            <a:ext cx="145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prod region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247623-6003-463A-7005-0CBBAC6C1ED0}"/>
              </a:ext>
            </a:extLst>
          </p:cNvPr>
          <p:cNvSpPr/>
          <p:nvPr/>
        </p:nvSpPr>
        <p:spPr>
          <a:xfrm>
            <a:off x="2858947" y="4572000"/>
            <a:ext cx="4224759" cy="590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775199-8596-8CE5-B8F4-482DE45289C4}"/>
              </a:ext>
            </a:extLst>
          </p:cNvPr>
          <p:cNvSpPr/>
          <p:nvPr/>
        </p:nvSpPr>
        <p:spPr>
          <a:xfrm>
            <a:off x="2858947" y="3842795"/>
            <a:ext cx="1921397" cy="590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(log files)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0E2877-CE29-A64B-8C87-C1FAAD14734E}"/>
              </a:ext>
            </a:extLst>
          </p:cNvPr>
          <p:cNvSpPr/>
          <p:nvPr/>
        </p:nvSpPr>
        <p:spPr>
          <a:xfrm>
            <a:off x="5135301" y="3842795"/>
            <a:ext cx="1921397" cy="590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6535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E716D-9B50-3662-002C-0989AF45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08F114-ED9F-0C44-D76C-4DC85B633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725154" cy="4877624"/>
          </a:xfrm>
        </p:spPr>
        <p:txBody>
          <a:bodyPr/>
          <a:lstStyle/>
          <a:p>
            <a:pPr marL="0" indent="0">
              <a:buNone/>
            </a:pPr>
            <a:r>
              <a:rPr lang="en-IN" b="1" i="1" dirty="0"/>
              <a:t>Introduction to Docker and Spring Boot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Portability across environments</a:t>
            </a:r>
            <a:r>
              <a:rPr lang="en-IN" sz="2000" dirty="0"/>
              <a:t> - Run consistently from development to production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Consistent builds </a:t>
            </a:r>
            <a:r>
              <a:rPr lang="en-IN" sz="2000" dirty="0"/>
              <a:t>- Eliminate "it works on my machine" issues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Lightweight runtime </a:t>
            </a:r>
            <a:r>
              <a:rPr lang="en-IN" sz="2000" dirty="0"/>
              <a:t>- Efficient resource utilization and faster deployments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6193-78FE-C747-AA76-D96A361C62B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Dockerize Spring Boot Applications?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BA94F-6504-6B4B-80DE-3A0ADB781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18" r="13930"/>
          <a:stretch>
            <a:fillRect/>
          </a:stretch>
        </p:blipFill>
        <p:spPr>
          <a:xfrm>
            <a:off x="8385717" y="1182894"/>
            <a:ext cx="3312988" cy="542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59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47F6-BBBC-AC39-2042-676DCA6B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55861C-540E-FAFB-B0F1-CF15D3F36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327" y="1202042"/>
            <a:ext cx="3331573" cy="53483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1.Build your Spring Boot JAR: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26121-2C74-E201-FE84-6E1D8EB08F6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Dockerizing</a:t>
            </a:r>
            <a:r>
              <a:rPr lang="en-IN" dirty="0"/>
              <a:t> a Spring Boot App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4EBE487-6F6B-B056-DAE9-6EF78E090B15}"/>
              </a:ext>
            </a:extLst>
          </p:cNvPr>
          <p:cNvSpPr txBox="1">
            <a:spLocks/>
          </p:cNvSpPr>
          <p:nvPr/>
        </p:nvSpPr>
        <p:spPr>
          <a:xfrm>
            <a:off x="7221770" y="3997592"/>
            <a:ext cx="3331573" cy="5348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4. Run the Container: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D2F43C6F-49ED-C832-9E61-B89693EA8C89}"/>
              </a:ext>
            </a:extLst>
          </p:cNvPr>
          <p:cNvSpPr txBox="1">
            <a:spLocks/>
          </p:cNvSpPr>
          <p:nvPr/>
        </p:nvSpPr>
        <p:spPr>
          <a:xfrm>
            <a:off x="7221771" y="1135820"/>
            <a:ext cx="3331573" cy="5348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3. Build Docker Image: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2DCA012-01ED-8C1C-3482-ABC9F5DFEB1D}"/>
              </a:ext>
            </a:extLst>
          </p:cNvPr>
          <p:cNvSpPr txBox="1">
            <a:spLocks/>
          </p:cNvSpPr>
          <p:nvPr/>
        </p:nvSpPr>
        <p:spPr>
          <a:xfrm>
            <a:off x="493295" y="3382260"/>
            <a:ext cx="3331573" cy="5348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2. Create </a:t>
            </a:r>
            <a:r>
              <a:rPr lang="en-IN" sz="1800" b="1" dirty="0" err="1">
                <a:latin typeface="+mj-lt"/>
              </a:rPr>
              <a:t>Dockerfile</a:t>
            </a:r>
            <a:r>
              <a:rPr lang="en-IN" sz="1800" b="1" dirty="0">
                <a:latin typeface="+mj-lt"/>
              </a:rPr>
              <a:t>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744DDB0-1F56-AA87-50BD-EF08FF235DED}"/>
              </a:ext>
            </a:extLst>
          </p:cNvPr>
          <p:cNvSpPr/>
          <p:nvPr/>
        </p:nvSpPr>
        <p:spPr>
          <a:xfrm>
            <a:off x="570327" y="1840317"/>
            <a:ext cx="4393580" cy="14106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./mvnw clean package</a:t>
            </a:r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138C9E-7980-23EB-8D4B-5DD4EBB066F1}"/>
              </a:ext>
            </a:extLst>
          </p:cNvPr>
          <p:cNvSpPr/>
          <p:nvPr/>
        </p:nvSpPr>
        <p:spPr>
          <a:xfrm>
            <a:off x="7221771" y="1774096"/>
            <a:ext cx="4393580" cy="14106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docker build -t myapp:latest .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D2E2396-8D19-8A74-AA18-7CE638346CD1}"/>
              </a:ext>
            </a:extLst>
          </p:cNvPr>
          <p:cNvSpPr/>
          <p:nvPr/>
        </p:nvSpPr>
        <p:spPr>
          <a:xfrm>
            <a:off x="7221771" y="4532431"/>
            <a:ext cx="4393580" cy="141062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docker run -p 8080:8080 myapp:latest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1593FB-B6CA-69AF-6BDD-0344414ABF61}"/>
              </a:ext>
            </a:extLst>
          </p:cNvPr>
          <p:cNvSpPr/>
          <p:nvPr/>
        </p:nvSpPr>
        <p:spPr>
          <a:xfrm>
            <a:off x="227077" y="3917099"/>
            <a:ext cx="4393580" cy="20849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FROM openjdk:17-jdk-slim</a:t>
            </a:r>
          </a:p>
          <a:p>
            <a:pPr>
              <a:lnSpc>
                <a:spcPct val="150000"/>
              </a:lnSpc>
            </a:pPr>
            <a:r>
              <a:rPr lang="en-IN" dirty="0"/>
              <a:t>WORKDIR /app</a:t>
            </a:r>
          </a:p>
          <a:p>
            <a:pPr>
              <a:lnSpc>
                <a:spcPct val="150000"/>
              </a:lnSpc>
            </a:pPr>
            <a:r>
              <a:rPr lang="en-IN" dirty="0"/>
              <a:t>COPY target/myapp.jar app.jar</a:t>
            </a:r>
          </a:p>
          <a:p>
            <a:pPr>
              <a:lnSpc>
                <a:spcPct val="150000"/>
              </a:lnSpc>
            </a:pPr>
            <a:r>
              <a:rPr lang="en-IN" dirty="0"/>
              <a:t>ENTRYPOINT ["java", "-jar", "app.jar"]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80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282FA-B13C-64E3-F357-A4457BB3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0685F-FD6B-6F79-F9C8-761883D54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72" y="1182448"/>
            <a:ext cx="4014726" cy="4727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Architecture: Spring Boot in a Containerized Workflow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Developer builds JAR using Maven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Docker builds an image with app code and base JDK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Image pushed to container registry</a:t>
            </a:r>
            <a:r>
              <a:rPr lang="en-IN" sz="1600" dirty="0"/>
              <a:t> (e.g., Docker Hub, AWS ECR)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Container deployed to environments</a:t>
            </a:r>
            <a:r>
              <a:rPr lang="en-IN" sz="1600" dirty="0"/>
              <a:t> (Dev/QA/Prod) via Docker or 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8E3E2-6456-87AA-E17E-C7DC24BC2EF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Architecture &amp; Workflow Diagram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08EA56-1C7C-56A1-B4DA-67D3AA9B830E}"/>
              </a:ext>
            </a:extLst>
          </p:cNvPr>
          <p:cNvSpPr/>
          <p:nvPr/>
        </p:nvSpPr>
        <p:spPr>
          <a:xfrm>
            <a:off x="4750420" y="2291785"/>
            <a:ext cx="7216696" cy="25090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/>
              <a:t>[Developer] → [Spring Boot App] → [Docker Image] → [Registry]                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↓                               ↓</a:t>
            </a:r>
          </a:p>
          <a:p>
            <a:pPr algn="ctr">
              <a:lnSpc>
                <a:spcPct val="150000"/>
              </a:lnSpc>
            </a:pPr>
            <a:r>
              <a:rPr lang="en-US" b="1" dirty="0"/>
              <a:t>                           [Docker Build]           [Dev/Test/Prod Environment]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 ↓                               ↓</a:t>
            </a:r>
          </a:p>
          <a:p>
            <a:pPr algn="ctr">
              <a:lnSpc>
                <a:spcPct val="150000"/>
              </a:lnSpc>
            </a:pPr>
            <a:r>
              <a:rPr lang="en-US" b="1" dirty="0"/>
              <a:t>                    [Local Testing]      [Orchestration (K8s/Docker Swarm)]</a:t>
            </a:r>
          </a:p>
        </p:txBody>
      </p:sp>
    </p:spTree>
    <p:extLst>
      <p:ext uri="{BB962C8B-B14F-4D97-AF65-F5344CB8AC3E}">
        <p14:creationId xmlns:p14="http://schemas.microsoft.com/office/powerpoint/2010/main" val="27462313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1AAE6-ADF0-B339-DE4E-151F92F6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5DAE0-7DC9-25EE-8BE1-8CD56DE93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4971" y="1182448"/>
            <a:ext cx="10248257" cy="472769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IN" sz="1600" b="1" dirty="0"/>
              <a:t>Use multi-stage builds</a:t>
            </a:r>
            <a:r>
              <a:rPr lang="en-IN" sz="1600" dirty="0"/>
              <a:t> to reduce image size and improve security </a:t>
            </a:r>
          </a:p>
          <a:p>
            <a:pPr>
              <a:lnSpc>
                <a:spcPct val="170000"/>
              </a:lnSpc>
            </a:pPr>
            <a:r>
              <a:rPr lang="en-IN" sz="1600" b="1" dirty="0"/>
              <a:t>Base image selection:</a:t>
            </a:r>
            <a:r>
              <a:rPr lang="en-IN" sz="1600" dirty="0"/>
              <a:t> Use </a:t>
            </a:r>
            <a:r>
              <a:rPr lang="en-IN" sz="1600" i="1" dirty="0" err="1"/>
              <a:t>openjdk</a:t>
            </a:r>
            <a:r>
              <a:rPr lang="en-IN" sz="1600" i="1" dirty="0"/>
              <a:t>:&lt;version&gt;-slim </a:t>
            </a:r>
            <a:r>
              <a:rPr lang="en-IN" sz="1600" dirty="0"/>
              <a:t>or </a:t>
            </a:r>
            <a:r>
              <a:rPr lang="en-IN" sz="1600" i="1" dirty="0" err="1"/>
              <a:t>distroless</a:t>
            </a:r>
            <a:r>
              <a:rPr lang="en-IN" sz="1600" dirty="0"/>
              <a:t> for minimal footprint </a:t>
            </a:r>
          </a:p>
          <a:p>
            <a:pPr>
              <a:lnSpc>
                <a:spcPct val="170000"/>
              </a:lnSpc>
            </a:pPr>
            <a:r>
              <a:rPr lang="en-IN" sz="1600" b="1" dirty="0"/>
              <a:t>Externalize configuration</a:t>
            </a:r>
            <a:r>
              <a:rPr lang="en-IN" sz="1600" dirty="0"/>
              <a:t> using environment variables or mounted config files </a:t>
            </a:r>
          </a:p>
          <a:p>
            <a:pPr>
              <a:lnSpc>
                <a:spcPct val="170000"/>
              </a:lnSpc>
            </a:pPr>
            <a:r>
              <a:rPr lang="en-IN" sz="1600" b="1" dirty="0"/>
              <a:t>Tag images with meaningful names</a:t>
            </a:r>
            <a:r>
              <a:rPr lang="en-IN" sz="1600" dirty="0"/>
              <a:t> (e.g</a:t>
            </a:r>
            <a:r>
              <a:rPr lang="en-IN" sz="1600" i="1" dirty="0"/>
              <a:t>., myapp:1.0.0, myapp:latest</a:t>
            </a:r>
            <a:r>
              <a:rPr lang="en-IN" sz="1600" dirty="0"/>
              <a:t>) </a:t>
            </a:r>
          </a:p>
          <a:p>
            <a:pPr>
              <a:lnSpc>
                <a:spcPct val="170000"/>
              </a:lnSpc>
            </a:pPr>
            <a:r>
              <a:rPr lang="en-IN" sz="1600" b="1" dirty="0"/>
              <a:t>Use </a:t>
            </a:r>
            <a:r>
              <a:rPr lang="en-IN" sz="1600" b="1" i="1" dirty="0"/>
              <a:t>.</a:t>
            </a:r>
            <a:r>
              <a:rPr lang="en-IN" sz="1600" b="1" i="1" dirty="0" err="1"/>
              <a:t>dockerignore</a:t>
            </a:r>
            <a:r>
              <a:rPr lang="en-IN" sz="1600" dirty="0"/>
              <a:t> to optimize build context and reduce image size </a:t>
            </a:r>
          </a:p>
          <a:p>
            <a:pPr>
              <a:lnSpc>
                <a:spcPct val="170000"/>
              </a:lnSpc>
            </a:pPr>
            <a:r>
              <a:rPr lang="en-IN" sz="1600" b="1" dirty="0"/>
              <a:t>Ensure containers are stateless: 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	Log to </a:t>
            </a:r>
            <a:r>
              <a:rPr lang="en-IN" sz="1600" dirty="0" err="1"/>
              <a:t>stdout</a:t>
            </a:r>
            <a:r>
              <a:rPr lang="en-IN" sz="1600" dirty="0"/>
              <a:t> for container orchestration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	Use volumes for persistent data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	Store configuration externally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52B77-5768-0EAE-9FCE-BAC3DAAC1AB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IN" dirty="0"/>
              <a:t>Best Practices &amp;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572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6310-34A2-8E4D-39B2-6F209B5E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5808-C293-6ADA-B34A-C985A9FC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214821"/>
            <a:ext cx="11113251" cy="2428357"/>
          </a:xfrm>
        </p:spPr>
        <p:txBody>
          <a:bodyPr/>
          <a:lstStyle/>
          <a:p>
            <a:r>
              <a:rPr lang="en-US" sz="5400" dirty="0"/>
              <a:t>Docker Compose </a:t>
            </a:r>
            <a:br>
              <a:rPr lang="en-US" sz="5400" dirty="0"/>
            </a:br>
            <a:r>
              <a:rPr lang="en-US" sz="5400" dirty="0"/>
              <a:t>for </a:t>
            </a:r>
            <a:br>
              <a:rPr lang="en-US" sz="5400" dirty="0"/>
            </a:br>
            <a:r>
              <a:rPr lang="en-US" sz="5400" dirty="0"/>
              <a:t>multi-container apps 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697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5238-DD76-6AC3-E827-3A305840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187EDA-B649-0204-4AF9-2816F555A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479" y="1268098"/>
            <a:ext cx="8809461" cy="346001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/>
              <a:t>What is Docker Compose?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Tool for defining and managing multi-container Docker applications</a:t>
            </a:r>
            <a:endParaRPr lang="en-IN" sz="1700" dirty="0"/>
          </a:p>
          <a:p>
            <a:pPr>
              <a:lnSpc>
                <a:spcPct val="150000"/>
              </a:lnSpc>
            </a:pPr>
            <a:r>
              <a:rPr lang="en-IN" sz="1700" b="1" dirty="0"/>
              <a:t>Uses a docker-</a:t>
            </a:r>
            <a:r>
              <a:rPr lang="en-IN" sz="1700" b="1" dirty="0" err="1"/>
              <a:t>compose.yml</a:t>
            </a:r>
            <a:r>
              <a:rPr lang="en-IN" sz="1700" b="1" dirty="0"/>
              <a:t> file to configure:</a:t>
            </a:r>
            <a:r>
              <a:rPr lang="en-IN" sz="17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IN" sz="1700" b="1" dirty="0"/>
              <a:t>Services</a:t>
            </a:r>
            <a:r>
              <a:rPr lang="en-IN" sz="1700" dirty="0"/>
              <a:t> (containers)</a:t>
            </a:r>
          </a:p>
          <a:p>
            <a:pPr lvl="1">
              <a:lnSpc>
                <a:spcPct val="150000"/>
              </a:lnSpc>
            </a:pPr>
            <a:r>
              <a:rPr lang="en-IN" sz="1700" b="1" dirty="0"/>
              <a:t>Networks</a:t>
            </a:r>
            <a:endParaRPr lang="en-IN" sz="1700" dirty="0"/>
          </a:p>
          <a:p>
            <a:pPr lvl="1">
              <a:lnSpc>
                <a:spcPct val="150000"/>
              </a:lnSpc>
            </a:pPr>
            <a:r>
              <a:rPr lang="en-IN" sz="1700" b="1" dirty="0"/>
              <a:t>Volumes</a:t>
            </a:r>
            <a:endParaRPr lang="en-IN" sz="1700" dirty="0"/>
          </a:p>
          <a:p>
            <a:pPr>
              <a:lnSpc>
                <a:spcPct val="150000"/>
              </a:lnSpc>
            </a:pPr>
            <a:r>
              <a:rPr lang="en-IN" sz="1700" b="1" dirty="0"/>
              <a:t>Simplifies orchestration of app dependencies</a:t>
            </a:r>
            <a:r>
              <a:rPr lang="en-IN" sz="1700" dirty="0"/>
              <a:t> (e.g., DB, API, frontend)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39801-5B7E-83B9-DF1D-792D88A45E7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Docker Compose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04B503-E7CF-6AA6-F36E-0ACC3931E042}"/>
              </a:ext>
            </a:extLst>
          </p:cNvPr>
          <p:cNvSpPr/>
          <p:nvPr/>
        </p:nvSpPr>
        <p:spPr>
          <a:xfrm>
            <a:off x="1351156" y="5074942"/>
            <a:ext cx="9489687" cy="6802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[docker-</a:t>
            </a:r>
            <a:r>
              <a:rPr lang="en-US" dirty="0" err="1"/>
              <a:t>compose.yml</a:t>
            </a:r>
            <a:r>
              <a:rPr lang="en-US" dirty="0"/>
              <a:t>] → [Docker Compose CLI] → [Multiple Containers Started Together]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39B2D0-925F-169D-FF7E-36B4E997211B}"/>
              </a:ext>
            </a:extLst>
          </p:cNvPr>
          <p:cNvSpPr/>
          <p:nvPr/>
        </p:nvSpPr>
        <p:spPr>
          <a:xfrm>
            <a:off x="6739054" y="2430399"/>
            <a:ext cx="5047785" cy="16695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IN" sz="1400" b="1" dirty="0"/>
              <a:t>Example Use Cases: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Spring Boot app + MySQL + Redis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React frontend + Node.js backend + MongoDB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Microservices architecture with shared databases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856420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8096-3C55-8939-CCD9-F50681D1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FF3195-3E49-1F5B-ED1A-F485CEB9D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479" y="1268099"/>
            <a:ext cx="6646126" cy="1017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Anatomy of a docker-</a:t>
            </a:r>
            <a:r>
              <a:rPr lang="en-IN" sz="2000" b="1" dirty="0" err="1">
                <a:latin typeface="+mj-lt"/>
              </a:rPr>
              <a:t>compose.yml</a:t>
            </a:r>
            <a:r>
              <a:rPr lang="en-IN" sz="2000" b="1" dirty="0">
                <a:latin typeface="+mj-lt"/>
              </a:rPr>
              <a:t> File</a:t>
            </a:r>
          </a:p>
          <a:p>
            <a:pPr marL="0" indent="0">
              <a:buNone/>
            </a:pPr>
            <a:r>
              <a:rPr lang="en-IN" sz="1600" b="1" dirty="0"/>
              <a:t>Example for Spring Boot + MySQL setup: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5B33-794F-4655-2860-1AD06EACBE6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“docker-</a:t>
            </a:r>
            <a:r>
              <a:rPr lang="en-IN" dirty="0" err="1"/>
              <a:t>compose.yml</a:t>
            </a:r>
            <a:r>
              <a:rPr lang="en-IN" dirty="0"/>
              <a:t>” File Structure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469ACE-2624-6D12-3D0D-F609944805B5}"/>
              </a:ext>
            </a:extLst>
          </p:cNvPr>
          <p:cNvSpPr/>
          <p:nvPr/>
        </p:nvSpPr>
        <p:spPr>
          <a:xfrm>
            <a:off x="256479" y="2085278"/>
            <a:ext cx="3947531" cy="38434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IN" sz="1400" b="1" dirty="0"/>
              <a:t>version: '3.8'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services: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app: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build: .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ports: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- "8080:8080"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</a:t>
            </a:r>
            <a:r>
              <a:rPr lang="en-IN" sz="1400" b="1" dirty="0" err="1"/>
              <a:t>depends_on</a:t>
            </a:r>
            <a:r>
              <a:rPr lang="en-IN" sz="1400" b="1" dirty="0"/>
              <a:t>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- </a:t>
            </a:r>
            <a:r>
              <a:rPr lang="en-IN" sz="1400" b="1" dirty="0" err="1"/>
              <a:t>db</a:t>
            </a:r>
            <a:endParaRPr lang="en-IN" sz="1400" b="1" dirty="0"/>
          </a:p>
          <a:p>
            <a:pPr>
              <a:lnSpc>
                <a:spcPct val="120000"/>
              </a:lnSpc>
            </a:pPr>
            <a:r>
              <a:rPr lang="en-IN" sz="1400" b="1" dirty="0"/>
              <a:t>  </a:t>
            </a:r>
            <a:r>
              <a:rPr lang="en-IN" sz="1400" b="1" dirty="0" err="1"/>
              <a:t>db</a:t>
            </a:r>
            <a:r>
              <a:rPr lang="en-IN" sz="1400" b="1" dirty="0"/>
              <a:t>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image: mysql:8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environment: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MYSQL_ROOT_PASSWORD: root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MYSQL_DATABASE: </a:t>
            </a:r>
            <a:r>
              <a:rPr lang="en-IN" sz="1400" b="1" dirty="0" err="1"/>
              <a:t>appdb</a:t>
            </a:r>
            <a:endParaRPr lang="en-US" sz="1400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AACBCCB-97AB-803E-9F74-C809B354FF72}"/>
              </a:ext>
            </a:extLst>
          </p:cNvPr>
          <p:cNvSpPr txBox="1">
            <a:spLocks/>
          </p:cNvSpPr>
          <p:nvPr/>
        </p:nvSpPr>
        <p:spPr>
          <a:xfrm>
            <a:off x="4427034" y="2726486"/>
            <a:ext cx="7764965" cy="276176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+mj-lt"/>
              </a:rPr>
              <a:t>Key Concepts:</a:t>
            </a:r>
          </a:p>
          <a:p>
            <a:r>
              <a:rPr lang="en-IN" sz="1800" b="1" i="1" dirty="0"/>
              <a:t>Services</a:t>
            </a:r>
            <a:r>
              <a:rPr lang="en-IN" sz="1800" b="1" dirty="0"/>
              <a:t> - defines the application components</a:t>
            </a:r>
          </a:p>
          <a:p>
            <a:r>
              <a:rPr lang="en-IN" sz="1800" b="1" i="1" dirty="0"/>
              <a:t>Depends_on </a:t>
            </a:r>
            <a:r>
              <a:rPr lang="en-IN" sz="1800" b="1" dirty="0"/>
              <a:t>- defines container startup order</a:t>
            </a:r>
          </a:p>
          <a:p>
            <a:r>
              <a:rPr lang="en-IN" sz="1800" b="1" i="1" dirty="0"/>
              <a:t>Volumes, Networks </a:t>
            </a:r>
            <a:r>
              <a:rPr lang="en-IN" sz="1800" b="1" dirty="0"/>
              <a:t>- can be added for persistence and communication</a:t>
            </a:r>
          </a:p>
          <a:p>
            <a:r>
              <a:rPr lang="en-IN" sz="1800" b="1" i="1" dirty="0"/>
              <a:t>Environment </a:t>
            </a:r>
            <a:r>
              <a:rPr lang="en-IN" sz="1800" b="1" dirty="0"/>
              <a:t>- sets container environment variables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924835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53A0-D1E0-1586-9723-33D91DA5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7E9256-A8EA-8359-585B-0866866CD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478" y="1268098"/>
            <a:ext cx="9088243" cy="40264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Docker Compose in Action: Workflow Overview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Developer defines containers</a:t>
            </a:r>
            <a:r>
              <a:rPr lang="en-IN" sz="1600" dirty="0"/>
              <a:t> in </a:t>
            </a:r>
            <a:r>
              <a:rPr lang="en-IN" sz="1600" i="1" dirty="0"/>
              <a:t>docker-</a:t>
            </a:r>
            <a:r>
              <a:rPr lang="en-IN" sz="1600" i="1" dirty="0" err="1"/>
              <a:t>compose.yml</a:t>
            </a:r>
            <a:r>
              <a:rPr lang="en-IN" sz="1600" i="1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Single command starts all services:</a:t>
            </a:r>
            <a:r>
              <a:rPr lang="en-IN" sz="1600" dirty="0"/>
              <a:t> </a:t>
            </a:r>
            <a:r>
              <a:rPr lang="en-IN" sz="1600" i="1" dirty="0"/>
              <a:t>docker-compose up -d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Docker Compose handles:</a:t>
            </a:r>
            <a:r>
              <a:rPr lang="en-IN" sz="1600" dirty="0"/>
              <a:t>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600" dirty="0"/>
              <a:t>Network creation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600" dirty="0"/>
              <a:t>Volume mounting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600" dirty="0"/>
              <a:t>Dependency startup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Ideal for development, testing, CI/CD setups</a:t>
            </a: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6182-A280-C221-599B-78BC344B76F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Docker Compose Workflow &amp; Architecture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A6A53A-A6B9-B8B1-E82E-B575183CA643}"/>
              </a:ext>
            </a:extLst>
          </p:cNvPr>
          <p:cNvSpPr/>
          <p:nvPr/>
        </p:nvSpPr>
        <p:spPr>
          <a:xfrm>
            <a:off x="6289288" y="1284535"/>
            <a:ext cx="5557024" cy="23284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IN" sz="1400" b="1" dirty="0"/>
              <a:t>[ docker-</a:t>
            </a:r>
            <a:r>
              <a:rPr lang="en-IN" sz="1400" b="1" dirty="0" err="1"/>
              <a:t>compose.yml</a:t>
            </a:r>
            <a:r>
              <a:rPr lang="en-IN" sz="1400" b="1" dirty="0"/>
              <a:t> ]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    ↓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[ Docker Compose CLI ]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    ↓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[ App Container ] ←→ [ DB Container ] ←→ [ Cache Container ]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      ↓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    Shared Network / Volumes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F063F-2FE4-C60C-F08B-26759425D016}"/>
              </a:ext>
            </a:extLst>
          </p:cNvPr>
          <p:cNvSpPr txBox="1"/>
          <p:nvPr/>
        </p:nvSpPr>
        <p:spPr>
          <a:xfrm>
            <a:off x="6411952" y="3636191"/>
            <a:ext cx="5311697" cy="120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Benefits: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</a:rPr>
              <a:t>Single command deployment, consistent environments, simplified local development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960257-8A80-1282-AD3B-A54AA24B3A49}"/>
              </a:ext>
            </a:extLst>
          </p:cNvPr>
          <p:cNvSpPr/>
          <p:nvPr/>
        </p:nvSpPr>
        <p:spPr>
          <a:xfrm>
            <a:off x="6411952" y="4864814"/>
            <a:ext cx="5557024" cy="17028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IN" sz="1400" b="1" dirty="0">
                <a:latin typeface="+mj-lt"/>
              </a:rPr>
              <a:t>Key Commands Reference:</a:t>
            </a:r>
            <a:br>
              <a:rPr lang="en-IN" sz="1400" b="1" dirty="0"/>
            </a:br>
            <a:r>
              <a:rPr lang="en-IN" sz="1400" b="1" dirty="0"/>
              <a:t>docker-compose up -d        </a:t>
            </a:r>
            <a:r>
              <a:rPr lang="en-IN" sz="1400" b="1" i="1" dirty="0"/>
              <a:t># Start services in background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docker-compose down         </a:t>
            </a:r>
            <a:r>
              <a:rPr lang="en-IN" sz="1400" b="1" i="1" dirty="0"/>
              <a:t># Stop and remove containers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docker-compose logs         </a:t>
            </a:r>
            <a:r>
              <a:rPr lang="en-IN" sz="1400" b="1" i="1" dirty="0"/>
              <a:t># View service logs</a:t>
            </a:r>
          </a:p>
          <a:p>
            <a:pPr>
              <a:lnSpc>
                <a:spcPct val="120000"/>
              </a:lnSpc>
            </a:pPr>
            <a:r>
              <a:rPr lang="en-IN" sz="1400" b="1" dirty="0"/>
              <a:t>docker-compose </a:t>
            </a:r>
            <a:r>
              <a:rPr lang="en-IN" sz="1400" b="1" dirty="0" err="1"/>
              <a:t>ps</a:t>
            </a:r>
            <a:r>
              <a:rPr lang="en-IN" sz="1400" b="1" dirty="0"/>
              <a:t>           </a:t>
            </a:r>
            <a:r>
              <a:rPr lang="en-IN" sz="1400" b="1" i="1" dirty="0"/>
              <a:t># List running services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3321432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32AB8-C93A-61D1-D872-9A69E431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A403-61CA-B668-CA43-597ECEC4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1680460"/>
          </a:xfrm>
        </p:spPr>
        <p:txBody>
          <a:bodyPr/>
          <a:lstStyle/>
          <a:p>
            <a:r>
              <a:rPr lang="en-US" sz="5400" dirty="0"/>
              <a:t>Kubernetes basics </a:t>
            </a:r>
            <a:br>
              <a:rPr lang="en-US" sz="5400" dirty="0"/>
            </a:br>
            <a:r>
              <a:rPr lang="en-US" sz="5400" dirty="0"/>
              <a:t>(pods, services, deployments) 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050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DDC9-9136-2135-1F8C-D3FE83F8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8210EC-FF40-C9AE-7993-9FE2C91D5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56947"/>
            <a:ext cx="5305340" cy="35269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What is Kubernetes?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Open-source platform for automating container orchestration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Manages deployment, scaling, and operations</a:t>
            </a:r>
            <a:r>
              <a:rPr lang="en-IN" sz="1800" dirty="0"/>
              <a:t> of application containers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Ideal for microservices and distributed systems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5D21A-FDCF-9922-84CB-B3B67A14F28D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Kubernetes Core Concepts</a:t>
            </a:r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6DABBAE6-561E-87CC-D0D6-538D464CBF6F}"/>
              </a:ext>
            </a:extLst>
          </p:cNvPr>
          <p:cNvSpPr txBox="1">
            <a:spLocks/>
          </p:cNvSpPr>
          <p:nvPr/>
        </p:nvSpPr>
        <p:spPr>
          <a:xfrm>
            <a:off x="6054323" y="1256947"/>
            <a:ext cx="5955540" cy="2348614"/>
          </a:xfrm>
          <a:prstGeom prst="rect">
            <a:avLst/>
          </a:prstGeom>
        </p:spPr>
        <p:txBody>
          <a:bodyPr lIns="9144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Key Components: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n-lt"/>
              </a:rPr>
              <a:t>Pod - Smallest deployable unit (one or more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n-lt"/>
              </a:rPr>
              <a:t>Service - Exposes pods to internal/external traffic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n-lt"/>
              </a:rPr>
              <a:t>Deployment - Manages rollout and scaling of pod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BF8F0E-2422-7A64-F52E-838510A78F1B}"/>
              </a:ext>
            </a:extLst>
          </p:cNvPr>
          <p:cNvSpPr/>
          <p:nvPr/>
        </p:nvSpPr>
        <p:spPr>
          <a:xfrm>
            <a:off x="2464420" y="4293221"/>
            <a:ext cx="6668429" cy="17061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[Deployment] → [</a:t>
            </a:r>
            <a:r>
              <a:rPr lang="en-US" dirty="0" err="1"/>
              <a:t>ReplicaSet</a:t>
            </a:r>
            <a:r>
              <a:rPr lang="en-US" dirty="0"/>
              <a:t>] → [Pods] → [Containers]</a:t>
            </a:r>
          </a:p>
          <a:p>
            <a:pPr algn="ctr"/>
            <a:r>
              <a:rPr lang="en-US" dirty="0"/>
              <a:t>              </a:t>
            </a:r>
          </a:p>
          <a:p>
            <a:pPr algn="ctr"/>
            <a:r>
              <a:rPr lang="en-US" dirty="0"/>
              <a:t>               		</a:t>
            </a:r>
            <a:r>
              <a:rPr lang="en-IN" dirty="0"/>
              <a:t> </a:t>
            </a:r>
            <a:endParaRPr lang="en-US" dirty="0"/>
          </a:p>
          <a:p>
            <a:pPr algn="ctr"/>
            <a:r>
              <a:rPr lang="en-US" dirty="0"/>
              <a:t>                 </a:t>
            </a:r>
          </a:p>
          <a:p>
            <a:pPr algn="ctr"/>
            <a:r>
              <a:rPr lang="en-US" dirty="0"/>
              <a:t>			[Service] exposes Pods</a:t>
            </a:r>
          </a:p>
        </p:txBody>
      </p:sp>
      <p:sp>
        <p:nvSpPr>
          <p:cNvPr id="10" name="Up-down Arrow 9">
            <a:extLst>
              <a:ext uri="{FF2B5EF4-FFF2-40B4-BE49-F238E27FC236}">
                <a16:creationId xmlns:a16="http://schemas.microsoft.com/office/drawing/2014/main" id="{3C81073A-0A0E-81DD-30C1-D781D2C39398}"/>
              </a:ext>
            </a:extLst>
          </p:cNvPr>
          <p:cNvSpPr/>
          <p:nvPr/>
        </p:nvSpPr>
        <p:spPr>
          <a:xfrm>
            <a:off x="6601522" y="4821228"/>
            <a:ext cx="144966" cy="65012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206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B1FA-CC38-7BBE-85D8-FC714D03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2ED478-EA0C-FAA6-01E1-F9790C871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9588" y="1576327"/>
            <a:ext cx="5305340" cy="3526926"/>
          </a:xfrm>
        </p:spPr>
        <p:txBody>
          <a:bodyPr>
            <a:normAutofit/>
          </a:bodyPr>
          <a:lstStyle/>
          <a:p>
            <a:r>
              <a:rPr lang="en-IN" sz="1800" b="1" dirty="0"/>
              <a:t>A Pod is a wrapper around one or more containers</a:t>
            </a:r>
            <a:r>
              <a:rPr lang="en-IN" sz="1800" dirty="0"/>
              <a:t> </a:t>
            </a:r>
          </a:p>
          <a:p>
            <a:r>
              <a:rPr lang="en-IN" sz="1800" b="1" dirty="0"/>
              <a:t>Shared network namespace</a:t>
            </a:r>
            <a:r>
              <a:rPr lang="en-IN" sz="1800" dirty="0"/>
              <a:t> (localhost) and storage </a:t>
            </a:r>
          </a:p>
          <a:p>
            <a:r>
              <a:rPr lang="en-IN" sz="1800" b="1" dirty="0"/>
              <a:t>Used to co-locate tightly coupled containers</a:t>
            </a:r>
            <a:r>
              <a:rPr lang="en-IN" sz="1800" dirty="0"/>
              <a:t> (e.g., app + sidecar)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ABBA7-8A74-90DB-F6F0-D265532CD14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Understanding</a:t>
            </a:r>
            <a:r>
              <a:rPr lang="en-IN" b="1" dirty="0"/>
              <a:t> Pods in Kubernetes</a:t>
            </a:r>
            <a:endParaRPr lang="en-US" b="1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3D93A24-BF81-C153-0470-76F2B953260D}"/>
              </a:ext>
            </a:extLst>
          </p:cNvPr>
          <p:cNvSpPr txBox="1">
            <a:spLocks/>
          </p:cNvSpPr>
          <p:nvPr/>
        </p:nvSpPr>
        <p:spPr>
          <a:xfrm>
            <a:off x="3169588" y="4746834"/>
            <a:ext cx="7468675" cy="534839"/>
          </a:xfrm>
          <a:prstGeom prst="rect">
            <a:avLst/>
          </a:prstGeom>
        </p:spPr>
        <p:txBody>
          <a:bodyPr lIns="9144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2000" i="1" dirty="0">
                <a:latin typeface="+mj-lt"/>
              </a:rPr>
              <a:t>Best Practice: Don't run multiple unrelated containers in a pod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A00A44-986D-6B9F-EF02-4E4283EFC6DB}"/>
              </a:ext>
            </a:extLst>
          </p:cNvPr>
          <p:cNvSpPr/>
          <p:nvPr/>
        </p:nvSpPr>
        <p:spPr>
          <a:xfrm>
            <a:off x="237607" y="1360448"/>
            <a:ext cx="2746917" cy="39586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 err="1"/>
              <a:t>apiVersion</a:t>
            </a:r>
            <a:r>
              <a:rPr lang="en-US" dirty="0"/>
              <a:t>: v1</a:t>
            </a:r>
          </a:p>
          <a:p>
            <a:pPr>
              <a:lnSpc>
                <a:spcPct val="150000"/>
              </a:lnSpc>
            </a:pPr>
            <a:r>
              <a:rPr lang="en-US" dirty="0"/>
              <a:t>kind: Pod</a:t>
            </a:r>
          </a:p>
          <a:p>
            <a:pPr>
              <a:lnSpc>
                <a:spcPct val="150000"/>
              </a:lnSpc>
            </a:pPr>
            <a:r>
              <a:rPr lang="en-US" dirty="0"/>
              <a:t>metadata:</a:t>
            </a:r>
          </a:p>
          <a:p>
            <a:pPr>
              <a:lnSpc>
                <a:spcPct val="150000"/>
              </a:lnSpc>
            </a:pPr>
            <a:r>
              <a:rPr lang="en-US" dirty="0"/>
              <a:t>  name: </a:t>
            </a:r>
            <a:r>
              <a:rPr lang="en-US" dirty="0" err="1"/>
              <a:t>myapp</a:t>
            </a:r>
            <a:r>
              <a:rPr lang="en-US" dirty="0"/>
              <a:t>-pod</a:t>
            </a:r>
          </a:p>
          <a:p>
            <a:pPr>
              <a:lnSpc>
                <a:spcPct val="150000"/>
              </a:lnSpc>
            </a:pPr>
            <a:r>
              <a:rPr lang="en-US" dirty="0"/>
              <a:t>spec:</a:t>
            </a:r>
          </a:p>
          <a:p>
            <a:pPr>
              <a:lnSpc>
                <a:spcPct val="150000"/>
              </a:lnSpc>
            </a:pPr>
            <a:r>
              <a:rPr lang="en-US" dirty="0"/>
              <a:t>  containers:</a:t>
            </a:r>
          </a:p>
          <a:p>
            <a:pPr>
              <a:lnSpc>
                <a:spcPct val="150000"/>
              </a:lnSpc>
            </a:pPr>
            <a:r>
              <a:rPr lang="en-US" dirty="0"/>
              <a:t>    - name: app</a:t>
            </a:r>
          </a:p>
          <a:p>
            <a:pPr>
              <a:lnSpc>
                <a:spcPct val="150000"/>
              </a:lnSpc>
            </a:pPr>
            <a:r>
              <a:rPr lang="en-US" dirty="0"/>
              <a:t>      image: </a:t>
            </a:r>
            <a:r>
              <a:rPr lang="en-US" dirty="0" err="1"/>
              <a:t>myapp:latest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6A4B50-932B-A4CD-3115-1D1F3FFEEA9A}"/>
              </a:ext>
            </a:extLst>
          </p:cNvPr>
          <p:cNvSpPr/>
          <p:nvPr/>
        </p:nvSpPr>
        <p:spPr>
          <a:xfrm>
            <a:off x="3345366" y="3858322"/>
            <a:ext cx="6991814" cy="70252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[Pod] → contains [Container(s)] → shares IP &amp; volume</a:t>
            </a:r>
          </a:p>
        </p:txBody>
      </p:sp>
    </p:spTree>
    <p:extLst>
      <p:ext uri="{BB962C8B-B14F-4D97-AF65-F5344CB8AC3E}">
        <p14:creationId xmlns:p14="http://schemas.microsoft.com/office/powerpoint/2010/main" val="34900840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50F0-3893-2564-B820-951DBF83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057875-3BD4-E331-719B-53ADEE1E7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2972" y="1269667"/>
            <a:ext cx="4680872" cy="46946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Exposing Pods with Kubernetes Services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Pods are ephemeral</a:t>
            </a:r>
            <a:r>
              <a:rPr lang="en-IN" sz="1800" dirty="0"/>
              <a:t> - their IPs change frequently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Service provides stable endpoint</a:t>
            </a:r>
            <a:r>
              <a:rPr lang="en-IN" sz="1800" dirty="0"/>
              <a:t> to access pods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Types of Services: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ClusterIP</a:t>
            </a:r>
            <a:r>
              <a:rPr lang="en-IN" sz="1800" dirty="0"/>
              <a:t> (default) - Internal access only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NodePort</a:t>
            </a:r>
            <a:r>
              <a:rPr lang="en-IN" sz="1800" dirty="0"/>
              <a:t> - Expose on static port on each node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LoadBalancer</a:t>
            </a:r>
            <a:r>
              <a:rPr lang="en-IN" sz="1800" dirty="0"/>
              <a:t> - Provision external load balancer (cloud)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93F32-5854-2146-4995-DBDBBDA042F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Services</a:t>
            </a:r>
            <a:r>
              <a:rPr lang="en-IN" b="1" dirty="0"/>
              <a:t> and Networking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248FC0-6953-5343-5194-54382C993706}"/>
              </a:ext>
            </a:extLst>
          </p:cNvPr>
          <p:cNvSpPr/>
          <p:nvPr/>
        </p:nvSpPr>
        <p:spPr>
          <a:xfrm>
            <a:off x="189572" y="1174871"/>
            <a:ext cx="2746917" cy="469466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 err="1"/>
              <a:t>apiVersion</a:t>
            </a:r>
            <a:r>
              <a:rPr lang="en-US" dirty="0"/>
              <a:t>: v1</a:t>
            </a:r>
          </a:p>
          <a:p>
            <a:pPr>
              <a:lnSpc>
                <a:spcPct val="150000"/>
              </a:lnSpc>
            </a:pPr>
            <a:r>
              <a:rPr lang="en-US" dirty="0"/>
              <a:t>kind: Service</a:t>
            </a:r>
          </a:p>
          <a:p>
            <a:pPr>
              <a:lnSpc>
                <a:spcPct val="150000"/>
              </a:lnSpc>
            </a:pPr>
            <a:r>
              <a:rPr lang="en-US" dirty="0"/>
              <a:t>metadata:</a:t>
            </a:r>
          </a:p>
          <a:p>
            <a:pPr>
              <a:lnSpc>
                <a:spcPct val="150000"/>
              </a:lnSpc>
            </a:pPr>
            <a:r>
              <a:rPr lang="en-US" dirty="0"/>
              <a:t>  name: </a:t>
            </a:r>
            <a:r>
              <a:rPr lang="en-US" dirty="0" err="1"/>
              <a:t>myapp</a:t>
            </a:r>
            <a:r>
              <a:rPr lang="en-US" dirty="0"/>
              <a:t>-service</a:t>
            </a:r>
          </a:p>
          <a:p>
            <a:pPr>
              <a:lnSpc>
                <a:spcPct val="150000"/>
              </a:lnSpc>
            </a:pPr>
            <a:r>
              <a:rPr lang="en-US" dirty="0"/>
              <a:t>spec:</a:t>
            </a:r>
          </a:p>
          <a:p>
            <a:pPr>
              <a:lnSpc>
                <a:spcPct val="150000"/>
              </a:lnSpc>
            </a:pPr>
            <a:r>
              <a:rPr lang="en-US" dirty="0"/>
              <a:t>  type: </a:t>
            </a:r>
            <a:r>
              <a:rPr lang="en-US" dirty="0" err="1"/>
              <a:t>NodePort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 selector:</a:t>
            </a:r>
          </a:p>
          <a:p>
            <a:pPr>
              <a:lnSpc>
                <a:spcPct val="150000"/>
              </a:lnSpc>
            </a:pPr>
            <a:r>
              <a:rPr lang="en-US" dirty="0"/>
              <a:t>    app: </a:t>
            </a:r>
            <a:r>
              <a:rPr lang="en-US" dirty="0" err="1"/>
              <a:t>myapp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 ports:</a:t>
            </a:r>
          </a:p>
          <a:p>
            <a:pPr>
              <a:lnSpc>
                <a:spcPct val="150000"/>
              </a:lnSpc>
            </a:pPr>
            <a:r>
              <a:rPr lang="en-US" dirty="0"/>
              <a:t>    - port: 80</a:t>
            </a:r>
          </a:p>
          <a:p>
            <a:pPr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 err="1"/>
              <a:t>targetPort</a:t>
            </a:r>
            <a:r>
              <a:rPr lang="en-US" dirty="0"/>
              <a:t>: 8080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A329F3-1BB9-1BCA-600B-9D3919057C7B}"/>
              </a:ext>
            </a:extLst>
          </p:cNvPr>
          <p:cNvSpPr/>
          <p:nvPr/>
        </p:nvSpPr>
        <p:spPr>
          <a:xfrm>
            <a:off x="8173844" y="2752564"/>
            <a:ext cx="3735658" cy="13528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/>
              <a:t>[User] → [Service] → [Pod(s)]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  (stable IP)   (dynamic IPs)</a:t>
            </a:r>
          </a:p>
        </p:txBody>
      </p:sp>
    </p:spTree>
    <p:extLst>
      <p:ext uri="{BB962C8B-B14F-4D97-AF65-F5344CB8AC3E}">
        <p14:creationId xmlns:p14="http://schemas.microsoft.com/office/powerpoint/2010/main" val="2946773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0A1F-0E3B-8560-978C-651CD508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3EBE4-7B93-8EC0-4AC9-2BE0D062B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85354" y="1556595"/>
            <a:ext cx="4504305" cy="4694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Deployments for Scaling and Rollouts</a:t>
            </a:r>
          </a:p>
          <a:p>
            <a:r>
              <a:rPr lang="en-IN" sz="1800" b="1" dirty="0"/>
              <a:t>A Deployment manages pod replicas</a:t>
            </a:r>
            <a:r>
              <a:rPr lang="en-IN" sz="1800" dirty="0"/>
              <a:t> using ReplicaSets</a:t>
            </a:r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Automates:</a:t>
            </a:r>
          </a:p>
          <a:p>
            <a:r>
              <a:rPr lang="en-IN" sz="1800" b="1" dirty="0"/>
              <a:t>Scaling</a:t>
            </a:r>
            <a:r>
              <a:rPr lang="en-IN" sz="1800" dirty="0"/>
              <a:t> (horizontal)</a:t>
            </a:r>
          </a:p>
          <a:p>
            <a:r>
              <a:rPr lang="en-IN" sz="1800" b="1" dirty="0"/>
              <a:t>Rolling updates</a:t>
            </a:r>
            <a:endParaRPr lang="en-IN" sz="1800" dirty="0"/>
          </a:p>
          <a:p>
            <a:r>
              <a:rPr lang="en-IN" sz="1800" b="1" dirty="0"/>
              <a:t>Rollbacks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Key Attributes:</a:t>
            </a:r>
          </a:p>
          <a:p>
            <a:r>
              <a:rPr lang="en-IN" sz="1800" b="1" dirty="0"/>
              <a:t>Declarative</a:t>
            </a:r>
            <a:r>
              <a:rPr lang="en-IN" sz="1800" dirty="0"/>
              <a:t> (</a:t>
            </a:r>
            <a:r>
              <a:rPr lang="en-IN" sz="1800" i="1" dirty="0"/>
              <a:t>kubectl apply -f</a:t>
            </a:r>
            <a:r>
              <a:rPr lang="en-IN" sz="1800" dirty="0"/>
              <a:t>)</a:t>
            </a:r>
          </a:p>
          <a:p>
            <a:r>
              <a:rPr lang="en-IN" sz="1800" b="1" dirty="0"/>
              <a:t>Self-healing</a:t>
            </a:r>
            <a:r>
              <a:rPr lang="en-IN" sz="1800" dirty="0"/>
              <a:t> (recreates failed pods)</a:t>
            </a:r>
          </a:p>
          <a:p>
            <a:r>
              <a:rPr lang="en-IN" sz="1800" b="1" dirty="0"/>
              <a:t>Ideal for stateless services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FE00-4BC6-3267-631D-B5C5B89E3D6C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Deployments – Managing at Scale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D5F4A7-247F-3EAC-CC6A-BCA983258BAF}"/>
              </a:ext>
            </a:extLst>
          </p:cNvPr>
          <p:cNvSpPr/>
          <p:nvPr/>
        </p:nvSpPr>
        <p:spPr>
          <a:xfrm>
            <a:off x="181060" y="1247364"/>
            <a:ext cx="2966224" cy="53131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300" b="1" dirty="0" err="1"/>
              <a:t>apiVersion</a:t>
            </a:r>
            <a:r>
              <a:rPr lang="en-US" sz="1300" b="1" dirty="0"/>
              <a:t>: apps/v1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kind: Deployment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metadata: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name: </a:t>
            </a:r>
            <a:r>
              <a:rPr lang="en-US" sz="1300" b="1" dirty="0" err="1"/>
              <a:t>myapp</a:t>
            </a:r>
            <a:r>
              <a:rPr lang="en-US" sz="1300" b="1" dirty="0"/>
              <a:t>-deployment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spec: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replicas: 3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selector: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</a:t>
            </a:r>
            <a:r>
              <a:rPr lang="en-US" sz="1300" b="1" dirty="0" err="1"/>
              <a:t>matchLabels</a:t>
            </a:r>
            <a:r>
              <a:rPr lang="en-US" sz="1300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app: </a:t>
            </a:r>
            <a:r>
              <a:rPr lang="en-US" sz="1300" b="1" dirty="0" err="1"/>
              <a:t>myapp</a:t>
            </a:r>
            <a:endParaRPr lang="en-US" sz="1300" b="1" dirty="0"/>
          </a:p>
          <a:p>
            <a:pPr>
              <a:lnSpc>
                <a:spcPct val="150000"/>
              </a:lnSpc>
            </a:pPr>
            <a:r>
              <a:rPr lang="en-US" sz="1300" b="1" dirty="0"/>
              <a:t>  template: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metadata: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labels: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  app: </a:t>
            </a:r>
            <a:r>
              <a:rPr lang="en-US" sz="1300" b="1" dirty="0" err="1"/>
              <a:t>myapp</a:t>
            </a:r>
            <a:endParaRPr lang="en-US" sz="1300" b="1" dirty="0"/>
          </a:p>
          <a:p>
            <a:pPr>
              <a:lnSpc>
                <a:spcPct val="150000"/>
              </a:lnSpc>
            </a:pPr>
            <a:r>
              <a:rPr lang="en-US" sz="1300" b="1" dirty="0"/>
              <a:t>    spec: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containers: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  - name: app</a:t>
            </a:r>
          </a:p>
          <a:p>
            <a:pPr>
              <a:lnSpc>
                <a:spcPct val="150000"/>
              </a:lnSpc>
            </a:pPr>
            <a:r>
              <a:rPr lang="en-US" sz="1300" b="1" dirty="0"/>
              <a:t>          image: </a:t>
            </a:r>
            <a:r>
              <a:rPr lang="en-US" sz="1300" b="1" dirty="0" err="1"/>
              <a:t>myapp:latest</a:t>
            </a:r>
            <a:endParaRPr lang="en-US" sz="1300" b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3844D6-22C1-019F-3F7A-78EFBC91B4FD}"/>
              </a:ext>
            </a:extLst>
          </p:cNvPr>
          <p:cNvSpPr/>
          <p:nvPr/>
        </p:nvSpPr>
        <p:spPr>
          <a:xfrm>
            <a:off x="7639654" y="1247364"/>
            <a:ext cx="4104725" cy="16448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[Deployment] → [</a:t>
            </a:r>
            <a:r>
              <a:rPr lang="en-US" sz="1400" dirty="0" err="1"/>
              <a:t>ReplicaSet</a:t>
            </a:r>
            <a:r>
              <a:rPr lang="en-US" sz="1400" dirty="0"/>
              <a:t>] → [Pod 1]</a:t>
            </a:r>
          </a:p>
          <a:p>
            <a:pPr algn="ctr"/>
            <a:r>
              <a:rPr lang="en-US" sz="1400" dirty="0"/>
              <a:t>                         	           → [Pod 2]</a:t>
            </a:r>
          </a:p>
          <a:p>
            <a:pPr algn="ctr"/>
            <a:r>
              <a:rPr lang="en-US" sz="1400" dirty="0"/>
              <a:t>                        	            → [Pod 3]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	                    Rolling Update Process</a:t>
            </a:r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3615B64C-E42F-67A2-1984-5609CF9143C8}"/>
              </a:ext>
            </a:extLst>
          </p:cNvPr>
          <p:cNvSpPr/>
          <p:nvPr/>
        </p:nvSpPr>
        <p:spPr>
          <a:xfrm>
            <a:off x="10995102" y="2152185"/>
            <a:ext cx="78059" cy="32338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252649-61C1-A540-4300-7C727144FF9A}"/>
              </a:ext>
            </a:extLst>
          </p:cNvPr>
          <p:cNvSpPr/>
          <p:nvPr/>
        </p:nvSpPr>
        <p:spPr>
          <a:xfrm>
            <a:off x="7351580" y="3775472"/>
            <a:ext cx="4680872" cy="164480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400" b="1" dirty="0">
                <a:latin typeface="+mj-lt"/>
              </a:rPr>
              <a:t>Essential Commands:</a:t>
            </a:r>
            <a:endParaRPr lang="en-US" sz="14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200" dirty="0" err="1"/>
              <a:t>kubectl</a:t>
            </a:r>
            <a:r>
              <a:rPr lang="en-US" sz="1200" dirty="0"/>
              <a:t> apply -f </a:t>
            </a:r>
            <a:r>
              <a:rPr lang="en-US" sz="1200" dirty="0" err="1"/>
              <a:t>deployment.yaml</a:t>
            </a:r>
            <a:r>
              <a:rPr lang="en-US" sz="1200" dirty="0"/>
              <a:t>   	            </a:t>
            </a:r>
            <a:r>
              <a:rPr lang="en-US" sz="1200" i="1" dirty="0"/>
              <a:t># Deploy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kubectl</a:t>
            </a:r>
            <a:r>
              <a:rPr lang="en-US" sz="1200" dirty="0"/>
              <a:t> scale deployment </a:t>
            </a:r>
            <a:r>
              <a:rPr lang="en-US" sz="1200" dirty="0" err="1"/>
              <a:t>myapp</a:t>
            </a:r>
            <a:r>
              <a:rPr lang="en-US" sz="1200" dirty="0"/>
              <a:t> --replicas=5     </a:t>
            </a:r>
            <a:r>
              <a:rPr lang="en-US" sz="1200" i="1" dirty="0"/>
              <a:t># Scale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kubectl</a:t>
            </a:r>
            <a:r>
              <a:rPr lang="en-US" sz="1200" dirty="0"/>
              <a:t> rollout status deployment/</a:t>
            </a:r>
            <a:r>
              <a:rPr lang="en-US" sz="1200" dirty="0" err="1"/>
              <a:t>myapp</a:t>
            </a:r>
            <a:r>
              <a:rPr lang="en-US" sz="1200" dirty="0"/>
              <a:t>             </a:t>
            </a:r>
            <a:r>
              <a:rPr lang="en-US" sz="1200" i="1" dirty="0"/>
              <a:t># Check status</a:t>
            </a:r>
          </a:p>
        </p:txBody>
      </p:sp>
    </p:spTree>
    <p:extLst>
      <p:ext uri="{BB962C8B-B14F-4D97-AF65-F5344CB8AC3E}">
        <p14:creationId xmlns:p14="http://schemas.microsoft.com/office/powerpoint/2010/main" val="18409316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A1D0E-0730-57A6-5CCF-72A37A58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F248-C21E-C57E-8920-4752A0DE3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Kubernetes Cluster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563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BE14-2F20-8210-FC26-A3A401B70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F12451-72B8-125B-A360-8EDECB9F3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861206" cy="4877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A Kubernetes cluster is a set of nodes</a:t>
            </a:r>
            <a:r>
              <a:rPr lang="en-IN" sz="1800" dirty="0"/>
              <a:t> used to run containerized applications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Nodes can be physical or virtual machines</a:t>
            </a:r>
            <a:r>
              <a:rPr lang="en-IN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Cluster abstracts the infrastructure</a:t>
            </a:r>
            <a:r>
              <a:rPr lang="en-IN" sz="1800" dirty="0"/>
              <a:t>, allowing for: 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400" b="1" dirty="0"/>
              <a:t>Auto-scaling</a:t>
            </a:r>
            <a:r>
              <a:rPr lang="en-IN" sz="1400" dirty="0"/>
              <a:t> - Dynamic resource allocation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400" b="1" dirty="0"/>
              <a:t>Load balancing</a:t>
            </a:r>
            <a:r>
              <a:rPr lang="en-IN" sz="1400" dirty="0"/>
              <a:t> - Traffic distribution across nodes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400" b="1" dirty="0"/>
              <a:t>Fault tolerance</a:t>
            </a:r>
            <a:r>
              <a:rPr lang="en-IN" sz="1400" dirty="0"/>
              <a:t> - Self-healing and high availability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Orchestrates applications across multiple machines</a:t>
            </a:r>
            <a:r>
              <a:rPr lang="en-IN" sz="1800" dirty="0"/>
              <a:t> seamlessly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FFA16-A185-9A5E-0EC9-9A639E96C32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Kubernetes Cluster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8D9704-D34E-DB7E-7B4A-1A54D202DFB5}"/>
              </a:ext>
            </a:extLst>
          </p:cNvPr>
          <p:cNvSpPr/>
          <p:nvPr/>
        </p:nvSpPr>
        <p:spPr>
          <a:xfrm>
            <a:off x="6635265" y="1469985"/>
            <a:ext cx="5081286" cy="25117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[ Master Node ]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[ Worker Node 1 ]    [ Worker Node 2 ]</a:t>
            </a:r>
          </a:p>
          <a:p>
            <a:r>
              <a:rPr lang="en-US" dirty="0"/>
              <a:t>     ↓                    		 ↓</a:t>
            </a:r>
          </a:p>
          <a:p>
            <a:r>
              <a:rPr lang="en-US" dirty="0"/>
              <a:t>[ Pod(s) ]           	         [ Pod(s) 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008E0-3952-4058-A8D9-5C3CA05EE268}"/>
              </a:ext>
            </a:extLst>
          </p:cNvPr>
          <p:cNvSpPr txBox="1"/>
          <p:nvPr/>
        </p:nvSpPr>
        <p:spPr>
          <a:xfrm>
            <a:off x="6635265" y="4343509"/>
            <a:ext cx="45316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+mj-lt"/>
              </a:rPr>
              <a:t>Key Benefit: </a:t>
            </a:r>
          </a:p>
          <a:p>
            <a:r>
              <a:rPr lang="en-IN" sz="1600" i="1" dirty="0">
                <a:solidFill>
                  <a:schemeClr val="bg1"/>
                </a:solidFill>
              </a:rPr>
              <a:t>Single control point for managing distributed containerized workloads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07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D48A-6F3D-5AB3-D5B5-14CF1998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058CE3-B85E-1E45-4FFC-727D5E83D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861206" cy="487762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Master Node (Control Plane):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Kube-</a:t>
            </a:r>
            <a:r>
              <a:rPr lang="en-IN" sz="1800" b="1" dirty="0" err="1"/>
              <a:t>apiserver</a:t>
            </a:r>
            <a:r>
              <a:rPr lang="en-IN" sz="1800" dirty="0"/>
              <a:t> - Entry point for all commands (</a:t>
            </a:r>
            <a:r>
              <a:rPr lang="en-IN" sz="1800" dirty="0" err="1"/>
              <a:t>kubectl</a:t>
            </a:r>
            <a:r>
              <a:rPr lang="en-IN" sz="1800" dirty="0"/>
              <a:t>)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Etcd</a:t>
            </a:r>
            <a:r>
              <a:rPr lang="en-IN" sz="1800" dirty="0"/>
              <a:t> - Cluster state key-value store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Controller-manager</a:t>
            </a:r>
            <a:r>
              <a:rPr lang="en-IN" sz="1800" dirty="0"/>
              <a:t> - Manages cluster state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Scheduler</a:t>
            </a:r>
            <a:r>
              <a:rPr lang="en-IN" sz="1800" dirty="0"/>
              <a:t> - Assigns pods to nodes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Worker Node: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Kubelet</a:t>
            </a:r>
            <a:r>
              <a:rPr lang="en-IN" sz="1800" dirty="0"/>
              <a:t> - Communicates with control plane, runs 		     containers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Kube-proxy</a:t>
            </a:r>
            <a:r>
              <a:rPr lang="en-IN" sz="1800" dirty="0"/>
              <a:t> - Manages networking for pods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Container runtime</a:t>
            </a:r>
            <a:r>
              <a:rPr lang="en-IN" sz="1800" dirty="0"/>
              <a:t> - E.g., </a:t>
            </a:r>
            <a:r>
              <a:rPr lang="en-IN" sz="1800" dirty="0" err="1"/>
              <a:t>containerd</a:t>
            </a:r>
            <a:r>
              <a:rPr lang="en-IN" sz="1800" dirty="0"/>
              <a:t>,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3E02-ED3C-DBFD-4339-37262B31D8F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Kubernetes Cluster Architecture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85724D2-82EF-CEC4-7E5E-9B8CE894100F}"/>
              </a:ext>
            </a:extLst>
          </p:cNvPr>
          <p:cNvSpPr/>
          <p:nvPr/>
        </p:nvSpPr>
        <p:spPr>
          <a:xfrm>
            <a:off x="6354501" y="1935983"/>
            <a:ext cx="4838217" cy="35418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[Control Plane]</a:t>
            </a:r>
          </a:p>
          <a:p>
            <a:r>
              <a:rPr lang="en-US" sz="1400" dirty="0"/>
              <a:t>    ┌────────────────────────────┐</a:t>
            </a:r>
          </a:p>
          <a:p>
            <a:r>
              <a:rPr lang="en-US" sz="1400" dirty="0"/>
              <a:t>    │ API Server  │ Scheduler    		     │</a:t>
            </a:r>
          </a:p>
          <a:p>
            <a:r>
              <a:rPr lang="en-US" sz="1400" dirty="0"/>
              <a:t>    │ Controller   │ </a:t>
            </a:r>
            <a:r>
              <a:rPr lang="en-US" sz="1400" dirty="0" err="1"/>
              <a:t>etcd</a:t>
            </a:r>
            <a:r>
              <a:rPr lang="en-US" sz="1400" dirty="0"/>
              <a:t>        		     │</a:t>
            </a:r>
          </a:p>
          <a:p>
            <a:r>
              <a:rPr lang="en-US" sz="1400" dirty="0"/>
              <a:t>    └────────────────────────────┘</a:t>
            </a:r>
          </a:p>
          <a:p>
            <a:r>
              <a:rPr lang="en-US" sz="1400" dirty="0"/>
              <a:t>               </a:t>
            </a:r>
          </a:p>
          <a:p>
            <a:r>
              <a:rPr lang="en-US" sz="1400" dirty="0"/>
              <a:t>     ┌────────────┬────────────┐</a:t>
            </a:r>
          </a:p>
          <a:p>
            <a:r>
              <a:rPr lang="en-US" sz="1400" dirty="0"/>
              <a:t>     │ Worker Node.           │ Worker Nodem     │</a:t>
            </a:r>
          </a:p>
          <a:p>
            <a:r>
              <a:rPr lang="en-US" sz="1400" dirty="0"/>
              <a:t>     │ </a:t>
            </a:r>
            <a:r>
              <a:rPr lang="en-US" sz="1400" dirty="0" err="1"/>
              <a:t>kubelet</a:t>
            </a:r>
            <a:r>
              <a:rPr lang="en-US" sz="1400" dirty="0"/>
              <a:t>                      │ </a:t>
            </a:r>
            <a:r>
              <a:rPr lang="en-US" sz="1400" dirty="0" err="1"/>
              <a:t>kubelet</a:t>
            </a:r>
            <a:r>
              <a:rPr lang="en-US" sz="1400" dirty="0"/>
              <a:t>                    │</a:t>
            </a:r>
          </a:p>
          <a:p>
            <a:r>
              <a:rPr lang="en-US" sz="1400" dirty="0"/>
              <a:t>     │ </a:t>
            </a:r>
            <a:r>
              <a:rPr lang="en-US" sz="1400" dirty="0" err="1"/>
              <a:t>kube</a:t>
            </a:r>
            <a:r>
              <a:rPr lang="en-US" sz="1400" dirty="0"/>
              <a:t>-proxy                │ </a:t>
            </a:r>
            <a:r>
              <a:rPr lang="en-US" sz="1400" dirty="0" err="1"/>
              <a:t>kube</a:t>
            </a:r>
            <a:r>
              <a:rPr lang="en-US" sz="1400" dirty="0"/>
              <a:t>-proxy             │</a:t>
            </a:r>
          </a:p>
          <a:p>
            <a:r>
              <a:rPr lang="en-US" sz="1400" dirty="0"/>
              <a:t>     │ Pods                          │ Pods                        │</a:t>
            </a:r>
          </a:p>
          <a:p>
            <a:r>
              <a:rPr lang="en-US" sz="1400" dirty="0"/>
              <a:t>     └────────────┴────────────┘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8697366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ACDD-B2CD-AC85-15D8-1C42D111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2551D3-436D-B5B6-B3FA-DAE968D08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5861206" cy="4877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b="1" i="1" dirty="0" err="1"/>
              <a:t>Kubectl</a:t>
            </a:r>
            <a:r>
              <a:rPr lang="en-IN" sz="1800" b="1" i="1" dirty="0"/>
              <a:t> </a:t>
            </a:r>
            <a:r>
              <a:rPr lang="en-IN" sz="1800" b="1" dirty="0"/>
              <a:t>CLI talks to the API Server</a:t>
            </a:r>
            <a:r>
              <a:rPr lang="en-IN" sz="1800" dirty="0"/>
              <a:t> - All cluster interactions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Scheduler places pods</a:t>
            </a:r>
            <a:r>
              <a:rPr lang="en-IN" sz="1800" dirty="0"/>
              <a:t> on available worker nodes based on resources </a:t>
            </a:r>
          </a:p>
          <a:p>
            <a:pPr>
              <a:lnSpc>
                <a:spcPct val="150000"/>
              </a:lnSpc>
            </a:pPr>
            <a:r>
              <a:rPr lang="en-IN" sz="1800" b="1" dirty="0" err="1"/>
              <a:t>Kubelet</a:t>
            </a:r>
            <a:r>
              <a:rPr lang="en-IN" sz="1800" b="1" dirty="0"/>
              <a:t> pulls container images</a:t>
            </a:r>
            <a:r>
              <a:rPr lang="en-IN" sz="1800" dirty="0"/>
              <a:t> and runs containers on worker nodes 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Service discovery via internal DNS</a:t>
            </a:r>
            <a:r>
              <a:rPr lang="en-IN" sz="1800" dirty="0"/>
              <a:t> - Pods communicate by service names</a:t>
            </a:r>
          </a:p>
          <a:p>
            <a:pPr>
              <a:lnSpc>
                <a:spcPct val="150000"/>
              </a:lnSpc>
            </a:pPr>
            <a:r>
              <a:rPr lang="en-IN" sz="1800" b="1" i="1" dirty="0"/>
              <a:t>Kube-proxy</a:t>
            </a:r>
            <a:r>
              <a:rPr lang="en-IN" sz="1800" b="1" dirty="0"/>
              <a:t> routes external/internal traffic</a:t>
            </a:r>
            <a:r>
              <a:rPr lang="en-IN" sz="1800" dirty="0"/>
              <a:t> to appropriate pods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25DB-054B-70F8-754B-20016C36F3F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Cluster Communication Flow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62B543-23B0-A67C-19FA-6E9E28FFE2B3}"/>
              </a:ext>
            </a:extLst>
          </p:cNvPr>
          <p:cNvSpPr/>
          <p:nvPr/>
        </p:nvSpPr>
        <p:spPr>
          <a:xfrm>
            <a:off x="6696111" y="1597188"/>
            <a:ext cx="4838217" cy="18318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[</a:t>
            </a:r>
            <a:r>
              <a:rPr lang="en-US" sz="1400" dirty="0" err="1"/>
              <a:t>kubectl</a:t>
            </a:r>
            <a:r>
              <a:rPr lang="en-US" sz="1400" dirty="0"/>
              <a:t>] → [API Server] → [Scheduler/Controller]</a:t>
            </a:r>
          </a:p>
          <a:p>
            <a:r>
              <a:rPr lang="en-US" sz="1400" dirty="0"/>
              <a:t>     ↓                                   ↓</a:t>
            </a:r>
          </a:p>
          <a:p>
            <a:r>
              <a:rPr lang="en-US" sz="1400" dirty="0"/>
              <a:t>  [</a:t>
            </a:r>
            <a:r>
              <a:rPr lang="en-US" sz="1400" dirty="0" err="1"/>
              <a:t>etcd</a:t>
            </a:r>
            <a:r>
              <a:rPr lang="en-US" sz="1400" dirty="0"/>
              <a:t>]            [Worker Node → Pod]</a:t>
            </a:r>
          </a:p>
          <a:p>
            <a:r>
              <a:rPr lang="en-US" sz="1400" dirty="0"/>
              <a:t>     ↑                                   ↓</a:t>
            </a:r>
          </a:p>
          <a:p>
            <a:r>
              <a:rPr lang="en-US" sz="1400" dirty="0"/>
              <a:t>[State Store]      [Container Runtime]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1CD43-9479-BAAE-B8F1-682F3EADC23C}"/>
              </a:ext>
            </a:extLst>
          </p:cNvPr>
          <p:cNvSpPr txBox="1"/>
          <p:nvPr/>
        </p:nvSpPr>
        <p:spPr>
          <a:xfrm>
            <a:off x="6696111" y="3621112"/>
            <a:ext cx="586120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Data Flow: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 </a:t>
            </a:r>
          </a:p>
          <a:p>
            <a:r>
              <a:rPr lang="en-IN" sz="1600" dirty="0">
                <a:solidFill>
                  <a:schemeClr val="bg1"/>
                </a:solidFill>
              </a:rPr>
              <a:t>Commands → API → State Store → Worker Execution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2526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E5D-2F64-ED64-6D6B-DC0E0D22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37D209-D367-8E62-D737-76540A3B6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79658"/>
            <a:ext cx="5328771" cy="59325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Kubernetes Cluster in Practice:</a:t>
            </a:r>
          </a:p>
          <a:p>
            <a:r>
              <a:rPr lang="en-IN" sz="1600" dirty="0">
                <a:solidFill>
                  <a:schemeClr val="bg1"/>
                </a:solidFill>
                <a:latin typeface="+mn-lt"/>
              </a:rPr>
              <a:t>Used by organizations for:</a:t>
            </a:r>
          </a:p>
          <a:p>
            <a:r>
              <a:rPr lang="en-IN" sz="1600" dirty="0">
                <a:solidFill>
                  <a:schemeClr val="bg1"/>
                </a:solidFill>
                <a:latin typeface="+mn-lt"/>
              </a:rPr>
              <a:t>Microservice orchestration - Manage complex distributed applications</a:t>
            </a:r>
          </a:p>
          <a:p>
            <a:r>
              <a:rPr lang="en-IN" sz="1600" dirty="0">
                <a:solidFill>
                  <a:schemeClr val="bg1"/>
                </a:solidFill>
                <a:latin typeface="+mn-lt"/>
              </a:rPr>
              <a:t>CI/CD pipeline environments - Automated testing and deployment</a:t>
            </a:r>
          </a:p>
          <a:p>
            <a:r>
              <a:rPr lang="en-IN" sz="1600" dirty="0">
                <a:solidFill>
                  <a:schemeClr val="bg1"/>
                </a:solidFill>
                <a:latin typeface="+mn-lt"/>
              </a:rPr>
              <a:t>Auto-scaled cloud-native workloads - Dynamic resource management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Best Practices:</a:t>
            </a:r>
          </a:p>
          <a:p>
            <a:pPr marL="285750" indent="-285750"/>
            <a:r>
              <a:rPr lang="en-IN" sz="1600" dirty="0">
                <a:solidFill>
                  <a:schemeClr val="bg1"/>
                </a:solidFill>
              </a:rPr>
              <a:t>Use namespaces for resource isolation between teams/environments</a:t>
            </a:r>
          </a:p>
          <a:p>
            <a:pPr marL="285750" indent="-285750"/>
            <a:r>
              <a:rPr lang="en-IN" sz="1600" dirty="0">
                <a:solidFill>
                  <a:schemeClr val="bg1"/>
                </a:solidFill>
              </a:rPr>
              <a:t>Enable RBAC for access control and security</a:t>
            </a:r>
          </a:p>
          <a:p>
            <a:pPr marL="285750" indent="-285750"/>
            <a:r>
              <a:rPr lang="en-IN" sz="1600" dirty="0">
                <a:solidFill>
                  <a:schemeClr val="bg1"/>
                </a:solidFill>
              </a:rPr>
              <a:t>Monitor with Prometheus + Grafana for observability</a:t>
            </a:r>
          </a:p>
          <a:p>
            <a:pPr marL="285750" indent="-285750"/>
            <a:r>
              <a:rPr lang="en-IN" sz="1600" dirty="0">
                <a:solidFill>
                  <a:schemeClr val="bg1"/>
                </a:solidFill>
              </a:rPr>
              <a:t>Regularly back up </a:t>
            </a:r>
            <a:r>
              <a:rPr lang="en-IN" sz="1600" dirty="0" err="1">
                <a:solidFill>
                  <a:schemeClr val="bg1"/>
                </a:solidFill>
              </a:rPr>
              <a:t>etcd</a:t>
            </a:r>
            <a:r>
              <a:rPr lang="en-IN" sz="1600" dirty="0">
                <a:solidFill>
                  <a:schemeClr val="bg1"/>
                </a:solidFill>
              </a:rPr>
              <a:t> for disaster recovery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542E-A12D-B58D-A11F-171A9CC705AB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Real-World Use Cases &amp; Best Practices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3529D-969C-E15E-5A0A-E3C55C95DBC7}"/>
              </a:ext>
            </a:extLst>
          </p:cNvPr>
          <p:cNvSpPr txBox="1"/>
          <p:nvPr/>
        </p:nvSpPr>
        <p:spPr>
          <a:xfrm>
            <a:off x="6054323" y="1185925"/>
            <a:ext cx="5895372" cy="2636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Enterprise Considerations: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Multi-zone deployment for high availability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Resource quotas to prevent resource exhaustion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Network policies for micro-segmentation security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Production Readiness: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</a:rPr>
              <a:t> Proper monitoring, backup strategies, and security controls are essential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CD4C7F-194F-94D2-44AF-8139467F1808}"/>
              </a:ext>
            </a:extLst>
          </p:cNvPr>
          <p:cNvSpPr/>
          <p:nvPr/>
        </p:nvSpPr>
        <p:spPr>
          <a:xfrm>
            <a:off x="6054323" y="4109492"/>
            <a:ext cx="5853695" cy="156258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dirty="0"/>
              <a:t>Quick Reference Commands:</a:t>
            </a:r>
            <a:br>
              <a:rPr lang="en-US" sz="1400" dirty="0"/>
            </a:br>
            <a:r>
              <a:rPr lang="en-US" sz="1400" dirty="0" err="1"/>
              <a:t>kubectl</a:t>
            </a:r>
            <a:r>
              <a:rPr lang="en-US" sz="1400" dirty="0"/>
              <a:t> cluster-info          	           </a:t>
            </a:r>
            <a:r>
              <a:rPr lang="en-US" sz="1400" i="1" dirty="0"/>
              <a:t># View cluster information</a:t>
            </a:r>
          </a:p>
          <a:p>
            <a:r>
              <a:rPr lang="en-US" sz="1400" dirty="0" err="1"/>
              <a:t>kubectl</a:t>
            </a:r>
            <a:r>
              <a:rPr lang="en-US" sz="1400" dirty="0"/>
              <a:t> get nodes           	           </a:t>
            </a:r>
            <a:r>
              <a:rPr lang="en-US" sz="1400" i="1" dirty="0"/>
              <a:t># List cluster nodes</a:t>
            </a:r>
          </a:p>
          <a:p>
            <a:r>
              <a:rPr lang="en-US" sz="1400" dirty="0" err="1"/>
              <a:t>kubectl</a:t>
            </a:r>
            <a:r>
              <a:rPr lang="en-US" sz="1400" dirty="0"/>
              <a:t> get pods --all-namespaces             </a:t>
            </a:r>
            <a:r>
              <a:rPr lang="en-US" sz="1400" i="1" dirty="0"/>
              <a:t># View all pods</a:t>
            </a:r>
          </a:p>
          <a:p>
            <a:r>
              <a:rPr lang="en-US" sz="1400" dirty="0" err="1"/>
              <a:t>kubectl</a:t>
            </a:r>
            <a:r>
              <a:rPr lang="en-US" sz="1400" dirty="0"/>
              <a:t> describe node &lt;node-name&gt;          </a:t>
            </a:r>
            <a:r>
              <a:rPr lang="en-US" sz="1400" i="1" dirty="0"/>
              <a:t># Node details</a:t>
            </a:r>
          </a:p>
        </p:txBody>
      </p:sp>
    </p:spTree>
    <p:extLst>
      <p:ext uri="{BB962C8B-B14F-4D97-AF65-F5344CB8AC3E}">
        <p14:creationId xmlns:p14="http://schemas.microsoft.com/office/powerpoint/2010/main" val="2549398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8F73-69D9-C8D3-9E09-CF36B838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B4E6-74EE-A2B2-0A3D-CE2D0E48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Helm, ConfigMaps, Secrets 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6654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2514-98AA-8731-FB77-DA2E73DE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BB0DFE-CD53-1022-24A0-9305D17C4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3327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Helm is a Kubernetes package manager:</a:t>
            </a:r>
          </a:p>
          <a:p>
            <a:r>
              <a:rPr lang="en-IN" sz="1800" b="1" dirty="0"/>
              <a:t>Simplifies deployment of applications</a:t>
            </a:r>
            <a:r>
              <a:rPr lang="en-IN" sz="1800" dirty="0"/>
              <a:t> using pre-configured </a:t>
            </a:r>
            <a:r>
              <a:rPr lang="en-IN" sz="1800" b="1" dirty="0"/>
              <a:t>Helm charts</a:t>
            </a:r>
            <a:r>
              <a:rPr lang="en-IN" sz="1800" dirty="0"/>
              <a:t> </a:t>
            </a:r>
          </a:p>
          <a:p>
            <a:r>
              <a:rPr lang="en-IN" sz="1800" b="1" dirty="0"/>
              <a:t>Charts bundle Kubernetes YAMLs</a:t>
            </a:r>
            <a:r>
              <a:rPr lang="en-IN" sz="1800" dirty="0"/>
              <a:t> as reusable templates </a:t>
            </a:r>
          </a:p>
          <a:p>
            <a:r>
              <a:rPr lang="en-IN" sz="1800" b="1" dirty="0"/>
              <a:t>Similar to </a:t>
            </a:r>
            <a:r>
              <a:rPr lang="en-IN" sz="1800" b="1" i="1" dirty="0"/>
              <a:t>apt</a:t>
            </a:r>
            <a:r>
              <a:rPr lang="en-IN" sz="1800" b="1" dirty="0"/>
              <a:t> or </a:t>
            </a:r>
            <a:r>
              <a:rPr lang="en-IN" sz="1800" b="1" i="1" dirty="0"/>
              <a:t>yum</a:t>
            </a:r>
            <a:r>
              <a:rPr lang="en-IN" sz="1800" dirty="0"/>
              <a:t> for K8s apps</a:t>
            </a:r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Use Cases:</a:t>
            </a:r>
          </a:p>
          <a:p>
            <a:r>
              <a:rPr lang="en-IN" sz="1800" b="1" dirty="0"/>
              <a:t>Deploying microservices</a:t>
            </a:r>
            <a:r>
              <a:rPr lang="en-IN" sz="1800" dirty="0"/>
              <a:t> with one command</a:t>
            </a:r>
          </a:p>
          <a:p>
            <a:r>
              <a:rPr lang="en-IN" sz="1800" b="1" dirty="0"/>
              <a:t>Managing complex apps</a:t>
            </a:r>
            <a:r>
              <a:rPr lang="en-IN" sz="1800" dirty="0"/>
              <a:t> with dependencies</a:t>
            </a:r>
          </a:p>
          <a:p>
            <a:r>
              <a:rPr lang="en-IN" sz="1800" b="1" dirty="0"/>
              <a:t>Promoting releases</a:t>
            </a:r>
            <a:r>
              <a:rPr lang="en-IN" sz="1800" dirty="0"/>
              <a:t> between environments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1DD0-6EC6-8192-4E6F-226AC68AC91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Helm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596E791-5474-523B-38BD-5D409353621B}"/>
              </a:ext>
            </a:extLst>
          </p:cNvPr>
          <p:cNvSpPr/>
          <p:nvPr/>
        </p:nvSpPr>
        <p:spPr>
          <a:xfrm>
            <a:off x="1140870" y="4897084"/>
            <a:ext cx="9826906" cy="7986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[Helm Chart] → [Templates] → [Rendered YAMLs] → [Kubernetes Cluster]</a:t>
            </a:r>
          </a:p>
        </p:txBody>
      </p:sp>
    </p:spTree>
    <p:extLst>
      <p:ext uri="{BB962C8B-B14F-4D97-AF65-F5344CB8AC3E}">
        <p14:creationId xmlns:p14="http://schemas.microsoft.com/office/powerpoint/2010/main" val="1758924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B91E-0D38-41B2-BB97-EBC3CD2D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2CD1BD-C091-79DA-6293-2A83ADC49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0855"/>
            <a:ext cx="5340346" cy="2160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  <a:latin typeface="+mj-lt"/>
              </a:rPr>
              <a:t>Helm Chart Directory Layout</a:t>
            </a:r>
          </a:p>
          <a:p>
            <a:r>
              <a:rPr lang="en-IN" sz="1800" dirty="0">
                <a:solidFill>
                  <a:schemeClr val="bg1"/>
                </a:solidFill>
              </a:rPr>
              <a:t>Metadata about the chart - </a:t>
            </a:r>
            <a:r>
              <a:rPr lang="en-IN" sz="1800" b="1" i="1" dirty="0" err="1">
                <a:solidFill>
                  <a:schemeClr val="bg1"/>
                </a:solidFill>
              </a:rPr>
              <a:t>Chart.yaml</a:t>
            </a:r>
            <a:r>
              <a:rPr lang="en-IN" sz="1800" i="1" dirty="0">
                <a:solidFill>
                  <a:schemeClr val="bg1"/>
                </a:solidFill>
              </a:rPr>
              <a:t> </a:t>
            </a:r>
          </a:p>
          <a:p>
            <a:r>
              <a:rPr lang="en-IN" sz="1800" dirty="0">
                <a:solidFill>
                  <a:schemeClr val="bg1"/>
                </a:solidFill>
              </a:rPr>
              <a:t>Default configuration values - </a:t>
            </a:r>
            <a:r>
              <a:rPr lang="en-IN" sz="1800" b="1" i="1" dirty="0" err="1">
                <a:solidFill>
                  <a:schemeClr val="bg1"/>
                </a:solidFill>
              </a:rPr>
              <a:t>values.yaml</a:t>
            </a:r>
            <a:r>
              <a:rPr lang="en-IN" sz="1800" i="1" dirty="0">
                <a:solidFill>
                  <a:schemeClr val="bg1"/>
                </a:solidFill>
              </a:rPr>
              <a:t> </a:t>
            </a:r>
          </a:p>
          <a:p>
            <a:r>
              <a:rPr lang="en-IN" sz="1800" dirty="0">
                <a:solidFill>
                  <a:schemeClr val="bg1"/>
                </a:solidFill>
              </a:rPr>
              <a:t>Directory for YAML templates - </a:t>
            </a:r>
            <a:r>
              <a:rPr lang="en-IN" sz="1800" b="1" i="1" dirty="0">
                <a:solidFill>
                  <a:schemeClr val="bg1"/>
                </a:solidFill>
              </a:rPr>
              <a:t>templates/</a:t>
            </a:r>
            <a:r>
              <a:rPr lang="en-IN" sz="1800" i="1" dirty="0">
                <a:solidFill>
                  <a:schemeClr val="bg1"/>
                </a:solidFill>
              </a:rPr>
              <a:t> </a:t>
            </a:r>
          </a:p>
          <a:p>
            <a:r>
              <a:rPr lang="en-IN" sz="1800" dirty="0" err="1">
                <a:solidFill>
                  <a:schemeClr val="bg1"/>
                </a:solidFill>
              </a:rPr>
              <a:t>Subcharts</a:t>
            </a:r>
            <a:r>
              <a:rPr lang="en-IN" sz="1800" dirty="0">
                <a:solidFill>
                  <a:schemeClr val="bg1"/>
                </a:solidFill>
              </a:rPr>
              <a:t> (dependencies) - </a:t>
            </a:r>
            <a:r>
              <a:rPr lang="en-IN" sz="1800" b="1" i="1" dirty="0">
                <a:solidFill>
                  <a:schemeClr val="bg1"/>
                </a:solidFill>
              </a:rPr>
              <a:t>charts/</a:t>
            </a:r>
            <a:r>
              <a:rPr lang="en-IN" sz="1800" i="1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CC0F-03A9-E1A4-4760-9CABB4D64D0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Helm Chart Structure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657982-F7DE-098C-90DA-711EA194B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5" y="3540971"/>
            <a:ext cx="7772400" cy="2418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C50038-4629-3A65-C520-F8A5C4741EF7}"/>
              </a:ext>
            </a:extLst>
          </p:cNvPr>
          <p:cNvSpPr txBox="1"/>
          <p:nvPr/>
        </p:nvSpPr>
        <p:spPr>
          <a:xfrm>
            <a:off x="5833641" y="1330237"/>
            <a:ext cx="6105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+mj-lt"/>
              </a:rPr>
              <a:t>Key Benefits: </a:t>
            </a:r>
          </a:p>
          <a:p>
            <a:r>
              <a:rPr lang="en-IN" dirty="0">
                <a:solidFill>
                  <a:schemeClr val="bg1"/>
                </a:solidFill>
              </a:rPr>
              <a:t>Templating, versioning, dependency management, rollback capabilities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624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E3E1-31BD-772C-DF79-E3D82898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26163B-C333-C74E-1549-FF1752B6A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0855"/>
            <a:ext cx="7296467" cy="4454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Using Helm – Commands and Workflow</a:t>
            </a:r>
          </a:p>
          <a:p>
            <a:r>
              <a:rPr lang="en-IN" sz="1800" b="1" dirty="0"/>
              <a:t>Install a chart:</a:t>
            </a:r>
            <a:r>
              <a:rPr lang="en-IN" sz="1800" dirty="0"/>
              <a:t> </a:t>
            </a:r>
            <a:r>
              <a:rPr lang="en-IN" sz="1800" i="1" dirty="0"/>
              <a:t>helm install my-app ./</a:t>
            </a:r>
            <a:r>
              <a:rPr lang="en-IN" sz="1800" i="1" dirty="0" err="1"/>
              <a:t>mychart</a:t>
            </a:r>
            <a:endParaRPr lang="en-IN" sz="1800" i="1" dirty="0"/>
          </a:p>
          <a:p>
            <a:r>
              <a:rPr lang="en-IN" sz="1800" b="1" dirty="0"/>
              <a:t>Upgrade a release:</a:t>
            </a:r>
            <a:r>
              <a:rPr lang="en-IN" sz="1800" dirty="0"/>
              <a:t> </a:t>
            </a:r>
            <a:r>
              <a:rPr lang="en-IN" sz="1800" i="1" dirty="0"/>
              <a:t>helm upgrade my-app ./</a:t>
            </a:r>
            <a:r>
              <a:rPr lang="en-IN" sz="1800" i="1" dirty="0" err="1"/>
              <a:t>mychart</a:t>
            </a:r>
            <a:endParaRPr lang="en-IN" sz="1800" i="1" dirty="0"/>
          </a:p>
          <a:p>
            <a:r>
              <a:rPr lang="en-IN" sz="1800" b="1" dirty="0"/>
              <a:t>Uninstall:</a:t>
            </a:r>
            <a:r>
              <a:rPr lang="en-IN" sz="1800" dirty="0"/>
              <a:t> </a:t>
            </a:r>
            <a:r>
              <a:rPr lang="en-IN" sz="1800" i="1" dirty="0"/>
              <a:t>helm uninstall my-app</a:t>
            </a:r>
          </a:p>
          <a:p>
            <a:r>
              <a:rPr lang="en-IN" sz="1800" b="1" dirty="0"/>
              <a:t>Template rendering:</a:t>
            </a:r>
            <a:r>
              <a:rPr lang="en-IN" sz="1800" dirty="0"/>
              <a:t> helm template </a:t>
            </a:r>
            <a:r>
              <a:rPr lang="en-IN" sz="1800" i="1" dirty="0"/>
              <a:t>./</a:t>
            </a:r>
            <a:r>
              <a:rPr lang="en-IN" sz="1800" i="1" dirty="0" err="1"/>
              <a:t>mychart</a:t>
            </a:r>
            <a:endParaRPr lang="en-IN" sz="1800" i="1" dirty="0"/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Additional Commands:</a:t>
            </a:r>
          </a:p>
          <a:p>
            <a:r>
              <a:rPr lang="en-IN" sz="1800" dirty="0"/>
              <a:t>Show installed releases - helm list </a:t>
            </a:r>
          </a:p>
          <a:p>
            <a:r>
              <a:rPr lang="en-IN" sz="1800" dirty="0"/>
              <a:t>Rollback to previous version - helm rollback my-app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1ABD5-4665-67B4-0BDA-10BAB8629F3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Helm Commands &amp; Workflow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28A164-C817-66ED-0590-8A611A2599A4}"/>
              </a:ext>
            </a:extLst>
          </p:cNvPr>
          <p:cNvSpPr/>
          <p:nvPr/>
        </p:nvSpPr>
        <p:spPr>
          <a:xfrm>
            <a:off x="716588" y="4872942"/>
            <a:ext cx="10758824" cy="9028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[</a:t>
            </a:r>
            <a:r>
              <a:rPr lang="en-US" b="1" dirty="0" err="1"/>
              <a:t>values.yaml</a:t>
            </a:r>
            <a:r>
              <a:rPr lang="en-US" b="1" dirty="0"/>
              <a:t> + templates/] → [helm install] → [Rendered Manifests] → [</a:t>
            </a:r>
            <a:r>
              <a:rPr lang="en-US" b="1" dirty="0" err="1"/>
              <a:t>kubectl</a:t>
            </a:r>
            <a:r>
              <a:rPr lang="en-US" b="1" dirty="0"/>
              <a:t> apply]</a:t>
            </a:r>
          </a:p>
        </p:txBody>
      </p:sp>
    </p:spTree>
    <p:extLst>
      <p:ext uri="{BB962C8B-B14F-4D97-AF65-F5344CB8AC3E}">
        <p14:creationId xmlns:p14="http://schemas.microsoft.com/office/powerpoint/2010/main" val="7913683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72D0-82F7-FE6D-E2B5-345FDF63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38A033-8299-ABB4-F9C6-0B4D71B1D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0855"/>
            <a:ext cx="5780183" cy="4454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What is a </a:t>
            </a:r>
            <a:r>
              <a:rPr lang="en-IN" sz="1800" b="1" dirty="0" err="1">
                <a:latin typeface="+mj-lt"/>
              </a:rPr>
              <a:t>ConfigMap</a:t>
            </a:r>
            <a:r>
              <a:rPr lang="en-IN" sz="1800" b="1" dirty="0">
                <a:latin typeface="+mj-lt"/>
              </a:rPr>
              <a:t>?</a:t>
            </a:r>
          </a:p>
          <a:p>
            <a:r>
              <a:rPr lang="en-IN" sz="1800" b="1" dirty="0"/>
              <a:t>Stores non-sensitive configuration</a:t>
            </a:r>
            <a:r>
              <a:rPr lang="en-IN" sz="1800" dirty="0"/>
              <a:t> as key-value pairs</a:t>
            </a:r>
          </a:p>
          <a:p>
            <a:r>
              <a:rPr lang="en-IN" sz="1800" b="1" dirty="0"/>
              <a:t>Separates app code from configuration</a:t>
            </a:r>
            <a:endParaRPr lang="en-IN" sz="1800" dirty="0"/>
          </a:p>
          <a:p>
            <a:r>
              <a:rPr lang="en-IN" sz="1800" b="1" dirty="0"/>
              <a:t>Mounted into pods</a:t>
            </a:r>
            <a:r>
              <a:rPr lang="en-IN" sz="1800" dirty="0"/>
              <a:t> as </a:t>
            </a:r>
            <a:r>
              <a:rPr lang="en-IN" sz="1800" b="1" dirty="0"/>
              <a:t>env vars</a:t>
            </a:r>
            <a:r>
              <a:rPr lang="en-IN" sz="1800" dirty="0"/>
              <a:t> or </a:t>
            </a:r>
            <a:r>
              <a:rPr lang="en-IN" sz="1800" b="1" dirty="0"/>
              <a:t>files</a:t>
            </a:r>
          </a:p>
          <a:p>
            <a:endParaRPr lang="en-IN" sz="1800" b="1" dirty="0"/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Use Cases:</a:t>
            </a:r>
          </a:p>
          <a:p>
            <a:r>
              <a:rPr lang="en-IN" sz="1800" b="1" dirty="0"/>
              <a:t>App configs</a:t>
            </a:r>
            <a:r>
              <a:rPr lang="en-IN" sz="1800" dirty="0"/>
              <a:t> (e.g., DB URLs, feature flags)</a:t>
            </a:r>
          </a:p>
          <a:p>
            <a:r>
              <a:rPr lang="en-IN" sz="1800" b="1" dirty="0"/>
              <a:t>Configuration files</a:t>
            </a:r>
            <a:r>
              <a:rPr lang="en-IN" sz="1800" dirty="0"/>
              <a:t> (e.g., </a:t>
            </a:r>
            <a:r>
              <a:rPr lang="en-IN" sz="1800" dirty="0" err="1"/>
              <a:t>nginx.conf</a:t>
            </a:r>
            <a:r>
              <a:rPr lang="en-IN" sz="1800" dirty="0"/>
              <a:t>, </a:t>
            </a:r>
            <a:r>
              <a:rPr lang="en-IN" sz="1800" dirty="0" err="1"/>
              <a:t>app.properties</a:t>
            </a:r>
            <a:r>
              <a:rPr lang="en-IN" sz="1800" dirty="0"/>
              <a:t>)</a:t>
            </a:r>
          </a:p>
          <a:p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09FA-6209-E52E-3B49-91DAD18A533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Introduction to </a:t>
            </a:r>
            <a:r>
              <a:rPr lang="en-IN" dirty="0" err="1"/>
              <a:t>ConfigMaps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73E694-83F8-A3E6-94FD-1189C325974B}"/>
              </a:ext>
            </a:extLst>
          </p:cNvPr>
          <p:cNvSpPr/>
          <p:nvPr/>
        </p:nvSpPr>
        <p:spPr>
          <a:xfrm>
            <a:off x="7581417" y="1320855"/>
            <a:ext cx="3565003" cy="40627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 err="1"/>
              <a:t>apiVersion</a:t>
            </a:r>
            <a:r>
              <a:rPr lang="en-US" b="1" dirty="0"/>
              <a:t>: v1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kind: </a:t>
            </a:r>
            <a:r>
              <a:rPr lang="en-US" b="1" dirty="0" err="1"/>
              <a:t>ConfigMap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metadata: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name: app-config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LOG_LEVEL: DEBUG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FEATURE_X: enabled</a:t>
            </a:r>
          </a:p>
        </p:txBody>
      </p:sp>
    </p:spTree>
    <p:extLst>
      <p:ext uri="{BB962C8B-B14F-4D97-AF65-F5344CB8AC3E}">
        <p14:creationId xmlns:p14="http://schemas.microsoft.com/office/powerpoint/2010/main" val="27056038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C1A7B-3B36-2B3A-1D0F-2755C05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707C3-587B-B39B-1EB2-69A6A0722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54783"/>
            <a:ext cx="5780183" cy="26376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Using </a:t>
            </a:r>
            <a:r>
              <a:rPr lang="en-IN" sz="1800" b="1" dirty="0" err="1">
                <a:latin typeface="+mj-lt"/>
              </a:rPr>
              <a:t>ConfigMaps</a:t>
            </a:r>
            <a:r>
              <a:rPr lang="en-IN" sz="1800" b="1" dirty="0">
                <a:latin typeface="+mj-lt"/>
              </a:rPr>
              <a:t> in Applications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+mn-lt"/>
              </a:rPr>
              <a:t>Can be used via:</a:t>
            </a:r>
            <a:r>
              <a:rPr lang="en-IN" sz="1800" dirty="0">
                <a:latin typeface="+mn-lt"/>
              </a:rPr>
              <a:t>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600" dirty="0"/>
              <a:t>Inject as environment variables - </a:t>
            </a:r>
            <a:r>
              <a:rPr lang="en-IN" sz="1600" b="1" dirty="0" err="1"/>
              <a:t>envFrom</a:t>
            </a:r>
            <a:r>
              <a:rPr lang="en-IN" sz="1600" dirty="0"/>
              <a:t>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1600" b="1" dirty="0"/>
              <a:t>Volume mounts</a:t>
            </a:r>
            <a:r>
              <a:rPr lang="en-IN" sz="1600" dirty="0"/>
              <a:t> - Mount as files in filesystem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+mn-lt"/>
              </a:rPr>
              <a:t>Updates automatically reflected</a:t>
            </a:r>
            <a:r>
              <a:rPr lang="en-IN" sz="1800" dirty="0">
                <a:latin typeface="+mn-lt"/>
              </a:rPr>
              <a:t> (if watched by app)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2F769-843C-CABA-19D9-C319BDD995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Mounting </a:t>
            </a:r>
            <a:r>
              <a:rPr lang="en-IN" dirty="0" err="1"/>
              <a:t>ConfigMaps</a:t>
            </a:r>
            <a:r>
              <a:rPr lang="en-IN" dirty="0"/>
              <a:t> in Pods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8C97D1-4963-B317-930A-67358E608D26}"/>
              </a:ext>
            </a:extLst>
          </p:cNvPr>
          <p:cNvSpPr/>
          <p:nvPr/>
        </p:nvSpPr>
        <p:spPr>
          <a:xfrm>
            <a:off x="7733814" y="4264755"/>
            <a:ext cx="3565003" cy="19725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/>
              <a:t>volumes: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- name: config-volume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configMap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name: app-config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2D6247F-C89C-D073-8294-88E020258F75}"/>
              </a:ext>
            </a:extLst>
          </p:cNvPr>
          <p:cNvSpPr txBox="1">
            <a:spLocks/>
          </p:cNvSpPr>
          <p:nvPr/>
        </p:nvSpPr>
        <p:spPr>
          <a:xfrm>
            <a:off x="7581416" y="1213999"/>
            <a:ext cx="3565004" cy="520861"/>
          </a:xfrm>
          <a:prstGeom prst="rect">
            <a:avLst/>
          </a:prstGeom>
        </p:spPr>
        <p:txBody>
          <a:bodyPr lIns="9144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Example - Environment Variables: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DEAE4E27-625E-AE21-6782-5D79D64C7D73}"/>
              </a:ext>
            </a:extLst>
          </p:cNvPr>
          <p:cNvSpPr txBox="1">
            <a:spLocks/>
          </p:cNvSpPr>
          <p:nvPr/>
        </p:nvSpPr>
        <p:spPr>
          <a:xfrm>
            <a:off x="7581416" y="3644263"/>
            <a:ext cx="3565004" cy="5208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Example - Volume Mount: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81805A-EDD5-F195-081D-8FF160133700}"/>
              </a:ext>
            </a:extLst>
          </p:cNvPr>
          <p:cNvSpPr/>
          <p:nvPr/>
        </p:nvSpPr>
        <p:spPr>
          <a:xfrm>
            <a:off x="7733814" y="1819909"/>
            <a:ext cx="3565003" cy="15911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 err="1"/>
              <a:t>envFrom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- </a:t>
            </a:r>
            <a:r>
              <a:rPr lang="en-US" b="1" dirty="0" err="1"/>
              <a:t>configMapRef</a:t>
            </a:r>
            <a:r>
              <a:rPr lang="en-US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name: app-config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F4FD69-3657-0F08-E30A-737CAB82B71B}"/>
              </a:ext>
            </a:extLst>
          </p:cNvPr>
          <p:cNvSpPr/>
          <p:nvPr/>
        </p:nvSpPr>
        <p:spPr>
          <a:xfrm>
            <a:off x="493295" y="3904694"/>
            <a:ext cx="6204030" cy="9375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[</a:t>
            </a:r>
            <a:r>
              <a:rPr lang="en-US" b="1" dirty="0" err="1"/>
              <a:t>ConfigMap</a:t>
            </a:r>
            <a:r>
              <a:rPr lang="en-US" b="1" dirty="0"/>
              <a:t>] → [Pod] → [Injected as ENV or Mounted File]</a:t>
            </a:r>
          </a:p>
        </p:txBody>
      </p:sp>
    </p:spTree>
    <p:extLst>
      <p:ext uri="{BB962C8B-B14F-4D97-AF65-F5344CB8AC3E}">
        <p14:creationId xmlns:p14="http://schemas.microsoft.com/office/powerpoint/2010/main" val="32841200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BD45-DCF0-7C25-12A5-C87A781B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8BADB-92A5-8F84-6268-6A10262A5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54783"/>
            <a:ext cx="5780183" cy="381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What is a Secret?</a:t>
            </a:r>
          </a:p>
          <a:p>
            <a:r>
              <a:rPr lang="en-IN" sz="1800" b="1" dirty="0"/>
              <a:t>Stores sensitive data</a:t>
            </a:r>
            <a:r>
              <a:rPr lang="en-IN" sz="1800" dirty="0"/>
              <a:t> (e.g., passwords, tokens, certs)</a:t>
            </a:r>
          </a:p>
          <a:p>
            <a:r>
              <a:rPr lang="en-IN" sz="1800" b="1" dirty="0"/>
              <a:t>Base64 encoded</a:t>
            </a:r>
            <a:r>
              <a:rPr lang="en-IN" sz="1800" dirty="0"/>
              <a:t> (not encrypted by default)</a:t>
            </a:r>
          </a:p>
          <a:p>
            <a:r>
              <a:rPr lang="en-IN" sz="1800" b="1" dirty="0"/>
              <a:t>Can be mounted like </a:t>
            </a:r>
            <a:r>
              <a:rPr lang="en-IN" sz="1800" b="1" i="1" dirty="0" err="1"/>
              <a:t>ConfigMaps</a:t>
            </a:r>
            <a:endParaRPr lang="en-IN" sz="1800" i="1" dirty="0"/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Use Cases:</a:t>
            </a:r>
          </a:p>
          <a:p>
            <a:r>
              <a:rPr lang="en-IN" sz="1800" b="1" dirty="0"/>
              <a:t>API keys</a:t>
            </a:r>
            <a:endParaRPr lang="en-IN" sz="1800" dirty="0"/>
          </a:p>
          <a:p>
            <a:r>
              <a:rPr lang="en-IN" sz="1800" b="1" dirty="0"/>
              <a:t>DB credentials</a:t>
            </a:r>
            <a:endParaRPr lang="en-IN" sz="1800" dirty="0"/>
          </a:p>
          <a:p>
            <a:r>
              <a:rPr lang="en-IN" sz="1800" b="1" dirty="0"/>
              <a:t>TLS certificates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186E-8973-C6B7-7196-7F27655F0AB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Kubernetes Secrets Overview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9CBA5A6-784E-FF34-B5FA-3D0C1201238F}"/>
              </a:ext>
            </a:extLst>
          </p:cNvPr>
          <p:cNvSpPr txBox="1">
            <a:spLocks/>
          </p:cNvSpPr>
          <p:nvPr/>
        </p:nvSpPr>
        <p:spPr>
          <a:xfrm>
            <a:off x="7581416" y="1213999"/>
            <a:ext cx="3565004" cy="5208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Example YAML: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01C2F3-3BA0-994C-AC42-6EB6B0A49A03}"/>
              </a:ext>
            </a:extLst>
          </p:cNvPr>
          <p:cNvSpPr/>
          <p:nvPr/>
        </p:nvSpPr>
        <p:spPr>
          <a:xfrm>
            <a:off x="7581416" y="1734860"/>
            <a:ext cx="3565003" cy="42792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 err="1"/>
              <a:t>apiVersion</a:t>
            </a:r>
            <a:r>
              <a:rPr lang="en-US" b="1" dirty="0"/>
              <a:t>: v1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kind: Secret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metadata: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name: </a:t>
            </a:r>
            <a:r>
              <a:rPr lang="en-US" b="1" dirty="0" err="1"/>
              <a:t>db</a:t>
            </a:r>
            <a:r>
              <a:rPr lang="en-US" b="1" dirty="0"/>
              <a:t>-secret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type: Opaque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username: YWRtaW4=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password: MWYyZDFlMmU2N2Rm</a:t>
            </a:r>
          </a:p>
        </p:txBody>
      </p:sp>
    </p:spTree>
    <p:extLst>
      <p:ext uri="{BB962C8B-B14F-4D97-AF65-F5344CB8AC3E}">
        <p14:creationId xmlns:p14="http://schemas.microsoft.com/office/powerpoint/2010/main" val="41841325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B794-C64B-47C9-DF19-EBDF1B09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E5AD0B-6782-7001-7E57-1059DF46C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4" y="1154783"/>
            <a:ext cx="8014097" cy="503767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Using Secrets Securely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Avoid hardcoding secrets</a:t>
            </a:r>
            <a:r>
              <a:rPr lang="en-IN" sz="1800" dirty="0"/>
              <a:t> in YAML files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Use external secret managers</a:t>
            </a:r>
            <a:r>
              <a:rPr lang="en-IN" sz="1800" dirty="0"/>
              <a:t> (e.g., </a:t>
            </a:r>
            <a:r>
              <a:rPr lang="en-IN" sz="1800" dirty="0" err="1"/>
              <a:t>HashiCorp</a:t>
            </a:r>
            <a:r>
              <a:rPr lang="en-IN" sz="1800" dirty="0"/>
              <a:t> Vault, AWS Secrets Manager)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Enable encryption at rest</a:t>
            </a:r>
            <a:r>
              <a:rPr lang="en-IN" sz="1800" dirty="0"/>
              <a:t> in Kubernetes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Use RBAC</a:t>
            </a:r>
            <a:r>
              <a:rPr lang="en-IN" sz="1800" dirty="0"/>
              <a:t> to control secret access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Rotate secrets regularly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Security Considerations:</a:t>
            </a:r>
            <a:endParaRPr lang="en-IN" sz="1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IN" sz="1800" dirty="0"/>
              <a:t>Secrets are only Base64 encoded, not encrypted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Consider using sealed-secrets or external secret operators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Limit secret access to necessary pods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71803-1EAF-679A-C556-BA73B324CA5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Best Practices for Secrets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79CC1C-3E9A-4C7B-5540-714BFAD97FA6}"/>
              </a:ext>
            </a:extLst>
          </p:cNvPr>
          <p:cNvSpPr/>
          <p:nvPr/>
        </p:nvSpPr>
        <p:spPr>
          <a:xfrm>
            <a:off x="8079129" y="2726880"/>
            <a:ext cx="3773348" cy="18934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/>
              <a:t>[Secret] → [Mounted into Pod]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                           ↓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Used securely by application</a:t>
            </a:r>
          </a:p>
        </p:txBody>
      </p:sp>
    </p:spTree>
    <p:extLst>
      <p:ext uri="{BB962C8B-B14F-4D97-AF65-F5344CB8AC3E}">
        <p14:creationId xmlns:p14="http://schemas.microsoft.com/office/powerpoint/2010/main" val="27808896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75B0-0837-6C6F-93B2-D41BBFE9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E2BDFE-AFE4-543D-66B4-F3E82717C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4" y="1154783"/>
            <a:ext cx="8014097" cy="2062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Key Takeaways:</a:t>
            </a:r>
            <a:endParaRPr lang="en-IN" sz="1800" dirty="0">
              <a:latin typeface="+mj-lt"/>
            </a:endParaRPr>
          </a:p>
          <a:p>
            <a:r>
              <a:rPr lang="en-IN" sz="1800" b="1" dirty="0"/>
              <a:t>Helm</a:t>
            </a:r>
            <a:r>
              <a:rPr lang="en-IN" sz="1800" dirty="0"/>
              <a:t> manages application deployment and versioning</a:t>
            </a:r>
          </a:p>
          <a:p>
            <a:r>
              <a:rPr lang="en-IN" sz="1800" b="1" dirty="0" err="1"/>
              <a:t>ConfigMaps</a:t>
            </a:r>
            <a:r>
              <a:rPr lang="en-IN" sz="1800" dirty="0"/>
              <a:t> handle non-sensitive configuration</a:t>
            </a:r>
          </a:p>
          <a:p>
            <a:r>
              <a:rPr lang="en-IN" sz="1800" b="1" dirty="0"/>
              <a:t>Secrets</a:t>
            </a:r>
            <a:r>
              <a:rPr lang="en-IN" sz="1800" dirty="0"/>
              <a:t> manage sensitive data with proper security practices</a:t>
            </a:r>
          </a:p>
          <a:p>
            <a:r>
              <a:rPr lang="en-IN" sz="1800" b="1" dirty="0"/>
              <a:t>Combine all three</a:t>
            </a:r>
            <a:r>
              <a:rPr lang="en-IN" sz="1800" dirty="0"/>
              <a:t> for production-ready Kubernetes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9A47-65EB-A748-4F69-193043D6790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Helm + </a:t>
            </a:r>
            <a:r>
              <a:rPr lang="en-IN" dirty="0" err="1"/>
              <a:t>ConfigMaps</a:t>
            </a:r>
            <a:r>
              <a:rPr lang="en-IN" dirty="0"/>
              <a:t> + Secrets Workflow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28FAA2-C104-3225-4AF6-EE573887D361}"/>
              </a:ext>
            </a:extLst>
          </p:cNvPr>
          <p:cNvSpPr/>
          <p:nvPr/>
        </p:nvSpPr>
        <p:spPr>
          <a:xfrm>
            <a:off x="7353786" y="1955519"/>
            <a:ext cx="4672312" cy="129326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config: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logLevel</a:t>
            </a:r>
            <a:r>
              <a:rPr lang="en-US" sz="1600" dirty="0"/>
              <a:t>: DEBUG</a:t>
            </a:r>
          </a:p>
          <a:p>
            <a:r>
              <a:rPr lang="en-US" sz="1600" dirty="0"/>
              <a:t>secrets: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dbPassword</a:t>
            </a:r>
            <a:r>
              <a:rPr lang="en-US" sz="1600" dirty="0"/>
              <a:t>: "{{ .</a:t>
            </a:r>
            <a:r>
              <a:rPr lang="en-US" sz="1600" dirty="0" err="1"/>
              <a:t>Values.database.password</a:t>
            </a:r>
            <a:r>
              <a:rPr lang="en-US" sz="1600" dirty="0"/>
              <a:t> }}"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07F21A5-A2D4-A96C-B9E5-1FEA9648D42B}"/>
              </a:ext>
            </a:extLst>
          </p:cNvPr>
          <p:cNvSpPr txBox="1">
            <a:spLocks/>
          </p:cNvSpPr>
          <p:nvPr/>
        </p:nvSpPr>
        <p:spPr>
          <a:xfrm>
            <a:off x="7353786" y="1185803"/>
            <a:ext cx="5366793" cy="1154575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>
                <a:latin typeface="+mj-lt"/>
              </a:rPr>
              <a:t>Best Practice Integration: </a:t>
            </a:r>
          </a:p>
          <a:p>
            <a:pPr marL="0" indent="0">
              <a:buNone/>
            </a:pPr>
            <a:r>
              <a:rPr lang="en-US" sz="1600" b="1" i="1" dirty="0"/>
              <a:t># In Helm </a:t>
            </a:r>
            <a:r>
              <a:rPr lang="en-US" sz="1600" b="1" i="1" dirty="0" err="1"/>
              <a:t>values.yaml</a:t>
            </a:r>
            <a:endParaRPr lang="en-US" sz="1600" b="1" i="1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2F7113C-ADBE-34C2-4FBE-DB1C8129A55F}"/>
              </a:ext>
            </a:extLst>
          </p:cNvPr>
          <p:cNvSpPr txBox="1">
            <a:spLocks/>
          </p:cNvSpPr>
          <p:nvPr/>
        </p:nvSpPr>
        <p:spPr>
          <a:xfrm>
            <a:off x="493294" y="3119378"/>
            <a:ext cx="3565004" cy="5208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Example YAML: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1DE3CA-0F2C-D303-721A-C2F10305EC88}"/>
              </a:ext>
            </a:extLst>
          </p:cNvPr>
          <p:cNvSpPr/>
          <p:nvPr/>
        </p:nvSpPr>
        <p:spPr>
          <a:xfrm>
            <a:off x="590307" y="3640239"/>
            <a:ext cx="10093126" cy="24480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# Helm</a:t>
            </a:r>
          </a:p>
          <a:p>
            <a:r>
              <a:rPr lang="en-US" b="1" i="1" dirty="0"/>
              <a:t>helm install </a:t>
            </a:r>
            <a:r>
              <a:rPr lang="en-US" b="1" i="1" dirty="0" err="1"/>
              <a:t>myapp</a:t>
            </a:r>
            <a:r>
              <a:rPr lang="en-US" b="1" i="1" dirty="0"/>
              <a:t> ./chart --set </a:t>
            </a:r>
            <a:r>
              <a:rPr lang="en-US" b="1" i="1" dirty="0" err="1"/>
              <a:t>config.env</a:t>
            </a:r>
            <a:r>
              <a:rPr lang="en-US" b="1" i="1" dirty="0"/>
              <a:t>=prod</a:t>
            </a:r>
          </a:p>
          <a:p>
            <a:endParaRPr lang="en-US" b="1" i="1" dirty="0"/>
          </a:p>
          <a:p>
            <a:r>
              <a:rPr lang="en-US" b="1" dirty="0"/>
              <a:t># </a:t>
            </a:r>
            <a:r>
              <a:rPr lang="en-US" b="1" dirty="0" err="1"/>
              <a:t>ConfigMaps</a:t>
            </a:r>
            <a:endParaRPr lang="en-US" b="1" dirty="0"/>
          </a:p>
          <a:p>
            <a:r>
              <a:rPr lang="en-US" b="1" i="1" dirty="0" err="1"/>
              <a:t>kubectl</a:t>
            </a:r>
            <a:r>
              <a:rPr lang="en-US" b="1" i="1" dirty="0"/>
              <a:t> create </a:t>
            </a:r>
            <a:r>
              <a:rPr lang="en-US" b="1" i="1" dirty="0" err="1"/>
              <a:t>configmap</a:t>
            </a:r>
            <a:r>
              <a:rPr lang="en-US" b="1" i="1" dirty="0"/>
              <a:t> app-config --from-file=</a:t>
            </a:r>
            <a:r>
              <a:rPr lang="en-US" b="1" i="1" dirty="0" err="1"/>
              <a:t>config.yaml</a:t>
            </a:r>
            <a:endParaRPr lang="en-US" b="1" i="1" dirty="0"/>
          </a:p>
          <a:p>
            <a:endParaRPr lang="en-US" b="1" dirty="0"/>
          </a:p>
          <a:p>
            <a:r>
              <a:rPr lang="en-US" b="1" dirty="0"/>
              <a:t># Secrets  </a:t>
            </a:r>
          </a:p>
          <a:p>
            <a:r>
              <a:rPr lang="en-US" b="1" i="1" dirty="0" err="1"/>
              <a:t>kubectl</a:t>
            </a:r>
            <a:r>
              <a:rPr lang="en-US" b="1" i="1" dirty="0"/>
              <a:t> create secret generic </a:t>
            </a:r>
            <a:r>
              <a:rPr lang="en-US" b="1" i="1" dirty="0" err="1"/>
              <a:t>db</a:t>
            </a:r>
            <a:r>
              <a:rPr lang="en-US" b="1" i="1" dirty="0"/>
              <a:t>-secret --from-literal=password=</a:t>
            </a:r>
            <a:r>
              <a:rPr lang="en-US" b="1" i="1" dirty="0" err="1"/>
              <a:t>mysecret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4938249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99D1-81F3-A991-EF2E-2D315984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CD39-F9F1-A2DE-C503-5E6C48BA8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Load balancing, health checks 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8413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0406-1F97-DD45-1A09-E63A7DCA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8A59A-C36E-6380-A088-7A65247B6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389064" cy="4877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What is Load Balancing?</a:t>
            </a:r>
          </a:p>
          <a:p>
            <a:r>
              <a:rPr lang="en-IN" sz="1800" b="1" dirty="0"/>
              <a:t>Distributes incoming traffic</a:t>
            </a:r>
            <a:r>
              <a:rPr lang="en-IN" sz="1800" dirty="0"/>
              <a:t> across multiple pods or services</a:t>
            </a:r>
          </a:p>
          <a:p>
            <a:r>
              <a:rPr lang="en-IN" sz="1800" b="1" dirty="0"/>
              <a:t>Ensures high availability and fault tolerance</a:t>
            </a:r>
            <a:endParaRPr lang="en-IN" sz="1800" dirty="0"/>
          </a:p>
          <a:p>
            <a:r>
              <a:rPr lang="en-IN" sz="1800" b="1" dirty="0"/>
              <a:t>Common in microservices</a:t>
            </a:r>
            <a:r>
              <a:rPr lang="en-IN" sz="1800" dirty="0"/>
              <a:t> and container orchestration</a:t>
            </a:r>
          </a:p>
          <a:p>
            <a:pPr marL="0" indent="0">
              <a:buNone/>
            </a:pPr>
            <a:r>
              <a:rPr lang="en-IN" sz="2000" b="1" dirty="0">
                <a:latin typeface="+mj-lt"/>
              </a:rPr>
              <a:t>Types of Load Balancers:</a:t>
            </a:r>
          </a:p>
          <a:p>
            <a:r>
              <a:rPr lang="en-IN" sz="1800" b="1" dirty="0"/>
              <a:t>Internal (</a:t>
            </a:r>
            <a:r>
              <a:rPr lang="en-IN" sz="1800" b="1" dirty="0" err="1"/>
              <a:t>ClusterIP</a:t>
            </a:r>
            <a:r>
              <a:rPr lang="en-IN" sz="1800" b="1" dirty="0"/>
              <a:t>)</a:t>
            </a:r>
            <a:r>
              <a:rPr lang="en-IN" sz="1800" dirty="0"/>
              <a:t> - pod-to-pod traffic within cluster</a:t>
            </a:r>
          </a:p>
          <a:p>
            <a:r>
              <a:rPr lang="en-IN" sz="1800" b="1" dirty="0"/>
              <a:t>External (</a:t>
            </a:r>
            <a:r>
              <a:rPr lang="en-IN" sz="1800" b="1" dirty="0" err="1"/>
              <a:t>LoadBalancer</a:t>
            </a:r>
            <a:r>
              <a:rPr lang="en-IN" sz="1800" b="1" dirty="0"/>
              <a:t> / Ingress)</a:t>
            </a:r>
            <a:r>
              <a:rPr lang="en-IN" sz="1800" dirty="0"/>
              <a:t> - user-to-service traffic</a:t>
            </a:r>
          </a:p>
          <a:p>
            <a:r>
              <a:rPr lang="en-IN" sz="1800" b="1" dirty="0"/>
              <a:t>Strategies:</a:t>
            </a:r>
            <a:r>
              <a:rPr lang="en-IN" sz="1800" dirty="0"/>
              <a:t> Round Robin, Least Connections, or weighted algorithms</a:t>
            </a:r>
          </a:p>
          <a:p>
            <a:pPr marL="0" indent="0">
              <a:buNone/>
            </a:pPr>
            <a:r>
              <a:rPr lang="en-IN" sz="2000" b="1" dirty="0">
                <a:latin typeface="+mj-lt"/>
              </a:rPr>
              <a:t>Example:</a:t>
            </a:r>
          </a:p>
          <a:p>
            <a:r>
              <a:rPr lang="en-IN" sz="1800" dirty="0"/>
              <a:t>A service with 3 backend pods receives traffic evenly distributed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E1222CB-63B9-7247-BDD1-310C1280E81D}"/>
              </a:ext>
            </a:extLst>
          </p:cNvPr>
          <p:cNvSpPr/>
          <p:nvPr/>
        </p:nvSpPr>
        <p:spPr>
          <a:xfrm>
            <a:off x="8287473" y="1267267"/>
            <a:ext cx="3102016" cy="40048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       [Client Requests]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↓</a:t>
            </a:r>
          </a:p>
          <a:p>
            <a:pPr algn="just"/>
            <a:r>
              <a:rPr lang="en-US" dirty="0"/>
              <a:t> </a:t>
            </a:r>
          </a:p>
          <a:p>
            <a:pPr algn="just"/>
            <a:r>
              <a:rPr lang="en-US" dirty="0"/>
              <a:t>         [Load Balancer]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   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    [Pod1]  [Pod2]  [Pod3]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EFEF9-77ED-4FD5-85C5-487714D3F93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Load Balancing in Kubernetes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7E2E469-B39B-9390-5F29-EA56E08D02E9}"/>
              </a:ext>
            </a:extLst>
          </p:cNvPr>
          <p:cNvCxnSpPr/>
          <p:nvPr/>
        </p:nvCxnSpPr>
        <p:spPr>
          <a:xfrm flipH="1">
            <a:off x="9144000" y="3784922"/>
            <a:ext cx="347241" cy="474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0F95C69-57B2-5C5C-0CD2-BE0B99E50F62}"/>
              </a:ext>
            </a:extLst>
          </p:cNvPr>
          <p:cNvCxnSpPr/>
          <p:nvPr/>
        </p:nvCxnSpPr>
        <p:spPr>
          <a:xfrm>
            <a:off x="10185722" y="3784922"/>
            <a:ext cx="381964" cy="474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5D5CA10-C51D-FBA2-D134-B12AA1FAA643}"/>
              </a:ext>
            </a:extLst>
          </p:cNvPr>
          <p:cNvSpPr txBox="1"/>
          <p:nvPr/>
        </p:nvSpPr>
        <p:spPr>
          <a:xfrm>
            <a:off x="8362860" y="5329123"/>
            <a:ext cx="3102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+mj-lt"/>
              </a:rPr>
              <a:t>Automatic failover and improved application performance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9DADF7-D1EB-CAEA-ACB8-5DB19061A463}"/>
              </a:ext>
            </a:extLst>
          </p:cNvPr>
          <p:cNvCxnSpPr/>
          <p:nvPr/>
        </p:nvCxnSpPr>
        <p:spPr>
          <a:xfrm>
            <a:off x="9838481" y="3706910"/>
            <a:ext cx="0" cy="552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3357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D26C-905E-157F-D62C-735D73A3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BF7782-B82B-8D35-8E73-8C51F1566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389064" cy="487762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Load Balancing Mechanisms in Kubernetes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Kube-proxy</a:t>
            </a:r>
            <a:r>
              <a:rPr lang="en-IN" sz="2000" dirty="0"/>
              <a:t> handles internal service routing and traffic distribution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Ingress Controller</a:t>
            </a:r>
            <a:r>
              <a:rPr lang="en-IN" sz="2000" dirty="0"/>
              <a:t> manages HTTP(S) routing with advanced features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External Load Balancer</a:t>
            </a:r>
            <a:r>
              <a:rPr lang="en-IN" sz="2000" dirty="0"/>
              <a:t> provisioned automatically by cloud provider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Best Practices: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Use readiness probes</a:t>
            </a:r>
            <a:r>
              <a:rPr lang="en-IN" sz="2000" dirty="0"/>
              <a:t> to avoid sending traffic to unready pods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Combine with autoscaling</a:t>
            </a:r>
            <a:r>
              <a:rPr lang="en-IN" sz="2000" dirty="0"/>
              <a:t> for dynamic resilience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Configure appropriate session affinity</a:t>
            </a:r>
            <a:r>
              <a:rPr lang="en-IN" sz="2000" dirty="0"/>
              <a:t> when needed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Monitor traffic distribution</a:t>
            </a:r>
            <a:r>
              <a:rPr lang="en-IN" sz="2000" dirty="0"/>
              <a:t> for balanced load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33EEDF-D3FE-F269-0FA3-9A08C6961585}"/>
              </a:ext>
            </a:extLst>
          </p:cNvPr>
          <p:cNvSpPr/>
          <p:nvPr/>
        </p:nvSpPr>
        <p:spPr>
          <a:xfrm>
            <a:off x="8345346" y="1259584"/>
            <a:ext cx="3102016" cy="48407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dirty="0" err="1"/>
              <a:t>apiVersion</a:t>
            </a:r>
            <a:r>
              <a:rPr lang="en-US" b="1" dirty="0"/>
              <a:t>: v1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kind: Service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metadata: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name: webapp-service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spec: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type: </a:t>
            </a:r>
            <a:r>
              <a:rPr lang="en-US" dirty="0" err="1"/>
              <a:t>LoadBalancer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  selector: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  app: webapp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</a:t>
            </a:r>
            <a:r>
              <a:rPr lang="en-US" b="1" dirty="0"/>
              <a:t>ports: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  - port: 80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 err="1"/>
              <a:t>targetPort</a:t>
            </a:r>
            <a:r>
              <a:rPr lang="en-US" dirty="0"/>
              <a:t>: 8080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37C44-3B66-2C8F-4D6A-8E70BDF8189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Load Balancer Implementation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9054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0F02-D058-2813-811F-AEC6DBAD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512F3D-C3E2-7B01-DB7D-20089E898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389064" cy="2007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Liveness and Readiness Probes</a:t>
            </a:r>
          </a:p>
          <a:p>
            <a:r>
              <a:rPr lang="en-IN" sz="2000" b="1" dirty="0"/>
              <a:t>Liveness Probe</a:t>
            </a:r>
            <a:r>
              <a:rPr lang="en-IN" sz="2000" dirty="0"/>
              <a:t> - Checks if app is alive (restart if failed)</a:t>
            </a:r>
          </a:p>
          <a:p>
            <a:r>
              <a:rPr lang="en-IN" sz="2000" b="1" dirty="0"/>
              <a:t>Readiness Probe</a:t>
            </a:r>
            <a:r>
              <a:rPr lang="en-IN" sz="2000" dirty="0"/>
              <a:t> - Checks if app is ready to receive traffic</a:t>
            </a:r>
          </a:p>
          <a:p>
            <a:r>
              <a:rPr lang="en-IN" sz="2000" b="1" dirty="0"/>
              <a:t>Prevents routing</a:t>
            </a:r>
            <a:r>
              <a:rPr lang="en-IN" sz="2000" dirty="0"/>
              <a:t> to broken or initializing pods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F93DEE-DB7F-DAC3-68E2-BB089DD08C7C}"/>
              </a:ext>
            </a:extLst>
          </p:cNvPr>
          <p:cNvSpPr/>
          <p:nvPr/>
        </p:nvSpPr>
        <p:spPr>
          <a:xfrm>
            <a:off x="8773609" y="1268098"/>
            <a:ext cx="3102016" cy="53248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b="1" dirty="0" err="1"/>
              <a:t>livenessProbe</a:t>
            </a:r>
            <a:r>
              <a:rPr lang="en-US" b="1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httpGet</a:t>
            </a:r>
            <a:r>
              <a:rPr lang="en-US" b="1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  path: /health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  port: 8080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initialDelaySeconds</a:t>
            </a:r>
            <a:r>
              <a:rPr lang="en-US" b="1" dirty="0"/>
              <a:t>: 5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periodSeconds</a:t>
            </a:r>
            <a:r>
              <a:rPr lang="en-US" b="1" dirty="0"/>
              <a:t>: 10</a:t>
            </a:r>
          </a:p>
          <a:p>
            <a:pPr algn="just">
              <a:lnSpc>
                <a:spcPct val="150000"/>
              </a:lnSpc>
            </a:pPr>
            <a:r>
              <a:rPr lang="en-US" b="1" dirty="0" err="1"/>
              <a:t>readinessProbe</a:t>
            </a:r>
            <a:r>
              <a:rPr lang="en-US" b="1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httpGet</a:t>
            </a:r>
            <a:r>
              <a:rPr lang="en-US" b="1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  path: /ready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  port: 8080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initialDelaySeconds</a:t>
            </a:r>
            <a:r>
              <a:rPr lang="en-US" b="1" dirty="0"/>
              <a:t>: 10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  </a:t>
            </a:r>
            <a:r>
              <a:rPr lang="en-US" b="1" dirty="0" err="1"/>
              <a:t>periodSeconds</a:t>
            </a:r>
            <a:r>
              <a:rPr lang="en-US" b="1" dirty="0"/>
              <a:t>: 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9F42-C0D5-F258-619A-2BA3BE64260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Health Checks in Kubernetes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5FE189-75DD-AF5B-3FB6-2ABA20F2FC3D}"/>
              </a:ext>
            </a:extLst>
          </p:cNvPr>
          <p:cNvSpPr/>
          <p:nvPr/>
        </p:nvSpPr>
        <p:spPr>
          <a:xfrm>
            <a:off x="625033" y="3703899"/>
            <a:ext cx="6910086" cy="204871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b="1" dirty="0"/>
              <a:t>         [Pod]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         ↓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[Liveness Probe] → Restart if failed 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   [Readiness Probe] → Include in Service if healthy</a:t>
            </a:r>
          </a:p>
        </p:txBody>
      </p:sp>
    </p:spTree>
    <p:extLst>
      <p:ext uri="{BB962C8B-B14F-4D97-AF65-F5344CB8AC3E}">
        <p14:creationId xmlns:p14="http://schemas.microsoft.com/office/powerpoint/2010/main" val="13031342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7756-2D29-1CBD-F32A-76F7F654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35254-764D-4AE8-390E-EE4938A1C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75501"/>
            <a:ext cx="7169146" cy="492435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Designing Effective Health Checks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Keep endpoints lightweight</a:t>
            </a:r>
            <a:r>
              <a:rPr lang="en-IN" sz="1700" dirty="0"/>
              <a:t> (/</a:t>
            </a:r>
            <a:r>
              <a:rPr lang="en-IN" sz="1700" dirty="0" err="1"/>
              <a:t>healthz</a:t>
            </a:r>
            <a:r>
              <a:rPr lang="en-IN" sz="1700" dirty="0"/>
              <a:t>, /ready) - avoid heavy operations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Ensure readiness probe checks dependencies</a:t>
            </a:r>
            <a:r>
              <a:rPr lang="en-IN" sz="1700" dirty="0"/>
              <a:t> (DB, cache, external APIs)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Avoid aggressive timeouts</a:t>
            </a:r>
            <a:r>
              <a:rPr lang="en-IN" sz="1700" dirty="0"/>
              <a:t> or short intervals to prevent false positives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Use different endpoints</a:t>
            </a:r>
            <a:r>
              <a:rPr lang="en-IN" sz="1700" dirty="0"/>
              <a:t> for liveness vs readiness when appropriate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+mj-lt"/>
              </a:rPr>
              <a:t>Best Practices: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Startup probes</a:t>
            </a:r>
            <a:r>
              <a:rPr lang="en-IN" sz="1700" dirty="0"/>
              <a:t> for slow-starting containers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Monitor probe failures</a:t>
            </a:r>
            <a:r>
              <a:rPr lang="en-IN" sz="1700" dirty="0"/>
              <a:t> using </a:t>
            </a:r>
            <a:r>
              <a:rPr lang="en-IN" sz="1700" dirty="0" err="1"/>
              <a:t>kubectl</a:t>
            </a:r>
            <a:r>
              <a:rPr lang="en-IN" sz="1700" dirty="0"/>
              <a:t> describe pod or dashboards</a:t>
            </a:r>
          </a:p>
          <a:p>
            <a:pPr>
              <a:lnSpc>
                <a:spcPct val="150000"/>
              </a:lnSpc>
            </a:pPr>
            <a:r>
              <a:rPr lang="en-IN" sz="1700" b="1" dirty="0"/>
              <a:t>Test health endpoints</a:t>
            </a:r>
            <a:r>
              <a:rPr lang="en-IN" sz="1700" dirty="0"/>
              <a:t> independently during development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03E8A5-EF50-7EDB-94C5-9FE6E9C968AC}"/>
              </a:ext>
            </a:extLst>
          </p:cNvPr>
          <p:cNvSpPr/>
          <p:nvPr/>
        </p:nvSpPr>
        <p:spPr>
          <a:xfrm>
            <a:off x="7778187" y="1268098"/>
            <a:ext cx="4097438" cy="53248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+mj-lt"/>
              </a:rPr>
              <a:t>Probe Types Available:</a:t>
            </a:r>
            <a:br>
              <a:rPr lang="en-IN" dirty="0"/>
            </a:br>
            <a:br>
              <a:rPr lang="en-US" b="1" dirty="0"/>
            </a:br>
            <a:r>
              <a:rPr lang="en-US" sz="1400" b="1" i="1" dirty="0"/>
              <a:t># HTTP GET probe</a:t>
            </a:r>
          </a:p>
          <a:p>
            <a:r>
              <a:rPr lang="en-US" b="1" dirty="0" err="1"/>
              <a:t>httpGet</a:t>
            </a:r>
            <a:r>
              <a:rPr lang="en-US" b="1" dirty="0"/>
              <a:t>:</a:t>
            </a:r>
          </a:p>
          <a:p>
            <a:r>
              <a:rPr lang="en-US" b="1" dirty="0"/>
              <a:t>  path: /health</a:t>
            </a:r>
          </a:p>
          <a:p>
            <a:r>
              <a:rPr lang="en-US" b="1" dirty="0"/>
              <a:t>  port: 8080</a:t>
            </a:r>
          </a:p>
          <a:p>
            <a:endParaRPr lang="en-US" b="1" dirty="0"/>
          </a:p>
          <a:p>
            <a:r>
              <a:rPr lang="en-US" sz="1400" b="1" i="1" dirty="0"/>
              <a:t># TCP Socket probe  </a:t>
            </a:r>
          </a:p>
          <a:p>
            <a:r>
              <a:rPr lang="en-US" b="1" dirty="0" err="1"/>
              <a:t>tcpSocket</a:t>
            </a:r>
            <a:r>
              <a:rPr lang="en-US" b="1" dirty="0"/>
              <a:t>:</a:t>
            </a:r>
          </a:p>
          <a:p>
            <a:r>
              <a:rPr lang="en-US" b="1" dirty="0"/>
              <a:t>  port: 3306</a:t>
            </a:r>
          </a:p>
          <a:p>
            <a:endParaRPr lang="en-US" b="1" dirty="0"/>
          </a:p>
          <a:p>
            <a:r>
              <a:rPr lang="en-US" sz="1400" b="1" i="1" dirty="0"/>
              <a:t># Command execution probe</a:t>
            </a:r>
          </a:p>
          <a:p>
            <a:r>
              <a:rPr lang="en-US" b="1" dirty="0"/>
              <a:t>exec:</a:t>
            </a:r>
          </a:p>
          <a:p>
            <a:r>
              <a:rPr lang="en-US" b="1" dirty="0"/>
              <a:t>  command: ["cat", "/</a:t>
            </a:r>
            <a:r>
              <a:rPr lang="en-US" b="1" dirty="0" err="1"/>
              <a:t>tmp</a:t>
            </a:r>
            <a:r>
              <a:rPr lang="en-US" b="1" dirty="0"/>
              <a:t>/healthy"]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36BBF-CD03-7B34-D582-A9751C28AF8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Health Check Strategies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9016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D193B-5BFB-CB85-5BE4-38022ECA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E62FF4-C931-0B30-86C6-C1EC0C6DE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75501"/>
            <a:ext cx="7169146" cy="2401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+mj-lt"/>
              </a:rPr>
              <a:t>Key Integration Points:</a:t>
            </a:r>
          </a:p>
          <a:p>
            <a:r>
              <a:rPr lang="en-IN" sz="2000" b="1" dirty="0"/>
              <a:t>Load balancers respect readiness probes</a:t>
            </a:r>
            <a:r>
              <a:rPr lang="en-IN" sz="2000" dirty="0"/>
              <a:t> - unhealthy pods removed from rotation</a:t>
            </a:r>
          </a:p>
          <a:p>
            <a:r>
              <a:rPr lang="en-IN" sz="2000" b="1" dirty="0"/>
              <a:t>Liveness probes ensure pod restart</a:t>
            </a:r>
            <a:r>
              <a:rPr lang="en-IN" sz="2000" dirty="0"/>
              <a:t> when application becomes unresponsive</a:t>
            </a:r>
          </a:p>
          <a:p>
            <a:r>
              <a:rPr lang="en-IN" sz="2000" b="1" dirty="0"/>
              <a:t>Graceful shutdown</a:t>
            </a:r>
            <a:r>
              <a:rPr lang="en-IN" sz="2000" dirty="0"/>
              <a:t> with proper termination handling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7F59BC-F255-4B62-D93C-B65517D5A9AA}"/>
              </a:ext>
            </a:extLst>
          </p:cNvPr>
          <p:cNvSpPr/>
          <p:nvPr/>
        </p:nvSpPr>
        <p:spPr>
          <a:xfrm>
            <a:off x="493295" y="3681743"/>
            <a:ext cx="5062553" cy="9249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+mj-lt"/>
              </a:rPr>
              <a:t>[Load Balancer] → [Service] → [Healthy Pods Only]</a:t>
            </a:r>
          </a:p>
          <a:p>
            <a:r>
              <a:rPr lang="en-IN" sz="1600" dirty="0">
                <a:latin typeface="+mj-lt"/>
              </a:rPr>
              <a:t>                                        ↓</a:t>
            </a:r>
          </a:p>
          <a:p>
            <a:r>
              <a:rPr lang="en-IN" sz="1600" dirty="0">
                <a:latin typeface="+mj-lt"/>
              </a:rPr>
              <a:t>              [Readiness Probe Filter]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FF75-1DBC-D7C7-41CF-32EEB68B2D7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Traffic Flow with Health Checks: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8F4551-1698-302F-E3E1-80EE22B2F24C}"/>
              </a:ext>
            </a:extLst>
          </p:cNvPr>
          <p:cNvSpPr/>
          <p:nvPr/>
        </p:nvSpPr>
        <p:spPr>
          <a:xfrm>
            <a:off x="493295" y="4782746"/>
            <a:ext cx="9722734" cy="13518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>
                <a:latin typeface="+mj-lt"/>
              </a:rPr>
              <a:t>Monitoring Commands:</a:t>
            </a:r>
            <a:br>
              <a:rPr lang="en-US" sz="1600" dirty="0"/>
            </a:br>
            <a:r>
              <a:rPr lang="en-US" sz="1600" dirty="0" err="1"/>
              <a:t>kubectl</a:t>
            </a:r>
            <a:r>
              <a:rPr lang="en-US" sz="1600" dirty="0"/>
              <a:t> get pods -o wide                   		 # Check pod status</a:t>
            </a:r>
          </a:p>
          <a:p>
            <a:r>
              <a:rPr lang="en-US" sz="1600" dirty="0" err="1"/>
              <a:t>kubectl</a:t>
            </a:r>
            <a:r>
              <a:rPr lang="en-US" sz="1600" dirty="0"/>
              <a:t> describe service webapp-service    	 # View service endpoints</a:t>
            </a:r>
          </a:p>
          <a:p>
            <a:r>
              <a:rPr lang="en-US" sz="1600" dirty="0" err="1"/>
              <a:t>kubectl</a:t>
            </a:r>
            <a:r>
              <a:rPr lang="en-US" sz="1600" dirty="0"/>
              <a:t> logs pod-name                      		 # Check application logs</a:t>
            </a:r>
          </a:p>
        </p:txBody>
      </p:sp>
    </p:spTree>
    <p:extLst>
      <p:ext uri="{BB962C8B-B14F-4D97-AF65-F5344CB8AC3E}">
        <p14:creationId xmlns:p14="http://schemas.microsoft.com/office/powerpoint/2010/main" val="17537869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ED5B-77C0-70C8-31AC-C08305B2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EE4B-B5EF-B43F-82C8-CC396F82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Deployment Pattern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87000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7860-2EA1-97A7-74C3-335A5992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EEB9E1-CDDA-92E3-5F16-C15E959FD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597409" cy="4877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Key Deployment Patterns in Modern Software Delivery</a:t>
            </a:r>
          </a:p>
          <a:p>
            <a:r>
              <a:rPr lang="en-IN" sz="1600" b="1" dirty="0"/>
              <a:t>Deployment patterns define how new versions</a:t>
            </a:r>
            <a:r>
              <a:rPr lang="en-IN" sz="1600" dirty="0"/>
              <a:t> of software are released safely</a:t>
            </a:r>
          </a:p>
          <a:p>
            <a:r>
              <a:rPr lang="en-IN" sz="1600" b="1" dirty="0"/>
              <a:t>Help ensure zero downtime, rollback capability, and gradual rollout</a:t>
            </a:r>
            <a:endParaRPr lang="en-IN" sz="1600" dirty="0"/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Popular Patterns:</a:t>
            </a:r>
          </a:p>
          <a:p>
            <a:pPr marL="0" indent="0">
              <a:buNone/>
            </a:pPr>
            <a:r>
              <a:rPr lang="en-IN" sz="1800" b="1" dirty="0"/>
              <a:t>1. </a:t>
            </a:r>
            <a:r>
              <a:rPr lang="en-IN" sz="1800" b="1" dirty="0">
                <a:latin typeface="+mj-lt"/>
              </a:rPr>
              <a:t>Recreate</a:t>
            </a:r>
            <a:r>
              <a:rPr lang="en-IN" sz="1800" dirty="0"/>
              <a:t> - Stop old version, then deploy new one (downtime risk)</a:t>
            </a:r>
          </a:p>
          <a:p>
            <a:pPr marL="0" indent="0">
              <a:buNone/>
            </a:pPr>
            <a:r>
              <a:rPr lang="en-IN" sz="1800" b="1" dirty="0"/>
              <a:t>2. </a:t>
            </a:r>
            <a:r>
              <a:rPr lang="en-IN" sz="1800" b="1" dirty="0">
                <a:latin typeface="+mj-lt"/>
              </a:rPr>
              <a:t>Rolling Update </a:t>
            </a:r>
            <a:r>
              <a:rPr lang="en-IN" sz="1800" dirty="0"/>
              <a:t>- Replace pods incrementally (minimal disruption)</a:t>
            </a:r>
          </a:p>
          <a:p>
            <a:pPr marL="0" indent="0">
              <a:buNone/>
            </a:pPr>
            <a:r>
              <a:rPr lang="en-IN" sz="1800" b="1" dirty="0"/>
              <a:t>3. </a:t>
            </a:r>
            <a:r>
              <a:rPr lang="en-IN" sz="1800" b="1" dirty="0">
                <a:latin typeface="+mj-lt"/>
              </a:rPr>
              <a:t>Blue-Green Deployment:</a:t>
            </a:r>
            <a:endParaRPr lang="en-IN" sz="1800" dirty="0">
              <a:latin typeface="+mj-lt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Two environments: Blue (live) and Green (staging)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Switch traffic to Green after verification</a:t>
            </a:r>
          </a:p>
          <a:p>
            <a:pPr marL="0" indent="0">
              <a:buNone/>
            </a:pPr>
            <a:r>
              <a:rPr lang="en-IN" sz="1800" b="1" dirty="0"/>
              <a:t>4. </a:t>
            </a:r>
            <a:r>
              <a:rPr lang="en-IN" sz="1800" b="1" dirty="0">
                <a:latin typeface="+mj-lt"/>
              </a:rPr>
              <a:t>Canary Deployment:</a:t>
            </a:r>
            <a:endParaRPr lang="en-IN" sz="1800" dirty="0">
              <a:latin typeface="+mj-lt"/>
            </a:endParaRP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Release to small subset of users first</a:t>
            </a:r>
          </a:p>
          <a:p>
            <a:pPr marL="400050" indent="-400050">
              <a:buFont typeface="+mj-lt"/>
              <a:buAutoNum type="romanLcPeriod"/>
            </a:pPr>
            <a:r>
              <a:rPr lang="en-IN" sz="1600" dirty="0"/>
              <a:t>Gradually increase if stable</a:t>
            </a:r>
          </a:p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25504-9C18-9411-DDA5-4D936B2B000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Overview of Common Deployment Patterns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B7DDE2-E4F1-C038-4D16-84E171B08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333"/>
          <a:stretch>
            <a:fillRect/>
          </a:stretch>
        </p:blipFill>
        <p:spPr>
          <a:xfrm>
            <a:off x="6096000" y="4205205"/>
            <a:ext cx="5791200" cy="171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840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0A63-2E42-AC0C-2416-71AE9D47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C47A2-0C73-BF20-F169-F382E412E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7597409" cy="534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When to Use Which Deployment Pattern?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CFAE-BE26-E4B1-611D-22C41B41DBD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Choosing the Right Deployment Strategy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E6E5CB-798F-3814-2B59-F0D1D670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802136"/>
              </p:ext>
            </p:extLst>
          </p:nvPr>
        </p:nvGraphicFramePr>
        <p:xfrm>
          <a:off x="493295" y="1802937"/>
          <a:ext cx="6578837" cy="1854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51252">
                  <a:extLst>
                    <a:ext uri="{9D8B030D-6E8A-4147-A177-3AD203B41FA5}">
                      <a16:colId xmlns:a16="http://schemas.microsoft.com/office/drawing/2014/main" val="77108357"/>
                    </a:ext>
                  </a:extLst>
                </a:gridCol>
                <a:gridCol w="1041721">
                  <a:extLst>
                    <a:ext uri="{9D8B030D-6E8A-4147-A177-3AD203B41FA5}">
                      <a16:colId xmlns:a16="http://schemas.microsoft.com/office/drawing/2014/main" val="740551471"/>
                    </a:ext>
                  </a:extLst>
                </a:gridCol>
                <a:gridCol w="995423">
                  <a:extLst>
                    <a:ext uri="{9D8B030D-6E8A-4147-A177-3AD203B41FA5}">
                      <a16:colId xmlns:a16="http://schemas.microsoft.com/office/drawing/2014/main" val="3771592484"/>
                    </a:ext>
                  </a:extLst>
                </a:gridCol>
                <a:gridCol w="3090441">
                  <a:extLst>
                    <a:ext uri="{9D8B030D-6E8A-4147-A177-3AD203B41FA5}">
                      <a16:colId xmlns:a16="http://schemas.microsoft.com/office/drawing/2014/main" val="26566346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  <a:latin typeface="+mj-lt"/>
                        </a:rPr>
                        <a:t>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  <a:latin typeface="+mj-lt"/>
                        </a:rPr>
                        <a:t>Downtime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Rollback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0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Recreate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Simple apps, dev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2380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Rolling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Most microservices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89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Blue-Green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Instant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High-availability, critical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Canary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chemeClr val="bg1"/>
                          </a:solidFill>
                        </a:rPr>
                        <a:t>Granular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solidFill>
                            <a:schemeClr val="bg1"/>
                          </a:solidFill>
                        </a:rPr>
                        <a:t>Risk-sensitive, user-feedback 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941880"/>
                  </a:ext>
                </a:extLst>
              </a:tr>
            </a:tbl>
          </a:graphicData>
        </a:graphic>
      </p:graphicFrame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1B8AE099-459B-D8F7-3131-8EEB07EBA663}"/>
              </a:ext>
            </a:extLst>
          </p:cNvPr>
          <p:cNvSpPr txBox="1">
            <a:spLocks/>
          </p:cNvSpPr>
          <p:nvPr/>
        </p:nvSpPr>
        <p:spPr>
          <a:xfrm>
            <a:off x="458571" y="3819646"/>
            <a:ext cx="6764031" cy="21991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>
                <a:latin typeface="+mj-lt"/>
              </a:rPr>
              <a:t>Best Practices:</a:t>
            </a:r>
          </a:p>
          <a:p>
            <a:r>
              <a:rPr lang="en-IN" sz="1600" dirty="0"/>
              <a:t>Use health checks and monitoring with all patterns</a:t>
            </a:r>
          </a:p>
          <a:p>
            <a:r>
              <a:rPr lang="en-IN" sz="1600" dirty="0"/>
              <a:t>Automate with CI/CD pipelines (e.g., </a:t>
            </a:r>
            <a:r>
              <a:rPr lang="en-IN" sz="1600" dirty="0" err="1"/>
              <a:t>ArgoCD</a:t>
            </a:r>
            <a:r>
              <a:rPr lang="en-IN" sz="1600" dirty="0"/>
              <a:t>, Jenkins, GitHub Actions)</a:t>
            </a:r>
          </a:p>
          <a:p>
            <a:r>
              <a:rPr lang="en-IN" sz="1600" dirty="0"/>
              <a:t>Integrate metrics to support automated rollback decisions</a:t>
            </a:r>
          </a:p>
          <a:p>
            <a:r>
              <a:rPr lang="en-IN" sz="1600" dirty="0"/>
              <a:t>Plan for database migrations and backward compatibility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6798D67-AF24-7E21-F82D-0F7C694FC88B}"/>
              </a:ext>
            </a:extLst>
          </p:cNvPr>
          <p:cNvSpPr/>
          <p:nvPr/>
        </p:nvSpPr>
        <p:spPr>
          <a:xfrm>
            <a:off x="7373073" y="1361665"/>
            <a:ext cx="4595150" cy="31408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[Load Balancer]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[95% Current] [5% New Version]    </a:t>
            </a:r>
          </a:p>
          <a:p>
            <a:pPr algn="ctr"/>
            <a:r>
              <a:rPr lang="en-US" dirty="0"/>
              <a:t>↓                           ↓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[Monitor Metrics &amp; User Feedback]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    ↓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[Gradual Traffic Shift: 50% → 100%]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275CF6-531D-6D90-B761-92D345A55E3A}"/>
              </a:ext>
            </a:extLst>
          </p:cNvPr>
          <p:cNvCxnSpPr/>
          <p:nvPr/>
        </p:nvCxnSpPr>
        <p:spPr>
          <a:xfrm flipH="1">
            <a:off x="8935656" y="1979271"/>
            <a:ext cx="509286" cy="439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BB52D1-8622-7E6F-099D-C693D068BC74}"/>
              </a:ext>
            </a:extLst>
          </p:cNvPr>
          <p:cNvCxnSpPr/>
          <p:nvPr/>
        </p:nvCxnSpPr>
        <p:spPr>
          <a:xfrm>
            <a:off x="9670648" y="1979271"/>
            <a:ext cx="445625" cy="439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9237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6C222-5D24-FF10-9A85-98BC0FFE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44BB-D0DD-AF46-5108-F13361E0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4" y="2961410"/>
            <a:ext cx="11113251" cy="935180"/>
          </a:xfrm>
        </p:spPr>
        <p:txBody>
          <a:bodyPr/>
          <a:lstStyle/>
          <a:p>
            <a:r>
              <a:rPr lang="en-US" sz="5400" dirty="0"/>
              <a:t>Logging &amp; monitoring in Kubernetes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5353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628198-B87A-06F9-0ED6-E08625422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128534"/>
            <a:ext cx="8523383" cy="3604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Logging in Kubernetes: Concepts and Tools</a:t>
            </a:r>
          </a:p>
          <a:p>
            <a:r>
              <a:rPr lang="en-IN" sz="1600" b="1" dirty="0"/>
              <a:t>Kubernetes nodes write container logs</a:t>
            </a:r>
            <a:r>
              <a:rPr lang="en-IN" sz="1600" dirty="0"/>
              <a:t> to the node's filesystem (e.g., /var/log/containers/)</a:t>
            </a:r>
          </a:p>
          <a:p>
            <a:r>
              <a:rPr lang="en-IN" sz="1600" b="1" dirty="0" err="1"/>
              <a:t>Kubectl</a:t>
            </a:r>
            <a:r>
              <a:rPr lang="en-IN" sz="1600" b="1" dirty="0"/>
              <a:t> logs &lt;pod-name&gt;</a:t>
            </a:r>
            <a:r>
              <a:rPr lang="en-IN" sz="1600" dirty="0"/>
              <a:t> - used for manual access to logs</a:t>
            </a:r>
          </a:p>
          <a:p>
            <a:r>
              <a:rPr lang="en-IN" sz="1600" b="1" dirty="0"/>
              <a:t>Logs are ephemeral</a:t>
            </a:r>
            <a:r>
              <a:rPr lang="en-IN" sz="1600" dirty="0"/>
              <a:t> - lost if pods restart or nodes crash</a:t>
            </a:r>
          </a:p>
          <a:p>
            <a:r>
              <a:rPr lang="en-IN" sz="1600" b="1" dirty="0"/>
              <a:t>Solution: Use centralized logging stack</a:t>
            </a:r>
            <a:r>
              <a:rPr lang="en-IN" sz="1600" dirty="0"/>
              <a:t> for persistence and analysis</a:t>
            </a:r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Common Tools:</a:t>
            </a:r>
          </a:p>
          <a:p>
            <a:r>
              <a:rPr lang="en-IN" sz="1600" b="1" dirty="0"/>
              <a:t>EFK stack</a:t>
            </a:r>
            <a:r>
              <a:rPr lang="en-IN" sz="1600" dirty="0"/>
              <a:t> (Elasticsearch, </a:t>
            </a:r>
            <a:r>
              <a:rPr lang="en-IN" sz="1600" dirty="0" err="1"/>
              <a:t>Fluentd</a:t>
            </a:r>
            <a:r>
              <a:rPr lang="en-IN" sz="1600" dirty="0"/>
              <a:t>, Kibana)</a:t>
            </a:r>
          </a:p>
          <a:p>
            <a:r>
              <a:rPr lang="en-IN" sz="1600" b="1" dirty="0"/>
              <a:t>Loki + </a:t>
            </a:r>
            <a:r>
              <a:rPr lang="en-IN" sz="1600" b="1" dirty="0" err="1"/>
              <a:t>Promtail</a:t>
            </a:r>
            <a:r>
              <a:rPr lang="en-IN" sz="1600" b="1" dirty="0"/>
              <a:t> + Grafana</a:t>
            </a:r>
            <a:r>
              <a:rPr lang="en-IN" sz="1600" dirty="0"/>
              <a:t> - lightweight alternative</a:t>
            </a:r>
          </a:p>
          <a:p>
            <a:r>
              <a:rPr lang="en-IN" sz="1600" b="1" dirty="0"/>
              <a:t>Fluent Bit</a:t>
            </a:r>
            <a:r>
              <a:rPr lang="en-IN" sz="1600" dirty="0"/>
              <a:t> as lightweight log forwarder</a:t>
            </a:r>
          </a:p>
          <a:p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4964A-55C3-AEA2-08B2-8992F9E71B97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Logging in Kubernetes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5A56A9-163F-B6A9-C65A-77D7C07C70ED}"/>
              </a:ext>
            </a:extLst>
          </p:cNvPr>
          <p:cNvSpPr/>
          <p:nvPr/>
        </p:nvSpPr>
        <p:spPr>
          <a:xfrm>
            <a:off x="2559934" y="4733378"/>
            <a:ext cx="7072132" cy="11806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[Pod Logs] → [</a:t>
            </a:r>
            <a:r>
              <a:rPr lang="en-US" sz="1600" b="1" dirty="0" err="1"/>
              <a:t>Fluentd</a:t>
            </a:r>
            <a:r>
              <a:rPr lang="en-US" sz="1600" b="1" dirty="0"/>
              <a:t> / </a:t>
            </a:r>
            <a:r>
              <a:rPr lang="en-US" sz="1600" b="1" dirty="0" err="1"/>
              <a:t>Promtail</a:t>
            </a:r>
            <a:r>
              <a:rPr lang="en-US" sz="1600" b="1" dirty="0"/>
              <a:t>] → [Log Aggregator] → [Dashboard]</a:t>
            </a:r>
          </a:p>
          <a:p>
            <a:r>
              <a:rPr lang="en-US" sz="1600" b="1" dirty="0"/>
              <a:t>                                                                         </a:t>
            </a:r>
          </a:p>
          <a:p>
            <a:r>
              <a:rPr lang="en-US" sz="1600" b="1" dirty="0"/>
              <a:t>                                                                (Elasticsearch/Loki)   (Kibana/Grafana)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B6FDA-4BAA-FC07-8416-547280E50271}"/>
              </a:ext>
            </a:extLst>
          </p:cNvPr>
          <p:cNvSpPr txBox="1"/>
          <p:nvPr/>
        </p:nvSpPr>
        <p:spPr>
          <a:xfrm>
            <a:off x="1615432" y="5913995"/>
            <a:ext cx="88777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i="1" dirty="0">
                <a:solidFill>
                  <a:schemeClr val="bg1"/>
                </a:solidFill>
              </a:rPr>
              <a:t>Key Benefits: Centralized search, retention policies, structured logging, correlation across services</a:t>
            </a:r>
          </a:p>
        </p:txBody>
      </p:sp>
    </p:spTree>
    <p:extLst>
      <p:ext uri="{BB962C8B-B14F-4D97-AF65-F5344CB8AC3E}">
        <p14:creationId xmlns:p14="http://schemas.microsoft.com/office/powerpoint/2010/main" val="1892407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BC79-6AE9-B4D9-4CB2-DE407992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D0E2D3-3011-D55C-34FD-A5CCF5EDE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6" y="1128534"/>
            <a:ext cx="5814907" cy="360484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800" b="1" dirty="0">
                <a:latin typeface="+mj-lt"/>
              </a:rPr>
              <a:t>Monitoring Kubernetes: Metrics, Alerts &amp; Dashboards</a:t>
            </a:r>
          </a:p>
          <a:p>
            <a:r>
              <a:rPr lang="en-IN" sz="1800" b="1" dirty="0"/>
              <a:t>Monitoring helps observe</a:t>
            </a:r>
            <a:r>
              <a:rPr lang="en-IN" sz="1800" dirty="0"/>
              <a:t> pod health, node resource usage, and app performance</a:t>
            </a:r>
          </a:p>
          <a:p>
            <a:r>
              <a:rPr lang="en-IN" sz="1800" b="1" dirty="0"/>
              <a:t>Expose metrics via Prometheus-compatible exporters</a:t>
            </a:r>
            <a:endParaRPr lang="en-IN" sz="1800" dirty="0"/>
          </a:p>
          <a:p>
            <a:r>
              <a:rPr lang="en-IN" sz="1800" b="1" dirty="0"/>
              <a:t>Alerting for critical metrics:</a:t>
            </a:r>
            <a:r>
              <a:rPr lang="en-IN" sz="1800" dirty="0"/>
              <a:t> CPU, memory, latency, availability</a:t>
            </a:r>
          </a:p>
          <a:p>
            <a:pPr marL="0" indent="0">
              <a:buNone/>
            </a:pPr>
            <a:r>
              <a:rPr lang="en-IN" sz="1800" b="1" dirty="0">
                <a:latin typeface="+mj-lt"/>
              </a:rPr>
              <a:t>Toolchain:</a:t>
            </a:r>
          </a:p>
          <a:p>
            <a:r>
              <a:rPr lang="en-IN" sz="1800" b="1" dirty="0"/>
              <a:t>Prometheus</a:t>
            </a:r>
            <a:r>
              <a:rPr lang="en-IN" sz="1800" dirty="0"/>
              <a:t> - Metrics collection and storage</a:t>
            </a:r>
          </a:p>
          <a:p>
            <a:r>
              <a:rPr lang="en-IN" sz="1800" b="1" dirty="0"/>
              <a:t>Grafana</a:t>
            </a:r>
            <a:r>
              <a:rPr lang="en-IN" sz="1800" dirty="0"/>
              <a:t> - Visualization dashboards</a:t>
            </a:r>
          </a:p>
          <a:p>
            <a:r>
              <a:rPr lang="en-IN" sz="1800" b="1" dirty="0" err="1"/>
              <a:t>Alertmanager</a:t>
            </a:r>
            <a:r>
              <a:rPr lang="en-IN" sz="1800" dirty="0"/>
              <a:t> - Rule-based alert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572A2-7A33-F02A-668A-59C2522459DE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Monitoring Kubernetes: Metrics, Alerts &amp; Dashboards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820DCA-ED15-D15A-6BF8-72BFBE01EC46}"/>
              </a:ext>
            </a:extLst>
          </p:cNvPr>
          <p:cNvSpPr/>
          <p:nvPr/>
        </p:nvSpPr>
        <p:spPr>
          <a:xfrm>
            <a:off x="462988" y="4895749"/>
            <a:ext cx="7072132" cy="11806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[Node / Pod / App Metrics] → [Prometheus] → [Grafana Dashboards]</a:t>
            </a:r>
          </a:p>
          <a:p>
            <a:r>
              <a:rPr lang="en-US" sz="1600" b="1" dirty="0"/>
              <a:t>                                                              ↓</a:t>
            </a:r>
          </a:p>
          <a:p>
            <a:r>
              <a:rPr lang="en-US" sz="1600" b="1" dirty="0"/>
              <a:t>                                                  [</a:t>
            </a:r>
            <a:r>
              <a:rPr lang="en-US" sz="1600" b="1" dirty="0" err="1"/>
              <a:t>Alertmanager</a:t>
            </a:r>
            <a:r>
              <a:rPr lang="en-US" sz="1600" b="1" dirty="0"/>
              <a:t>] → [Email / Slack / Webhooks]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A1F43DF-6B80-9BC0-879A-4C5FA60E2E5D}"/>
              </a:ext>
            </a:extLst>
          </p:cNvPr>
          <p:cNvSpPr txBox="1">
            <a:spLocks/>
          </p:cNvSpPr>
          <p:nvPr/>
        </p:nvSpPr>
        <p:spPr>
          <a:xfrm>
            <a:off x="6879777" y="1128534"/>
            <a:ext cx="4818927" cy="360484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>
                <a:latin typeface="+mj-lt"/>
              </a:rPr>
              <a:t>Best Practices:</a:t>
            </a:r>
          </a:p>
          <a:p>
            <a:r>
              <a:rPr lang="en-IN" sz="1800" b="1" dirty="0"/>
              <a:t>Set up both system-level and application-level monitoring</a:t>
            </a:r>
            <a:endParaRPr lang="en-IN" sz="1800" dirty="0"/>
          </a:p>
          <a:p>
            <a:r>
              <a:rPr lang="en-IN" sz="1800" b="1" dirty="0"/>
              <a:t>Use labels</a:t>
            </a:r>
            <a:r>
              <a:rPr lang="en-IN" sz="1800" dirty="0"/>
              <a:t> for log filtering and alert scoping</a:t>
            </a:r>
          </a:p>
          <a:p>
            <a:r>
              <a:rPr lang="en-IN" sz="1800" b="1" dirty="0"/>
              <a:t>Store logs separately from metrics</a:t>
            </a:r>
            <a:r>
              <a:rPr lang="en-IN" sz="1800" dirty="0"/>
              <a:t> for optimal performance</a:t>
            </a:r>
          </a:p>
          <a:p>
            <a:r>
              <a:rPr lang="en-IN" sz="1800" b="1" dirty="0"/>
              <a:t>Implement SLI/SLO-based alerting to reduce noise</a:t>
            </a:r>
          </a:p>
        </p:txBody>
      </p:sp>
    </p:spTree>
    <p:extLst>
      <p:ext uri="{BB962C8B-B14F-4D97-AF65-F5344CB8AC3E}">
        <p14:creationId xmlns:p14="http://schemas.microsoft.com/office/powerpoint/2010/main" val="24214730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29283</TotalTime>
  <Words>4953</Words>
  <Application>Microsoft Macintosh PowerPoint</Application>
  <PresentationFormat>Widescreen</PresentationFormat>
  <Paragraphs>841</Paragraphs>
  <Slides>85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Calibri Light</vt:lpstr>
      <vt:lpstr>Arial</vt:lpstr>
      <vt:lpstr>Calibri</vt:lpstr>
      <vt:lpstr>Roboto Light</vt:lpstr>
      <vt:lpstr>Roboto</vt:lpstr>
      <vt:lpstr>Segoe UI</vt:lpstr>
      <vt:lpstr>Wingdings</vt:lpstr>
      <vt:lpstr>ScholarHat Layout</vt:lpstr>
      <vt:lpstr>Agenda</vt:lpstr>
      <vt:lpstr>Apache Maven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Spring Security Basics </vt:lpstr>
      <vt:lpstr>PowerPoint Presentation</vt:lpstr>
      <vt:lpstr>PowerPoint Presentation</vt:lpstr>
      <vt:lpstr>PowerPoint Presentation</vt:lpstr>
      <vt:lpstr>PowerPoint Presentation</vt:lpstr>
      <vt:lpstr>JWT Authentication &amp; Authorization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OAuth2 Flows and Roles</vt:lpstr>
      <vt:lpstr>PowerPoint Presentation</vt:lpstr>
      <vt:lpstr>PowerPoint Presentation</vt:lpstr>
      <vt:lpstr>PowerPoint Presentation</vt:lpstr>
      <vt:lpstr>OpenID Connect with Identity Providers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Practices in Microservices Testing</vt:lpstr>
      <vt:lpstr>PowerPoint Presentation</vt:lpstr>
      <vt:lpstr>PowerPoint Presentation</vt:lpstr>
      <vt:lpstr>PowerPoint Presentation</vt:lpstr>
      <vt:lpstr>Dockerize Spring Boot applications</vt:lpstr>
      <vt:lpstr>Version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Docker Compose  for  multi-container apps </vt:lpstr>
      <vt:lpstr>PowerPoint Presentation</vt:lpstr>
      <vt:lpstr>PowerPoint Presentation</vt:lpstr>
      <vt:lpstr>PowerPoint Presentation</vt:lpstr>
      <vt:lpstr>Kubernetes basics  (pods, services, deployments) </vt:lpstr>
      <vt:lpstr>PowerPoint Presentation</vt:lpstr>
      <vt:lpstr>PowerPoint Presentation</vt:lpstr>
      <vt:lpstr>PowerPoint Presentation</vt:lpstr>
      <vt:lpstr>PowerPoint Presentation</vt:lpstr>
      <vt:lpstr>Kubernetes Cluster</vt:lpstr>
      <vt:lpstr>PowerPoint Presentation</vt:lpstr>
      <vt:lpstr>PowerPoint Presentation</vt:lpstr>
      <vt:lpstr>PowerPoint Presentation</vt:lpstr>
      <vt:lpstr>PowerPoint Presentation</vt:lpstr>
      <vt:lpstr>Helm, ConfigMaps, Secrets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Load balancing, health checks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Deployment Pattern</vt:lpstr>
      <vt:lpstr>PowerPoint Presentation</vt:lpstr>
      <vt:lpstr>PowerPoint Presentation</vt:lpstr>
      <vt:lpstr>Logging &amp; monitoring in Kubernetes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Venkataramanan Amirthalingam</cp:lastModifiedBy>
  <cp:revision>820</cp:revision>
  <dcterms:created xsi:type="dcterms:W3CDTF">2015-04-26T09:42:00Z</dcterms:created>
  <dcterms:modified xsi:type="dcterms:W3CDTF">2025-08-06T06:27:35Z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