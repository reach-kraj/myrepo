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41"/>
  </p:notesMasterIdLst>
  <p:sldIdLst>
    <p:sldId id="2147469626" r:id="rId2"/>
    <p:sldId id="2147469567" r:id="rId3"/>
    <p:sldId id="654" r:id="rId4"/>
    <p:sldId id="2147469654" r:id="rId5"/>
    <p:sldId id="2147469627" r:id="rId6"/>
    <p:sldId id="2147469628" r:id="rId7"/>
    <p:sldId id="2147469597" r:id="rId8"/>
    <p:sldId id="2147469629" r:id="rId9"/>
    <p:sldId id="2147469615" r:id="rId10"/>
    <p:sldId id="2147469630" r:id="rId11"/>
    <p:sldId id="2147469631" r:id="rId12"/>
    <p:sldId id="2147469604" r:id="rId13"/>
    <p:sldId id="2147469648" r:id="rId14"/>
    <p:sldId id="2147469632" r:id="rId15"/>
    <p:sldId id="2147469633" r:id="rId16"/>
    <p:sldId id="2147469634" r:id="rId17"/>
    <p:sldId id="2147469614" r:id="rId18"/>
    <p:sldId id="2147469603" r:id="rId19"/>
    <p:sldId id="2147469649" r:id="rId20"/>
    <p:sldId id="2147469644" r:id="rId21"/>
    <p:sldId id="2147469605" r:id="rId22"/>
    <p:sldId id="2147469650" r:id="rId23"/>
    <p:sldId id="2147469635" r:id="rId24"/>
    <p:sldId id="2147469609" r:id="rId25"/>
    <p:sldId id="2147469602" r:id="rId26"/>
    <p:sldId id="2147469651" r:id="rId27"/>
    <p:sldId id="2147469636" r:id="rId28"/>
    <p:sldId id="2147469637" r:id="rId29"/>
    <p:sldId id="2147469652" r:id="rId30"/>
    <p:sldId id="2147469638" r:id="rId31"/>
    <p:sldId id="2147469639" r:id="rId32"/>
    <p:sldId id="2147469653" r:id="rId33"/>
    <p:sldId id="2147469640" r:id="rId34"/>
    <p:sldId id="2147469645" r:id="rId35"/>
    <p:sldId id="2147469641" r:id="rId36"/>
    <p:sldId id="2147469642" r:id="rId37"/>
    <p:sldId id="2147469643" r:id="rId38"/>
    <p:sldId id="2147469646" r:id="rId39"/>
    <p:sldId id="652" r:id="rId40"/>
  </p:sldIdLst>
  <p:sldSz cx="12192000" cy="6858000"/>
  <p:notesSz cx="6858000" cy="9144000"/>
  <p:embeddedFontLst>
    <p:embeddedFont>
      <p:font typeface="Roboto" panose="020B0604020202020204" charset="0"/>
      <p:regular r:id="rId42"/>
      <p:bold r:id="rId43"/>
      <p:italic r:id="rId44"/>
      <p:boldItalic r:id="rId45"/>
    </p:embeddedFont>
    <p:embeddedFont>
      <p:font typeface="Calibri" panose="020F0502020204030204" pitchFamily="34" charset="0"/>
      <p:regular r:id="rId46"/>
      <p:bold r:id="rId47"/>
      <p:italic r:id="rId48"/>
      <p:boldItalic r:id="rId49"/>
    </p:embeddedFont>
    <p:embeddedFont>
      <p:font typeface="Segoe UI" panose="020B0502040204020203" pitchFamily="34" charset="0"/>
      <p:regular r:id="rId50"/>
      <p:bold r:id="rId51"/>
      <p:italic r:id="rId52"/>
      <p:boldItalic r:id="rId53"/>
    </p:embeddedFont>
    <p:embeddedFont>
      <p:font typeface="Calibri Light" panose="020F0302020204030204" pitchFamily="34" charset="0"/>
      <p:regular r:id="rId54"/>
      <p:italic r:id="rId55"/>
    </p:embeddedFont>
    <p:embeddedFont>
      <p:font typeface="Consolas" panose="020B0609020204030204" pitchFamily="49" charset="0"/>
      <p:regular r:id="rId56"/>
      <p:bold r:id="rId57"/>
      <p:italic r:id="rId58"/>
      <p:boldItalic r:id="rId59"/>
    </p:embeddedFont>
    <p:embeddedFont>
      <p:font typeface="Roboto Light" panose="020B0604020202020204" charset="0"/>
      <p:regular r:id="rId60"/>
      <p:italic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0" autoAdjust="0"/>
    <p:restoredTop sz="94660"/>
  </p:normalViewPr>
  <p:slideViewPr>
    <p:cSldViewPr snapToGrid="0">
      <p:cViewPr>
        <p:scale>
          <a:sx n="66" d="100"/>
          <a:sy n="66" d="100"/>
        </p:scale>
        <p:origin x="-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font" Target="fonts/font17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font" Target="fonts/font16.fntdata"/><Relationship Id="rId61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font" Target="fonts/font19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font" Target="fonts/font15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59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7416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xmlns="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Two Lines</a:t>
            </a:r>
          </a:p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xmlns="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xmlns="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xmlns="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xmlns="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xmlns="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xmlns="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 dirty="0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xmlns="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Heading Text</a:t>
            </a:r>
            <a:endParaRPr lang="en-US" dirty="0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 dirty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 dirty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 dirty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xmlns="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566" y="1871657"/>
            <a:ext cx="6959621" cy="4831881"/>
          </a:xfrm>
        </p:spPr>
        <p:txBody>
          <a:bodyPr>
            <a:noAutofit/>
          </a:bodyPr>
          <a:lstStyle/>
          <a:p>
            <a:pPr marR="1084580" fontAlgn="base">
              <a:buSzPts val="2800"/>
              <a:defRPr/>
            </a:pPr>
            <a:r>
              <a:rPr lang="en-US" dirty="0"/>
              <a:t>Introduction to </a:t>
            </a:r>
            <a:r>
              <a:rPr lang="en-US" dirty="0" err="1"/>
              <a:t>Microservices</a:t>
            </a:r>
            <a:endParaRPr lang="en-US" dirty="0"/>
          </a:p>
          <a:p>
            <a:pPr marR="1084580" fontAlgn="base">
              <a:buSzPts val="2800"/>
              <a:defRPr/>
            </a:pPr>
            <a:r>
              <a:rPr lang="en-US" dirty="0" err="1"/>
              <a:t>TestingUnit</a:t>
            </a:r>
            <a:r>
              <a:rPr lang="en-US" dirty="0"/>
              <a:t> </a:t>
            </a:r>
            <a:r>
              <a:rPr lang="en-US" dirty="0"/>
              <a:t>Testing with </a:t>
            </a:r>
            <a:r>
              <a:rPr lang="en-US" dirty="0" err="1"/>
              <a:t>Junit</a:t>
            </a:r>
            <a:endParaRPr lang="en-US" dirty="0"/>
          </a:p>
          <a:p>
            <a:pPr marR="1084580" fontAlgn="base">
              <a:buSzPts val="2800"/>
              <a:defRPr/>
            </a:pPr>
            <a:r>
              <a:rPr lang="en-US" dirty="0"/>
              <a:t>Mocking </a:t>
            </a:r>
            <a:r>
              <a:rPr lang="en-US" dirty="0"/>
              <a:t>with </a:t>
            </a:r>
            <a:r>
              <a:rPr lang="en-US" dirty="0"/>
              <a:t>Mockito</a:t>
            </a:r>
          </a:p>
          <a:p>
            <a:pPr marR="1084580" fontAlgn="base">
              <a:buSzPts val="2800"/>
              <a:defRPr/>
            </a:pPr>
            <a:r>
              <a:rPr lang="en-US" dirty="0"/>
              <a:t>Integration Testing with </a:t>
            </a:r>
            <a:r>
              <a:rPr lang="en-US" dirty="0" err="1"/>
              <a:t>Arquillian</a:t>
            </a:r>
            <a:endParaRPr lang="en-US" dirty="0"/>
          </a:p>
          <a:p>
            <a:pPr marR="1084580" fontAlgn="base">
              <a:buSzPts val="2800"/>
              <a:defRPr/>
            </a:pPr>
            <a:r>
              <a:rPr lang="en-US" dirty="0"/>
              <a:t>Performance Testing with </a:t>
            </a:r>
            <a:r>
              <a:rPr lang="en-US" dirty="0" err="1" smtClean="0"/>
              <a:t>Jmeter</a:t>
            </a:r>
            <a:endParaRPr lang="en-US" dirty="0" smtClean="0"/>
          </a:p>
          <a:p>
            <a:pPr marR="1084580" fontAlgn="base">
              <a:buSzPts val="2800"/>
              <a:defRPr/>
            </a:pPr>
            <a:r>
              <a:rPr lang="en-US" dirty="0" smtClean="0"/>
              <a:t>Load </a:t>
            </a:r>
            <a:r>
              <a:rPr lang="en-US" dirty="0"/>
              <a:t>Testing with </a:t>
            </a:r>
            <a:r>
              <a:rPr lang="en-US" dirty="0"/>
              <a:t>Gatling</a:t>
            </a:r>
          </a:p>
          <a:p>
            <a:pPr marR="1084580" fontAlgn="base">
              <a:buSzPts val="2800"/>
              <a:defRPr/>
            </a:pPr>
            <a:r>
              <a:rPr lang="en-US" dirty="0"/>
              <a:t>Best </a:t>
            </a:r>
            <a:r>
              <a:rPr lang="en-US" dirty="0"/>
              <a:t>Practices in </a:t>
            </a:r>
            <a:r>
              <a:rPr lang="en-US" dirty="0" err="1"/>
              <a:t>Microservices</a:t>
            </a:r>
            <a:r>
              <a:rPr lang="en-US" dirty="0"/>
              <a:t>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566" y="972139"/>
            <a:ext cx="5119013" cy="679118"/>
          </a:xfrm>
        </p:spPr>
        <p:txBody>
          <a:bodyPr>
            <a:normAutofit/>
          </a:bodyPr>
          <a:lstStyle/>
          <a:p>
            <a:r>
              <a:rPr lang="en-IN" b="1" dirty="0"/>
              <a:t>Testing Microservices</a:t>
            </a:r>
            <a:endParaRPr lang="en-IN" b="1" dirty="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24655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Introduction to </a:t>
            </a:r>
            <a:r>
              <a:rPr lang="en-US" sz="5400" dirty="0" err="1">
                <a:ea typeface="Roboto" panose="02000000000000000000" pitchFamily="2" charset="0"/>
                <a:cs typeface="+mn-cs"/>
              </a:rPr>
              <a:t>Microservices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29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Ensures each </a:t>
            </a:r>
            <a:r>
              <a:rPr lang="en-US" sz="2400" dirty="0" err="1">
                <a:sym typeface="Calibri"/>
              </a:rPr>
              <a:t>microservice</a:t>
            </a:r>
            <a:r>
              <a:rPr lang="en-US" sz="2400" dirty="0">
                <a:sym typeface="Calibri"/>
              </a:rPr>
              <a:t> works correctly on its own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Detects </a:t>
            </a:r>
            <a:r>
              <a:rPr lang="en-US" sz="2400" dirty="0">
                <a:sym typeface="Calibri"/>
              </a:rPr>
              <a:t>issues in communication between services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Enables </a:t>
            </a:r>
            <a:r>
              <a:rPr lang="en-US" sz="2400" dirty="0">
                <a:sym typeface="Calibri"/>
              </a:rPr>
              <a:t>safe and fast continuous deployments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Helps </a:t>
            </a:r>
            <a:r>
              <a:rPr lang="en-US" sz="2400" dirty="0">
                <a:sym typeface="Calibri"/>
              </a:rPr>
              <a:t>quickly identify and isolate faulty services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Maintains </a:t>
            </a:r>
            <a:r>
              <a:rPr lang="en-US" sz="2400" dirty="0">
                <a:sym typeface="Calibri"/>
              </a:rPr>
              <a:t>overall reliability of the system.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Importance of testing in </a:t>
            </a:r>
            <a:r>
              <a:rPr lang="en-US" dirty="0" err="1">
                <a:ea typeface="Roboto" panose="02000000000000000000" pitchFamily="2" charset="0"/>
              </a:rPr>
              <a:t>microservices</a:t>
            </a:r>
            <a:r>
              <a:rPr lang="en-US" dirty="0">
                <a:ea typeface="Roboto" panose="02000000000000000000" pitchFamily="2" charset="0"/>
              </a:rPr>
              <a:t>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Testing Impact in Microservices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417" y="1371590"/>
            <a:ext cx="4263811" cy="497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97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Unit Testing – Tests individual functions or components in isolation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Integration </a:t>
            </a:r>
            <a:r>
              <a:rPr lang="en-US" sz="2400" dirty="0">
                <a:sym typeface="Calibri"/>
              </a:rPr>
              <a:t>Testing – Verifies communication between connected </a:t>
            </a:r>
            <a:r>
              <a:rPr lang="en-US" sz="2400" dirty="0" err="1">
                <a:sym typeface="Calibri"/>
              </a:rPr>
              <a:t>microservices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Performance </a:t>
            </a:r>
            <a:r>
              <a:rPr lang="en-US" sz="2400" dirty="0">
                <a:sym typeface="Calibri"/>
              </a:rPr>
              <a:t>Testing – Checks how services perform under load or stress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End-to-End </a:t>
            </a:r>
            <a:r>
              <a:rPr lang="en-US" sz="2400" dirty="0">
                <a:sym typeface="Calibri"/>
              </a:rPr>
              <a:t>Testing – Tests the complete workflow across all services.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Types of </a:t>
            </a:r>
            <a:r>
              <a:rPr lang="en-US" dirty="0" smtClean="0">
                <a:ea typeface="Roboto" panose="02000000000000000000" pitchFamily="2" charset="0"/>
              </a:rPr>
              <a:t>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891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Contract Testing – Ensures APIs between services follow agreed formats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Security </a:t>
            </a:r>
            <a:r>
              <a:rPr lang="en-US" sz="2400" dirty="0">
                <a:sym typeface="Calibri"/>
              </a:rPr>
              <a:t>Testing – Identifies vulnerabilities and enforces data protection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Smoke </a:t>
            </a:r>
            <a:r>
              <a:rPr lang="en-US" sz="2400" dirty="0">
                <a:sym typeface="Calibri"/>
              </a:rPr>
              <a:t>Testing – Validates basic functionality after deployments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Regression </a:t>
            </a:r>
            <a:r>
              <a:rPr lang="en-US" sz="2400" dirty="0">
                <a:sym typeface="Calibri"/>
              </a:rPr>
              <a:t>Testing – Ensures new changes don’t break existing features.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Types of </a:t>
            </a:r>
            <a:r>
              <a:rPr lang="en-US" dirty="0" smtClean="0">
                <a:ea typeface="Roboto" panose="02000000000000000000" pitchFamily="2" charset="0"/>
              </a:rPr>
              <a:t>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77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IN" dirty="0"/>
              <a:t>Types of Testing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208" y="1586678"/>
            <a:ext cx="9768229" cy="4130729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3456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841062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Unit Testing with </a:t>
            </a:r>
            <a:r>
              <a:rPr lang="en-US" sz="5400" dirty="0" err="1">
                <a:ea typeface="Roboto" panose="02000000000000000000" pitchFamily="2" charset="0"/>
                <a:cs typeface="+mn-cs"/>
              </a:rPr>
              <a:t>JUnit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051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err="1"/>
              <a:t>JUnit</a:t>
            </a:r>
            <a:r>
              <a:rPr lang="en-US" sz="2400" dirty="0"/>
              <a:t> is a framework for unit testing Java code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/>
              <a:t>@</a:t>
            </a:r>
            <a:r>
              <a:rPr lang="en-US" sz="2400" dirty="0"/>
              <a:t>Test marks methods to be tested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/>
              <a:t>Assertions </a:t>
            </a:r>
            <a:r>
              <a:rPr lang="en-US" sz="2400" dirty="0"/>
              <a:t>like </a:t>
            </a:r>
            <a:r>
              <a:rPr lang="en-US" sz="2400" dirty="0" err="1"/>
              <a:t>assertEquals</a:t>
            </a:r>
            <a:r>
              <a:rPr lang="en-US" sz="2400" dirty="0"/>
              <a:t>() check expected results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/>
              <a:t>Lifecycle Annotations handle test setup and cleanup</a:t>
            </a:r>
            <a:r>
              <a:rPr lang="en-US" sz="2400" dirty="0" smtClean="0"/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err="1" smtClean="0"/>
              <a:t>JUnit</a:t>
            </a:r>
            <a:r>
              <a:rPr lang="en-US" sz="2400" dirty="0" smtClean="0"/>
              <a:t> </a:t>
            </a:r>
            <a:r>
              <a:rPr lang="en-US" sz="2400" dirty="0"/>
              <a:t>5 (Jupiter) is the latest version with enhanced features.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Basics of </a:t>
            </a:r>
            <a:r>
              <a:rPr lang="en-US" dirty="0" err="1"/>
              <a:t>JUnit</a:t>
            </a:r>
            <a:r>
              <a:rPr lang="en-US" dirty="0"/>
              <a:t> for testing Java code</a:t>
            </a:r>
            <a:endParaRPr lang="en-IN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Example of unit tests for service methods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183841" y="1342020"/>
            <a:ext cx="6096000" cy="5078313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org.junit.jupiter.api.Test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static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org.junit.jupiter.api.Assertions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.*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MathService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a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+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b;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/>
            </a:r>
            <a:b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public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MathServiceTest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@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Test</a:t>
            </a:r>
            <a:endParaRPr lang="en-I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4EC9B0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testAdd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4EC9B0"/>
                </a:solidFill>
                <a:latin typeface="Consolas" panose="020B0609020204030204" pitchFamily="49" charset="0"/>
              </a:rPr>
              <a:t>MathService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service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586C0"/>
                </a:solidFill>
                <a:latin typeface="Consolas" panose="020B0609020204030204" pitchFamily="49" charset="0"/>
              </a:rPr>
              <a:t>new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MathService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assertEquals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7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service</a:t>
            </a:r>
            <a:r>
              <a:rPr lang="en-IN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IN" dirty="0">
                <a:solidFill>
                  <a:srgbClr val="CCCCCC"/>
                </a:solidFill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29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841062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Mocking Dependencies with Mockito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681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Mockito is a framework to create mock objects in unit tests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It </a:t>
            </a:r>
            <a:r>
              <a:rPr lang="en-US" sz="2400" dirty="0">
                <a:sym typeface="Calibri"/>
              </a:rPr>
              <a:t>helps test classes without needing real dependencies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 </a:t>
            </a:r>
            <a:r>
              <a:rPr lang="en-US" sz="2400" dirty="0">
                <a:sym typeface="Calibri"/>
              </a:rPr>
              <a:t>@Mock to create a mock object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 </a:t>
            </a:r>
            <a:r>
              <a:rPr lang="en-US" sz="2400" dirty="0">
                <a:sym typeface="Calibri"/>
              </a:rPr>
              <a:t>when(...).</a:t>
            </a:r>
            <a:r>
              <a:rPr lang="en-US" sz="2400" dirty="0" err="1">
                <a:sym typeface="Calibri"/>
              </a:rPr>
              <a:t>thenReturn</a:t>
            </a:r>
            <a:r>
              <a:rPr lang="en-US" sz="2400" dirty="0">
                <a:sym typeface="Calibri"/>
              </a:rPr>
              <a:t>(...) to define mock behavior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 </a:t>
            </a:r>
            <a:r>
              <a:rPr lang="en-US" sz="2400" dirty="0">
                <a:sym typeface="Calibri"/>
              </a:rPr>
              <a:t>verify() to check if methods were called.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Roboto" panose="02000000000000000000" pitchFamily="2" charset="0"/>
              </a:rPr>
              <a:t>Mocking Dependencies with Mockito</a:t>
            </a:r>
            <a:endParaRPr lang="en-IN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11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Real </a:t>
            </a:r>
            <a:r>
              <a:rPr lang="en-US" dirty="0" err="1"/>
              <a:t>vs</a:t>
            </a:r>
            <a:r>
              <a:rPr lang="en-US" dirty="0"/>
              <a:t> Mocked Dependencies in Service Testing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1" y="2238828"/>
            <a:ext cx="11291284" cy="255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88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Example of unit tests for service methods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420" y="1482515"/>
            <a:ext cx="5719805" cy="459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597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Focuses on testing expected behavior, not just code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Uses </a:t>
            </a:r>
            <a:r>
              <a:rPr lang="en-US" sz="2400" dirty="0">
                <a:sym typeface="Calibri"/>
              </a:rPr>
              <a:t>clear, descriptive test method names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Makes </a:t>
            </a:r>
            <a:r>
              <a:rPr lang="en-US" sz="2400" dirty="0">
                <a:sym typeface="Calibri"/>
              </a:rPr>
              <a:t>tests easier to understand for all team members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Bridges </a:t>
            </a:r>
            <a:r>
              <a:rPr lang="en-US" sz="2400" dirty="0">
                <a:sym typeface="Calibri"/>
              </a:rPr>
              <a:t>gap between developers and business stakeholders</a:t>
            </a:r>
            <a:r>
              <a:rPr lang="en-US" sz="2400" dirty="0" smtClean="0">
                <a:sym typeface="Calibri"/>
              </a:rPr>
              <a:t>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Often </a:t>
            </a:r>
            <a:r>
              <a:rPr lang="en-US" sz="2400" dirty="0">
                <a:sym typeface="Calibri"/>
              </a:rPr>
              <a:t>used with frameworks like </a:t>
            </a:r>
            <a:r>
              <a:rPr lang="en-US" sz="2400" dirty="0" err="1">
                <a:sym typeface="Calibri"/>
              </a:rPr>
              <a:t>JUnit</a:t>
            </a:r>
            <a:r>
              <a:rPr lang="en-US" sz="2400" dirty="0">
                <a:sym typeface="Calibri"/>
              </a:rPr>
              <a:t> or Cucumber.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Roboto" panose="02000000000000000000" pitchFamily="2" charset="0"/>
              </a:rPr>
              <a:t>Writing behavior-driven unit tests</a:t>
            </a:r>
            <a:endParaRPr lang="en-IN" dirty="0"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00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Small </a:t>
            </a:r>
            <a:r>
              <a:rPr lang="en-US" dirty="0" err="1"/>
              <a:t>JUnit</a:t>
            </a:r>
            <a:r>
              <a:rPr lang="en-US" dirty="0"/>
              <a:t> Example (Behavior-Driven Style</a:t>
            </a:r>
            <a:r>
              <a:rPr lang="en-US" dirty="0" smtClean="0"/>
              <a:t>)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23" y="1409745"/>
            <a:ext cx="7344800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3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Integration Testing with </a:t>
            </a:r>
            <a:r>
              <a:rPr lang="en-US" sz="5400" dirty="0" err="1">
                <a:ea typeface="Roboto" panose="02000000000000000000" pitchFamily="2" charset="0"/>
                <a:cs typeface="+mn-cs"/>
              </a:rPr>
              <a:t>Arquillian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319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Runs tests inside real Java EE </a:t>
            </a:r>
            <a:r>
              <a:rPr lang="en-US" sz="2400" dirty="0" smtClean="0">
                <a:sym typeface="Calibri"/>
              </a:rPr>
              <a:t>containers.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Tests </a:t>
            </a:r>
            <a:r>
              <a:rPr lang="en-US" sz="2400" dirty="0" err="1">
                <a:sym typeface="Calibri"/>
              </a:rPr>
              <a:t>microservices</a:t>
            </a:r>
            <a:r>
              <a:rPr lang="en-US" sz="2400" dirty="0">
                <a:sym typeface="Calibri"/>
              </a:rPr>
              <a:t> in a realistic </a:t>
            </a:r>
            <a:r>
              <a:rPr lang="en-US" sz="2400" dirty="0" smtClean="0">
                <a:sym typeface="Calibri"/>
              </a:rPr>
              <a:t>environment.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remote and embedded </a:t>
            </a:r>
            <a:r>
              <a:rPr lang="en-US" sz="2400" dirty="0" smtClean="0">
                <a:sym typeface="Calibri"/>
              </a:rPr>
              <a:t>containers.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Simplifies </a:t>
            </a:r>
            <a:r>
              <a:rPr lang="en-US" sz="2400" dirty="0">
                <a:sym typeface="Calibri"/>
              </a:rPr>
              <a:t>integration of multiple </a:t>
            </a:r>
            <a:r>
              <a:rPr lang="en-US" sz="2400" dirty="0" smtClean="0">
                <a:sym typeface="Calibri"/>
              </a:rPr>
              <a:t>components.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Automates </a:t>
            </a:r>
            <a:r>
              <a:rPr lang="en-US" sz="2400" dirty="0">
                <a:sym typeface="Calibri"/>
              </a:rPr>
              <a:t>deployment during testing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Integration Testing with </a:t>
            </a:r>
            <a:r>
              <a:rPr lang="en-US" dirty="0" err="1">
                <a:ea typeface="Roboto" panose="02000000000000000000" pitchFamily="2" charset="0"/>
              </a:rPr>
              <a:t>Arquillian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2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In-Container Testing Flow with </a:t>
            </a:r>
            <a:r>
              <a:rPr lang="en-US" dirty="0" err="1"/>
              <a:t>Arquillian</a:t>
            </a:r>
            <a:r>
              <a:rPr lang="en-US" dirty="0"/>
              <a:t> Deployment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220" y="1438435"/>
            <a:ext cx="6514206" cy="470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83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 smtClean="0"/>
              <a:t>Example: Integration </a:t>
            </a:r>
            <a:r>
              <a:rPr lang="en-US" dirty="0"/>
              <a:t>Test with </a:t>
            </a:r>
            <a:r>
              <a:rPr lang="en-US" dirty="0" err="1"/>
              <a:t>Arquillian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32" y="1447850"/>
            <a:ext cx="8459381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47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Validates actual runtime </a:t>
            </a:r>
            <a:r>
              <a:rPr lang="en-US" sz="2400" dirty="0" smtClean="0">
                <a:sym typeface="Calibri"/>
              </a:rPr>
              <a:t>behavior.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Ensures </a:t>
            </a:r>
            <a:r>
              <a:rPr lang="en-US" sz="2400" dirty="0">
                <a:sym typeface="Calibri"/>
              </a:rPr>
              <a:t>proper configuration and </a:t>
            </a:r>
            <a:r>
              <a:rPr lang="en-US" sz="2400" dirty="0" smtClean="0">
                <a:sym typeface="Calibri"/>
              </a:rPr>
              <a:t>deployment.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Tests </a:t>
            </a:r>
            <a:r>
              <a:rPr lang="en-US" sz="2400" dirty="0">
                <a:sym typeface="Calibri"/>
              </a:rPr>
              <a:t>interactions with real </a:t>
            </a:r>
            <a:r>
              <a:rPr lang="en-US" sz="2400" dirty="0" smtClean="0">
                <a:sym typeface="Calibri"/>
              </a:rPr>
              <a:t>dependencies.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Detects </a:t>
            </a:r>
            <a:r>
              <a:rPr lang="en-US" sz="2400" dirty="0">
                <a:sym typeface="Calibri"/>
              </a:rPr>
              <a:t>environment-specific issues </a:t>
            </a:r>
            <a:r>
              <a:rPr lang="en-US" sz="2400" dirty="0" smtClean="0">
                <a:sym typeface="Calibri"/>
              </a:rPr>
              <a:t>early.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Improves </a:t>
            </a:r>
            <a:r>
              <a:rPr lang="en-US" sz="2400" dirty="0">
                <a:sym typeface="Calibri"/>
              </a:rPr>
              <a:t>confidence before </a:t>
            </a:r>
            <a:r>
              <a:rPr lang="en-US" sz="2400" dirty="0" smtClean="0">
                <a:sym typeface="Calibri"/>
              </a:rPr>
              <a:t>production.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Testing </a:t>
            </a:r>
            <a:r>
              <a:rPr lang="en-US" dirty="0" err="1">
                <a:ea typeface="Roboto" panose="02000000000000000000" pitchFamily="2" charset="0"/>
              </a:rPr>
              <a:t>Microservices</a:t>
            </a:r>
            <a:r>
              <a:rPr lang="en-US" dirty="0">
                <a:ea typeface="Roboto" panose="02000000000000000000" pitchFamily="2" charset="0"/>
              </a:rPr>
              <a:t> in a Real Container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05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Microservice Testing in Real Container Environment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62" y="1590842"/>
            <a:ext cx="10633121" cy="432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72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Easy setup for in-container </a:t>
            </a:r>
            <a:r>
              <a:rPr lang="en-US" sz="2400" dirty="0" smtClean="0">
                <a:sym typeface="Calibri"/>
              </a:rPr>
              <a:t>testing.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multiple container </a:t>
            </a:r>
            <a:r>
              <a:rPr lang="en-US" sz="2400" dirty="0" smtClean="0">
                <a:sym typeface="Calibri"/>
              </a:rPr>
              <a:t>types.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Reduces </a:t>
            </a:r>
            <a:r>
              <a:rPr lang="en-US" sz="2400" dirty="0">
                <a:sym typeface="Calibri"/>
              </a:rPr>
              <a:t>need for complex </a:t>
            </a:r>
            <a:r>
              <a:rPr lang="en-US" sz="2400" dirty="0" smtClean="0">
                <a:sym typeface="Calibri"/>
              </a:rPr>
              <a:t>mocks.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Integrates </a:t>
            </a:r>
            <a:r>
              <a:rPr lang="en-US" sz="2400" dirty="0">
                <a:sym typeface="Calibri"/>
              </a:rPr>
              <a:t>with popular test frameworks (</a:t>
            </a:r>
            <a:r>
              <a:rPr lang="en-US" sz="2400" dirty="0" err="1">
                <a:sym typeface="Calibri"/>
              </a:rPr>
              <a:t>JUnit</a:t>
            </a:r>
            <a:r>
              <a:rPr lang="en-US" sz="2400" dirty="0">
                <a:sym typeface="Calibri"/>
              </a:rPr>
              <a:t>, </a:t>
            </a:r>
            <a:r>
              <a:rPr lang="en-US" sz="2400" dirty="0" err="1">
                <a:sym typeface="Calibri"/>
              </a:rPr>
              <a:t>TestNG</a:t>
            </a:r>
            <a:r>
              <a:rPr lang="en-US" sz="2400" dirty="0" smtClean="0">
                <a:sym typeface="Calibri"/>
              </a:rPr>
              <a:t>).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Speeds </a:t>
            </a:r>
            <a:r>
              <a:rPr lang="en-US" sz="2400" dirty="0">
                <a:sym typeface="Calibri"/>
              </a:rPr>
              <a:t>up development with accurate tests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Benefits of </a:t>
            </a:r>
            <a:r>
              <a:rPr lang="en-US" dirty="0" err="1">
                <a:ea typeface="Roboto" panose="02000000000000000000" pitchFamily="2" charset="0"/>
              </a:rPr>
              <a:t>Arquillian</a:t>
            </a:r>
            <a:r>
              <a:rPr lang="en-US" dirty="0">
                <a:ea typeface="Roboto" panose="02000000000000000000" pitchFamily="2" charset="0"/>
              </a:rPr>
              <a:t> for Java EE </a:t>
            </a:r>
            <a:r>
              <a:rPr lang="en-US" dirty="0" err="1">
                <a:ea typeface="Roboto" panose="02000000000000000000" pitchFamily="2" charset="0"/>
              </a:rPr>
              <a:t>Microservices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87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Performance Testing with </a:t>
            </a:r>
            <a:r>
              <a:rPr lang="en-US" sz="5400" dirty="0" smtClean="0">
                <a:ea typeface="Roboto" panose="02000000000000000000" pitchFamily="2" charset="0"/>
                <a:cs typeface="+mn-cs"/>
              </a:rPr>
              <a:t>JMeter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64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Open-source tool for load and performance </a:t>
            </a:r>
            <a:r>
              <a:rPr lang="en-US" sz="2400" dirty="0" smtClean="0">
                <a:sym typeface="Calibri"/>
              </a:rPr>
              <a:t>testing.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Simulates </a:t>
            </a:r>
            <a:r>
              <a:rPr lang="en-US" sz="2400" dirty="0">
                <a:sym typeface="Calibri"/>
              </a:rPr>
              <a:t>multiple users to test system </a:t>
            </a:r>
            <a:r>
              <a:rPr lang="en-US" sz="2400" dirty="0" smtClean="0">
                <a:sym typeface="Calibri"/>
              </a:rPr>
              <a:t>limits.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HTTP, JMS, JDBC, and more </a:t>
            </a:r>
            <a:r>
              <a:rPr lang="en-US" sz="2400" dirty="0" smtClean="0">
                <a:sym typeface="Calibri"/>
              </a:rPr>
              <a:t>protocols.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Provides </a:t>
            </a:r>
            <a:r>
              <a:rPr lang="en-US" sz="2400" dirty="0">
                <a:sym typeface="Calibri"/>
              </a:rPr>
              <a:t>detailed reports and </a:t>
            </a:r>
            <a:r>
              <a:rPr lang="en-US" sz="2400" dirty="0" smtClean="0">
                <a:sym typeface="Calibri"/>
              </a:rPr>
              <a:t>graphs.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Helps </a:t>
            </a:r>
            <a:r>
              <a:rPr lang="en-US" sz="2400" dirty="0">
                <a:sym typeface="Calibri"/>
              </a:rPr>
              <a:t>identify bottlenecks in </a:t>
            </a:r>
            <a:r>
              <a:rPr lang="en-US" sz="2400" dirty="0" err="1" smtClean="0">
                <a:sym typeface="Calibri"/>
              </a:rPr>
              <a:t>microservices</a:t>
            </a:r>
            <a:r>
              <a:rPr lang="en-US" sz="2400" dirty="0" smtClean="0">
                <a:sym typeface="Calibri"/>
              </a:rPr>
              <a:t>.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Performance Testing with Apache JMeter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447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JMeter Load Testing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10" y="1512167"/>
            <a:ext cx="10716625" cy="429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Create test plans with threads (virtual users</a:t>
            </a:r>
            <a:r>
              <a:rPr lang="en-US" sz="2400" dirty="0" smtClean="0">
                <a:sym typeface="Calibri"/>
              </a:rPr>
              <a:t>).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Define </a:t>
            </a:r>
            <a:r>
              <a:rPr lang="en-US" sz="2400" dirty="0">
                <a:sym typeface="Calibri"/>
              </a:rPr>
              <a:t>requests to simulate real user </a:t>
            </a:r>
            <a:r>
              <a:rPr lang="en-US" sz="2400" dirty="0" smtClean="0">
                <a:sym typeface="Calibri"/>
              </a:rPr>
              <a:t>actions.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Configure </a:t>
            </a:r>
            <a:r>
              <a:rPr lang="en-US" sz="2400" dirty="0">
                <a:sym typeface="Calibri"/>
              </a:rPr>
              <a:t>timers and assertions for </a:t>
            </a:r>
            <a:r>
              <a:rPr lang="en-US" sz="2400" dirty="0" smtClean="0">
                <a:sym typeface="Calibri"/>
              </a:rPr>
              <a:t>realism.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Run </a:t>
            </a:r>
            <a:r>
              <a:rPr lang="en-US" sz="2400" dirty="0">
                <a:sym typeface="Calibri"/>
              </a:rPr>
              <a:t>tests locally or </a:t>
            </a:r>
            <a:r>
              <a:rPr lang="en-US" sz="2400" dirty="0" smtClean="0">
                <a:sym typeface="Calibri"/>
              </a:rPr>
              <a:t>distributed.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Analyze </a:t>
            </a:r>
            <a:r>
              <a:rPr lang="en-US" sz="2400" dirty="0">
                <a:sym typeface="Calibri"/>
              </a:rPr>
              <a:t>performance metrics post-test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Introduction to JMeter for Load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33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Use concurrent threads to mimic </a:t>
            </a:r>
            <a:r>
              <a:rPr lang="en-US" sz="2400" dirty="0" smtClean="0">
                <a:sym typeface="Calibri"/>
              </a:rPr>
              <a:t>users.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Vary </a:t>
            </a:r>
            <a:r>
              <a:rPr lang="en-US" sz="2400" dirty="0">
                <a:sym typeface="Calibri"/>
              </a:rPr>
              <a:t>request types and </a:t>
            </a:r>
            <a:r>
              <a:rPr lang="en-US" sz="2400" dirty="0" smtClean="0">
                <a:sym typeface="Calibri"/>
              </a:rPr>
              <a:t>payloads.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Include </a:t>
            </a:r>
            <a:r>
              <a:rPr lang="en-US" sz="2400" dirty="0">
                <a:sym typeface="Calibri"/>
              </a:rPr>
              <a:t>pauses and think </a:t>
            </a:r>
            <a:r>
              <a:rPr lang="en-US" sz="2400" dirty="0" smtClean="0">
                <a:sym typeface="Calibri"/>
              </a:rPr>
              <a:t>times.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Test </a:t>
            </a:r>
            <a:r>
              <a:rPr lang="en-US" sz="2400" dirty="0">
                <a:sym typeface="Calibri"/>
              </a:rPr>
              <a:t>under peak load </a:t>
            </a:r>
            <a:r>
              <a:rPr lang="en-US" sz="2400" dirty="0" smtClean="0">
                <a:sym typeface="Calibri"/>
              </a:rPr>
              <a:t>conditions.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Measure </a:t>
            </a:r>
            <a:r>
              <a:rPr lang="en-US" sz="2400" dirty="0">
                <a:sym typeface="Calibri"/>
              </a:rPr>
              <a:t>response time and throughput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Simulating Real-World Traffic on </a:t>
            </a:r>
            <a:r>
              <a:rPr lang="en-US" dirty="0" err="1">
                <a:ea typeface="Roboto" panose="02000000000000000000" pitchFamily="2" charset="0"/>
              </a:rPr>
              <a:t>Microservices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687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Microservice Traffic Simulation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27" y="1383496"/>
            <a:ext cx="8406991" cy="456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9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932563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Advanced Load Testing with Gatling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04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err="1">
                <a:sym typeface="Calibri"/>
              </a:rPr>
              <a:t>Scala</a:t>
            </a:r>
            <a:r>
              <a:rPr lang="en-US" sz="2400" dirty="0">
                <a:sym typeface="Calibri"/>
              </a:rPr>
              <a:t>-based DSL for flexible test </a:t>
            </a:r>
            <a:r>
              <a:rPr lang="en-US" sz="2400" dirty="0" smtClean="0">
                <a:sym typeface="Calibri"/>
              </a:rPr>
              <a:t>scripts.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High-performance</a:t>
            </a:r>
            <a:r>
              <a:rPr lang="en-US" sz="2400" dirty="0">
                <a:sym typeface="Calibri"/>
              </a:rPr>
              <a:t>, asynchronous load </a:t>
            </a:r>
            <a:r>
              <a:rPr lang="en-US" sz="2400" dirty="0" smtClean="0">
                <a:sym typeface="Calibri"/>
              </a:rPr>
              <a:t>testing.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Real-time </a:t>
            </a:r>
            <a:r>
              <a:rPr lang="en-US" sz="2400" dirty="0">
                <a:sym typeface="Calibri"/>
              </a:rPr>
              <a:t>monitoring and detailed </a:t>
            </a:r>
            <a:r>
              <a:rPr lang="en-US" sz="2400" dirty="0" smtClean="0">
                <a:sym typeface="Calibri"/>
              </a:rPr>
              <a:t>reports.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Easy </a:t>
            </a:r>
            <a:r>
              <a:rPr lang="en-US" sz="2400" dirty="0">
                <a:sym typeface="Calibri"/>
              </a:rPr>
              <a:t>integration with CI </a:t>
            </a:r>
            <a:r>
              <a:rPr lang="en-US" sz="2400" dirty="0" smtClean="0">
                <a:sym typeface="Calibri"/>
              </a:rPr>
              <a:t>pipelines.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HTTP, </a:t>
            </a:r>
            <a:r>
              <a:rPr lang="en-US" sz="2400" dirty="0" err="1">
                <a:sym typeface="Calibri"/>
              </a:rPr>
              <a:t>WebSocket</a:t>
            </a:r>
            <a:r>
              <a:rPr lang="en-US" sz="2400" dirty="0">
                <a:sym typeface="Calibri"/>
              </a:rPr>
              <a:t>, JMS protocols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Advanced Load Testing with Gatling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84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/>
              <a:t>Gatling Test Flow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476" y="1466265"/>
            <a:ext cx="6401693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13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Powerful Scala DSL for complex </a:t>
            </a:r>
            <a:r>
              <a:rPr lang="en-US" sz="2400" dirty="0" smtClean="0">
                <a:sym typeface="Calibri"/>
              </a:rPr>
              <a:t>scenarios.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Efficient </a:t>
            </a:r>
            <a:r>
              <a:rPr lang="en-US" sz="2400" dirty="0">
                <a:sym typeface="Calibri"/>
              </a:rPr>
              <a:t>resource usage for large </a:t>
            </a:r>
            <a:r>
              <a:rPr lang="en-US" sz="2400" dirty="0" smtClean="0">
                <a:sym typeface="Calibri"/>
              </a:rPr>
              <a:t>loads.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Extensible </a:t>
            </a:r>
            <a:r>
              <a:rPr lang="en-US" sz="2400" dirty="0">
                <a:sym typeface="Calibri"/>
              </a:rPr>
              <a:t>with custom </a:t>
            </a:r>
            <a:r>
              <a:rPr lang="en-US" sz="2400" dirty="0" smtClean="0">
                <a:sym typeface="Calibri"/>
              </a:rPr>
              <a:t>code.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Built-in </a:t>
            </a:r>
            <a:r>
              <a:rPr lang="en-US" sz="2400" dirty="0">
                <a:sym typeface="Calibri"/>
              </a:rPr>
              <a:t>HTML reports for </a:t>
            </a:r>
            <a:r>
              <a:rPr lang="en-US" sz="2400" dirty="0" smtClean="0">
                <a:sym typeface="Calibri"/>
              </a:rPr>
              <a:t>analysis.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Supports </a:t>
            </a:r>
            <a:r>
              <a:rPr lang="en-US" sz="2400" dirty="0">
                <a:sym typeface="Calibri"/>
              </a:rPr>
              <a:t>scenario parameterization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Features of Gatling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06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it-IT" dirty="0" smtClean="0"/>
              <a:t>Example: Gatling </a:t>
            </a:r>
            <a:r>
              <a:rPr lang="it-IT" dirty="0"/>
              <a:t>Scenario (Scala DSL)</a:t>
            </a: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07" y="1989575"/>
            <a:ext cx="9926032" cy="297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0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Model user behavior </a:t>
            </a:r>
            <a:r>
              <a:rPr lang="en-US" sz="2400" dirty="0" smtClean="0">
                <a:sym typeface="Calibri"/>
              </a:rPr>
              <a:t>accurately.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Include </a:t>
            </a:r>
            <a:r>
              <a:rPr lang="en-US" sz="2400" dirty="0">
                <a:sym typeface="Calibri"/>
              </a:rPr>
              <a:t>varied data </a:t>
            </a:r>
            <a:r>
              <a:rPr lang="en-US" sz="2400" dirty="0" smtClean="0">
                <a:sym typeface="Calibri"/>
              </a:rPr>
              <a:t>inputs.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Simulate </a:t>
            </a:r>
            <a:r>
              <a:rPr lang="en-US" sz="2400" dirty="0">
                <a:sym typeface="Calibri"/>
              </a:rPr>
              <a:t>network delays and </a:t>
            </a:r>
            <a:r>
              <a:rPr lang="en-US" sz="2400" dirty="0" smtClean="0">
                <a:sym typeface="Calibri"/>
              </a:rPr>
              <a:t>failures.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Mix </a:t>
            </a:r>
            <a:r>
              <a:rPr lang="en-US" sz="2400" dirty="0">
                <a:sym typeface="Calibri"/>
              </a:rPr>
              <a:t>different types of </a:t>
            </a:r>
            <a:r>
              <a:rPr lang="en-US" sz="2400" dirty="0" smtClean="0">
                <a:sym typeface="Calibri"/>
              </a:rPr>
              <a:t>requests.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Validate </a:t>
            </a:r>
            <a:r>
              <a:rPr lang="en-US" sz="2400" dirty="0">
                <a:sym typeface="Calibri"/>
              </a:rPr>
              <a:t>functional and performance aspects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Creating Realistic Test Scenarios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2286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682F10-DC31-C6A9-D729-1BA81CCD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90336"/>
            <a:ext cx="11113251" cy="1680460"/>
          </a:xfrm>
        </p:spPr>
        <p:txBody>
          <a:bodyPr/>
          <a:lstStyle/>
          <a:p>
            <a:r>
              <a:rPr lang="en-US" sz="5400" dirty="0">
                <a:ea typeface="Roboto" panose="02000000000000000000" pitchFamily="2" charset="0"/>
                <a:cs typeface="+mn-cs"/>
              </a:rPr>
              <a:t>Best Practices in </a:t>
            </a:r>
            <a:r>
              <a:rPr lang="en-US" sz="5400" dirty="0" err="1">
                <a:ea typeface="Roboto" panose="02000000000000000000" pitchFamily="2" charset="0"/>
                <a:cs typeface="+mn-cs"/>
              </a:rPr>
              <a:t>Microservices</a:t>
            </a:r>
            <a:r>
              <a:rPr lang="en-US" sz="5400" dirty="0">
                <a:ea typeface="Roboto" panose="02000000000000000000" pitchFamily="2" charset="0"/>
                <a:cs typeface="+mn-cs"/>
              </a:rPr>
              <a:t> Testing</a:t>
            </a:r>
            <a:endParaRPr lang="en-US" sz="5400" dirty="0">
              <a:ea typeface="Roboto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222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326039"/>
            <a:ext cx="11698705" cy="4741818"/>
          </a:xfrm>
        </p:spPr>
        <p:txBody>
          <a:bodyPr>
            <a:normAutofit/>
          </a:bodyPr>
          <a:lstStyle/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>
                <a:sym typeface="Calibri"/>
              </a:rPr>
              <a:t>Integrate testing into CI/CD </a:t>
            </a:r>
            <a:r>
              <a:rPr lang="en-US" sz="2400" dirty="0" smtClean="0">
                <a:sym typeface="Calibri"/>
              </a:rPr>
              <a:t>pipelines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Use </a:t>
            </a:r>
            <a:r>
              <a:rPr lang="en-US" sz="2400" dirty="0">
                <a:sym typeface="Calibri"/>
              </a:rPr>
              <a:t>isolated environments per test </a:t>
            </a:r>
            <a:r>
              <a:rPr lang="en-US" sz="2400" dirty="0" smtClean="0">
                <a:sym typeface="Calibri"/>
              </a:rPr>
              <a:t>run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Manage </a:t>
            </a:r>
            <a:r>
              <a:rPr lang="en-US" sz="2400" dirty="0">
                <a:sym typeface="Calibri"/>
              </a:rPr>
              <a:t>and reset test data </a:t>
            </a:r>
            <a:r>
              <a:rPr lang="en-US" sz="2400" dirty="0" smtClean="0">
                <a:sym typeface="Calibri"/>
              </a:rPr>
              <a:t>reliably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Automate </a:t>
            </a:r>
            <a:r>
              <a:rPr lang="en-US" sz="2400" dirty="0">
                <a:sym typeface="Calibri"/>
              </a:rPr>
              <a:t>unit, integration, and performance </a:t>
            </a:r>
            <a:r>
              <a:rPr lang="en-US" sz="2400" dirty="0" smtClean="0">
                <a:sym typeface="Calibri"/>
              </a:rPr>
              <a:t>tests</a:t>
            </a:r>
          </a:p>
          <a:p>
            <a:pPr marR="1084580" fontAlgn="base">
              <a:buClr>
                <a:schemeClr val="tx2">
                  <a:lumMod val="10000"/>
                  <a:lumOff val="90000"/>
                </a:schemeClr>
              </a:buClr>
              <a:buSzPts val="2800"/>
              <a:defRPr/>
            </a:pPr>
            <a:r>
              <a:rPr lang="en-US" sz="2400" dirty="0" smtClean="0">
                <a:sym typeface="Calibri"/>
              </a:rPr>
              <a:t>Monitor </a:t>
            </a:r>
            <a:r>
              <a:rPr lang="en-US" sz="2400" dirty="0">
                <a:sym typeface="Calibri"/>
              </a:rPr>
              <a:t>test coverage and flaky tests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dirty="0">
                <a:ea typeface="Roboto" panose="02000000000000000000" pitchFamily="2" charset="0"/>
              </a:rPr>
              <a:t>Best Practices in </a:t>
            </a:r>
            <a:r>
              <a:rPr lang="en-US" dirty="0" err="1">
                <a:ea typeface="Roboto" panose="02000000000000000000" pitchFamily="2" charset="0"/>
              </a:rPr>
              <a:t>Microservices</a:t>
            </a:r>
            <a:r>
              <a:rPr lang="en-US" dirty="0">
                <a:ea typeface="Roboto" panose="02000000000000000000" pitchFamily="2" charset="0"/>
              </a:rPr>
              <a:t> Testing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3099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it-IT" dirty="0" smtClean="0"/>
              <a:t>Example: Mockito </a:t>
            </a:r>
            <a:r>
              <a:rPr lang="it-IT" dirty="0"/>
              <a:t>Mocking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497" y="1828801"/>
            <a:ext cx="9219652" cy="345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2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27366</TotalTime>
  <Words>793</Words>
  <Application>Microsoft Office PowerPoint</Application>
  <PresentationFormat>Widescreen</PresentationFormat>
  <Paragraphs>138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Roboto</vt:lpstr>
      <vt:lpstr>Calibri</vt:lpstr>
      <vt:lpstr>Segoe UI</vt:lpstr>
      <vt:lpstr>Calibri Light</vt:lpstr>
      <vt:lpstr>Arial</vt:lpstr>
      <vt:lpstr>Consolas</vt:lpstr>
      <vt:lpstr>Roboto Light</vt:lpstr>
      <vt:lpstr>ScholarHat Layout</vt:lpstr>
      <vt:lpstr>Agenda</vt:lpstr>
      <vt:lpstr>Introduction to Microservices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Testing with JUnit</vt:lpstr>
      <vt:lpstr>PowerPoint Presentation</vt:lpstr>
      <vt:lpstr>PowerPoint Presentation</vt:lpstr>
      <vt:lpstr>Mocking Dependencies with Mockito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Integration Testing with Arquillian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Testing with JMeter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Advanced Load Testing with Gatling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Best Practices in Microservices Testing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Microsoft account</cp:lastModifiedBy>
  <cp:revision>810</cp:revision>
  <dcterms:created xsi:type="dcterms:W3CDTF">2015-04-26T09:42:00Z</dcterms:created>
  <dcterms:modified xsi:type="dcterms:W3CDTF">2025-06-03T07:57:15Z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